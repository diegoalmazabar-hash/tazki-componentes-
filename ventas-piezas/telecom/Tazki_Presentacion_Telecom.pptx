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74" r:id="rId26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Portada · ICP TELECOM · TI Y SERVICIOS. Foco: Toda la información en un solo sistema. Hero reemplazable.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Prueba social al inicio: logos reales de clientes de este ICP. Editable.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Tres dolores principales (situaciones frecuentes, no diagnóstico cerrado). Imagen y copy editables.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Ventajas: cómo ayuda el software. La 4a card se adapta al foco del ICP.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Transición a los módulos.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Inducciones. [Captura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Hallazgos.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Capacitaciones. [Clave para este ICP] [Captura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Inspecciones.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Contratistas.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EPP. [Clave para este ICP]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ART / AST.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MIPER. [Clave para este ICP]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Investigación de accidentes. [Clave para este ICP]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Programa de gestión.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Comité Paritario. [Captura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Insumos y Maquinaria.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Cierre/CTA.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Relationship Id="rId5" Type="http://schemas.openxmlformats.org/officeDocument/2006/relationships/image" Target="../media/image48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0.png"/><Relationship Id="rId4" Type="http://schemas.openxmlformats.org/officeDocument/2006/relationships/image" Target="../media/image51.png"/><Relationship Id="rId5" Type="http://schemas.openxmlformats.org/officeDocument/2006/relationships/image" Target="../media/image52.png"/><Relationship Id="rId6" Type="http://schemas.openxmlformats.org/officeDocument/2006/relationships/image" Target="../media/image53.png"/><Relationship Id="rId7" Type="http://schemas.openxmlformats.org/officeDocument/2006/relationships/image" Target="../media/image54.png"/><Relationship Id="rId8" Type="http://schemas.openxmlformats.org/officeDocument/2006/relationships/image" Target="../media/image55.png"/><Relationship Id="rId9" Type="http://schemas.openxmlformats.org/officeDocument/2006/relationships/image" Target="../media/image56.png"/><Relationship Id="rId10" Type="http://schemas.openxmlformats.org/officeDocument/2006/relationships/image" Target="../media/image5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17.png"/><Relationship Id="rId9" Type="http://schemas.openxmlformats.org/officeDocument/2006/relationships/image" Target="../media/image18.png"/><Relationship Id="rId10" Type="http://schemas.openxmlformats.org/officeDocument/2006/relationships/image" Target="../media/image19.png"/><Relationship Id="rId11" Type="http://schemas.openxmlformats.org/officeDocument/2006/relationships/image" Target="../media/image20.png"/><Relationship Id="rId12" Type="http://schemas.openxmlformats.org/officeDocument/2006/relationships/image" Target="../media/image21.png"/><Relationship Id="rId13" Type="http://schemas.openxmlformats.org/officeDocument/2006/relationships/image" Target="../media/image22.png"/><Relationship Id="rId14" Type="http://schemas.openxmlformats.org/officeDocument/2006/relationships/image" Target="../media/image23.png"/><Relationship Id="rId15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gif"/><Relationship Id="rId4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Relationship Id="rId4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gif"/><Relationship Id="rId4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image" Target="../media/image33.gif"/><Relationship Id="rId4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image" Target="../media/image35.gif"/><Relationship Id="rId4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37.gif"/><Relationship Id="rId4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image" Target="../media/image39.gif"/><Relationship Id="rId4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mage41.gif"/><Relationship Id="rId4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Relationship Id="rId3" Type="http://schemas.openxmlformats.org/officeDocument/2006/relationships/image" Target="../media/image43.gif"/><Relationship Id="rId4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image" Target="../media/image45.png"/><Relationship Id="rId4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Relationship Id="rId3" Type="http://schemas.openxmlformats.org/officeDocument/2006/relationships/image" Target="../media/image47.gif"/><Relationship Id="rId4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E5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9" name="Picture 8" descr="interior_modern_office_meeting_scene_in_a_light_fi.jpeg"/>
          <p:cNvPicPr>
            <a:picLocks noChangeAspect="1"/>
          </p:cNvPicPr>
          <p:nvPr/>
        </p:nvPicPr>
        <p:blipFill>
          <a:blip r:embed="rId5"/>
          <a:srcRect t="27499" b="27499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E50">
              <a:alpha val="3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tazki-wordmark-bl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640080"/>
            <a:ext cx="2377440" cy="87455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697480"/>
            <a:ext cx="75895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700" b="1">
                <a:solidFill>
                  <a:srgbClr val="FFFFFF"/>
                </a:solidFill>
                <a:latin typeface="DM Sans"/>
                <a:cs typeface="DM Sans"/>
              </a:rPr>
              <a:t>Toda tu prevención,</a:t>
            </a:r>
          </a:p>
          <a:p>
            <a:pPr algn="l">
              <a:lnSpc>
                <a:spcPct val="102000"/>
              </a:lnSpc>
            </a:pPr>
            <a:r>
              <a:rPr sz="3700" b="1">
                <a:solidFill>
                  <a:srgbClr val="FFFFFF"/>
                </a:solidFill>
                <a:latin typeface="DM Sans"/>
                <a:cs typeface="DM Sans"/>
              </a:rPr>
              <a:t>en un solo sistema.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160520"/>
            <a:ext cx="7040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500" b="0">
                <a:solidFill>
                  <a:srgbClr val="DDE6F5"/>
                </a:solidFill>
                <a:latin typeface="DM Sans"/>
                <a:cs typeface="DM Sans"/>
              </a:rPr>
              <a:t>Centraliza EPP, MIPER, capacitaciones e investigación de accidentes de tu operación en terreno, con firma electrónica y trazabilidad en un solo lugar.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245352"/>
            <a:ext cx="12191695" cy="612648"/>
          </a:xfrm>
          <a:prstGeom prst="rect">
            <a:avLst/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245352"/>
            <a:ext cx="7315200" cy="6126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500" b="1">
                <a:solidFill>
                  <a:srgbClr val="FFFFFF"/>
                </a:solidFill>
                <a:latin typeface="DM Sans"/>
                <a:cs typeface="DM Sans"/>
              </a:rPr>
              <a:t>+150 empresas confían en Tazki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0" y="6245352"/>
            <a:ext cx="3703320" cy="6126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1200" b="0">
                <a:solidFill>
                  <a:srgbClr val="CFE0FA"/>
                </a:solidFill>
                <a:latin typeface="DM Sans"/>
                <a:cs typeface="DM Sans"/>
              </a:rPr>
              <a:t>Telecom · TI · Servicios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" y="6784848"/>
            <a:ext cx="274320" cy="548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00" b="0">
                <a:solidFill>
                  <a:srgbClr val="FFFFFF"/>
                </a:solidFill>
                <a:latin typeface="DM Sans"/>
              </a:rPr>
              <a:t>​</a:t>
            </a:r>
          </a:p>
        </p:txBody>
      </p:sp>
      <p:pic>
        <p:nvPicPr>
          <p:cNvPr id="3" name="Picture 2" descr="industrial_safety_briefing_in_progress.jpeg"/>
          <p:cNvPicPr>
            <a:picLocks noChangeAspect="1"/>
          </p:cNvPicPr>
          <p:nvPr/>
        </p:nvPicPr>
        <p:blipFill>
          <a:blip r:embed="rId2"/>
          <a:srcRect t="27499" b="27499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E5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6766560" cy="6858000"/>
          </a:xfrm>
          <a:prstGeom prst="rect">
            <a:avLst/>
          </a:prstGeom>
          <a:solidFill>
            <a:srgbClr val="0C1E50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4088" y="640080"/>
            <a:ext cx="329184" cy="32004"/>
          </a:xfrm>
          <a:prstGeom prst="rect">
            <a:avLst/>
          </a:prstGeom>
          <a:solidFill>
            <a:srgbClr val="7FB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548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7FB2FF"/>
                </a:solidFill>
                <a:latin typeface="DM Sans"/>
              </a:rPr>
              <a:t>EL CONTEXTO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932688"/>
            <a:ext cx="640080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5400" b="1">
                <a:solidFill>
                  <a:srgbClr val="FFFFFF"/>
                </a:solidFill>
                <a:latin typeface="DM Sans"/>
              </a:rPr>
              <a:t>Ya no basta</a:t>
            </a:r>
          </a:p>
          <a:p>
            <a:pPr>
              <a:lnSpc>
                <a:spcPct val="102000"/>
              </a:lnSpc>
            </a:pPr>
            <a:r>
              <a:rPr sz="5400" b="1">
                <a:solidFill>
                  <a:srgbClr val="FFFFFF"/>
                </a:solidFill>
                <a:latin typeface="DM Sans"/>
              </a:rPr>
              <a:t>con tener</a:t>
            </a:r>
          </a:p>
          <a:p>
            <a:pPr>
              <a:lnSpc>
                <a:spcPct val="102000"/>
              </a:lnSpc>
            </a:pPr>
            <a:r>
              <a:rPr sz="5400" b="1">
                <a:solidFill>
                  <a:srgbClr val="FFFFFF"/>
                </a:solidFill>
                <a:latin typeface="DM Sans"/>
              </a:rPr>
              <a:t>los papeles.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127248"/>
            <a:ext cx="53949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2000"/>
              </a:lnSpc>
            </a:pPr>
            <a:r>
              <a:rPr sz="1550" b="0">
                <a:solidFill>
                  <a:srgbClr val="C9D3EA"/>
                </a:solidFill>
                <a:latin typeface="DM Sans"/>
              </a:rPr>
              <a:t>El DS 44 cambió la regla: desde 2025 la prevención dejó de medirse por documentos archivados y pasó a medirse por gestión demostrable.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088" y="4315968"/>
            <a:ext cx="3246120" cy="36576"/>
          </a:xfrm>
          <a:prstGeom prst="rect">
            <a:avLst/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4462272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7FB2FF"/>
                </a:solidFill>
                <a:latin typeface="DM Sans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4736592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800" b="1">
                <a:solidFill>
                  <a:srgbClr val="FFFFFF"/>
                </a:solidFill>
                <a:latin typeface="DM Sans"/>
              </a:rPr>
              <a:t>La ODI se convirtió en IRL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5230368"/>
            <a:ext cx="3200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6000"/>
              </a:lnSpc>
            </a:pPr>
            <a:r>
              <a:rPr sz="1150" b="0">
                <a:solidFill>
                  <a:srgbClr val="C9D3EA"/>
                </a:solidFill>
                <a:latin typeface="DM Sans"/>
              </a:rPr>
              <a:t>Informar los riesgos de cada puesto, con firma de quien los conoció, y actualizarlos cuando la tarea cambia.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61688" y="4315968"/>
            <a:ext cx="3246120" cy="36576"/>
          </a:xfrm>
          <a:prstGeom prst="rect">
            <a:avLst/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61688" y="4462272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7FB2FF"/>
                </a:solidFill>
                <a:latin typeface="DM Sans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61688" y="4736592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800" b="1">
                <a:solidFill>
                  <a:srgbClr val="FFFFFF"/>
                </a:solidFill>
                <a:latin typeface="DM Sans"/>
              </a:rPr>
              <a:t>La MIPER manda el programa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61688" y="5230368"/>
            <a:ext cx="3200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6000"/>
              </a:lnSpc>
            </a:pPr>
            <a:r>
              <a:rPr sz="1150" b="0">
                <a:solidFill>
                  <a:srgbClr val="C9D3EA"/>
                </a:solidFill>
                <a:latin typeface="DM Sans"/>
              </a:rPr>
              <a:t>La matriz define el programa preventivo, y ese programa vence a los 30 días de actualizar la matriz.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19288" y="4315968"/>
            <a:ext cx="3246120" cy="36576"/>
          </a:xfrm>
          <a:prstGeom prst="rect">
            <a:avLst/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19288" y="4462272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7FB2FF"/>
                </a:solidFill>
                <a:latin typeface="DM Sans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19288" y="4736592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800" b="1">
                <a:solidFill>
                  <a:srgbClr val="FFFFFF"/>
                </a:solidFill>
                <a:latin typeface="DM Sans"/>
              </a:rPr>
              <a:t>Se fiscaliza la evidencia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19288" y="5230368"/>
            <a:ext cx="3200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6000"/>
              </a:lnSpc>
            </a:pPr>
            <a:r>
              <a:rPr sz="1150" b="0">
                <a:solidFill>
                  <a:srgbClr val="C9D3EA"/>
                </a:solidFill>
                <a:latin typeface="DM Sans"/>
              </a:rPr>
              <a:t>El FUF no revisa si el documento existe: revisa fecha, responsable, firma y seguimiento.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6428232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DM Sans"/>
              </a:rPr>
              <a:t>Tazki es donde esa gestión queda registrada, al día y lista para mostrar.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" y="6784848"/>
            <a:ext cx="274320" cy="548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00" b="0">
                <a:solidFill>
                  <a:srgbClr val="FFFFFF"/>
                </a:solidFill>
                <a:latin typeface="DM Sans"/>
              </a:rPr>
              <a:t>​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4088" y="56692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3100" b="1">
                <a:solidFill>
                  <a:srgbClr val="0C1E50"/>
                </a:solidFill>
                <a:latin typeface="DM Sans"/>
              </a:rPr>
              <a:t>Empresas que ya confían en Tazki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133856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400" b="0">
                <a:solidFill>
                  <a:srgbClr val="5B6472"/>
                </a:solidFill>
                <a:latin typeface="DM Sans"/>
              </a:rPr>
              <a:t>Telecom, TI y servicios · 9 de las +150 que ya digitalizaron su prevención.</a:t>
            </a:r>
          </a:p>
        </p:txBody>
      </p:sp>
      <p:pic>
        <p:nvPicPr>
          <p:cNvPr id="7" name="Picture 6" descr="3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267" y="3786870"/>
            <a:ext cx="1223566" cy="884458"/>
          </a:xfrm>
          <a:prstGeom prst="rect">
            <a:avLst/>
          </a:prstGeom>
        </p:spPr>
      </p:pic>
      <p:pic>
        <p:nvPicPr>
          <p:cNvPr id="8" name="Picture 7" descr="3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74209" y="3776520"/>
            <a:ext cx="1223566" cy="905158"/>
          </a:xfrm>
          <a:prstGeom prst="rect">
            <a:avLst/>
          </a:prstGeom>
        </p:spPr>
      </p:pic>
      <p:pic>
        <p:nvPicPr>
          <p:cNvPr id="9" name="Picture 8" descr="3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38151" y="3776520"/>
            <a:ext cx="1223566" cy="905158"/>
          </a:xfrm>
          <a:prstGeom prst="rect">
            <a:avLst/>
          </a:prstGeom>
        </p:spPr>
      </p:pic>
      <p:pic>
        <p:nvPicPr>
          <p:cNvPr id="10" name="Picture 9" descr="3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02093" y="3776520"/>
            <a:ext cx="1223566" cy="905158"/>
          </a:xfrm>
          <a:prstGeom prst="rect">
            <a:avLst/>
          </a:prstGeom>
        </p:spPr>
      </p:pic>
      <p:pic>
        <p:nvPicPr>
          <p:cNvPr id="11" name="Picture 10" descr="38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66035" y="3776520"/>
            <a:ext cx="1223566" cy="905158"/>
          </a:xfrm>
          <a:prstGeom prst="rect">
            <a:avLst/>
          </a:prstGeom>
        </p:spPr>
      </p:pic>
      <p:pic>
        <p:nvPicPr>
          <p:cNvPr id="12" name="Picture 11" descr="39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29977" y="3776520"/>
            <a:ext cx="1223566" cy="905158"/>
          </a:xfrm>
          <a:prstGeom prst="rect">
            <a:avLst/>
          </a:prstGeom>
        </p:spPr>
      </p:pic>
      <p:pic>
        <p:nvPicPr>
          <p:cNvPr id="13" name="Picture 12" descr="40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893919" y="3786870"/>
            <a:ext cx="1223566" cy="884458"/>
          </a:xfrm>
          <a:prstGeom prst="rect">
            <a:avLst/>
          </a:prstGeom>
        </p:spPr>
      </p:pic>
      <p:pic>
        <p:nvPicPr>
          <p:cNvPr id="14" name="Picture 13" descr="41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257860" y="3786870"/>
            <a:ext cx="1223566" cy="88445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_scov_732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2148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00584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1">
                <a:solidFill>
                  <a:srgbClr val="CFE0FA"/>
                </a:solidFill>
                <a:latin typeface="DM Sans"/>
                <a:cs typeface="DM Sans"/>
              </a:rPr>
              <a:t>LO QUE HOY TE COMPLICA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600" b="1">
                <a:solidFill>
                  <a:srgbClr val="FFFFFF"/>
                </a:solidFill>
                <a:latin typeface="DM Sans"/>
                <a:cs typeface="DM Sans"/>
              </a:rPr>
              <a:t>Tres cosas que le pasan a casi todas las operaciones.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14600"/>
            <a:ext cx="3429000" cy="3520440"/>
          </a:xfrm>
          <a:prstGeom prst="roundRect">
            <a:avLst>
              <a:gd name="adj" fmla="val 5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43000" y="2880360"/>
            <a:ext cx="868680" cy="8686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uo-gavel-8F4799-19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3017520"/>
            <a:ext cx="594360" cy="5943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43000" y="3931920"/>
            <a:ext cx="2788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50" b="1">
                <a:solidFill>
                  <a:srgbClr val="0C1E50"/>
                </a:solidFill>
                <a:latin typeface="DM Sans"/>
                <a:cs typeface="DM Sans"/>
              </a:rPr>
              <a:t>Sin trazabilidad, la fiscalización te pilla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1288" y="4910328"/>
            <a:ext cx="27706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50" b="0">
                <a:solidFill>
                  <a:srgbClr val="5B6472"/>
                </a:solidFill>
                <a:latin typeface="DM Sans"/>
                <a:cs typeface="DM Sans"/>
              </a:rPr>
              <a:t>EPP, capacitaciones y registros firmados y al día. Cuando están repartidos en archivos, reunir la evidencia a tiempo es contra el reloj.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2514600"/>
            <a:ext cx="3429000" cy="3520440"/>
          </a:xfrm>
          <a:prstGeom prst="roundRect">
            <a:avLst>
              <a:gd name="adj" fmla="val 5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754880" y="2880360"/>
            <a:ext cx="868680" cy="8686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duo-clipboard-text-8F4799-19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040" y="3017520"/>
            <a:ext cx="594360" cy="5943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54880" y="3931920"/>
            <a:ext cx="2788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50" b="1">
                <a:solidFill>
                  <a:srgbClr val="0C1E50"/>
                </a:solidFill>
                <a:latin typeface="DM Sans"/>
                <a:cs typeface="DM Sans"/>
              </a:rPr>
              <a:t>Los procesos en terreno se hacen a mano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3168" y="4910328"/>
            <a:ext cx="27706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50" b="0">
                <a:solidFill>
                  <a:srgbClr val="5B6472"/>
                </a:solidFill>
                <a:latin typeface="DM Sans"/>
                <a:cs typeface="DM Sans"/>
              </a:rPr>
              <a:t>Firmas, checklists y charlas en papel que después hay que digitar. Entre servicios y cuadrillas, la información se traspapela.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2514600"/>
            <a:ext cx="3429000" cy="3520440"/>
          </a:xfrm>
          <a:prstGeom prst="roundRect">
            <a:avLst>
              <a:gd name="adj" fmla="val 5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366760" y="2880360"/>
            <a:ext cx="868680" cy="8686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duo-files-8F4799-19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3920" y="3017520"/>
            <a:ext cx="594360" cy="59436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366760" y="3931920"/>
            <a:ext cx="2788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50" b="1">
                <a:solidFill>
                  <a:srgbClr val="0C1E50"/>
                </a:solidFill>
                <a:latin typeface="DM Sans"/>
                <a:cs typeface="DM Sans"/>
              </a:rPr>
              <a:t>La información vive en archivos dispersos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5048" y="4910328"/>
            <a:ext cx="27706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50" b="0">
                <a:solidFill>
                  <a:srgbClr val="5B6472"/>
                </a:solidFill>
                <a:latin typeface="DM Sans"/>
                <a:cs typeface="DM Sans"/>
              </a:rPr>
              <a:t>Planillas, correos y carpetas sin un lugar común. Centralizar todo en un solo sistema es lo que el equipo viene pidiendo.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_scov_3406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2148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00584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1">
                <a:solidFill>
                  <a:srgbClr val="CFE0FA"/>
                </a:solidFill>
                <a:latin typeface="DM Sans"/>
                <a:cs typeface="DM Sans"/>
              </a:rPr>
              <a:t>ASÍ TE AYUDA TAZKI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600" b="1">
                <a:solidFill>
                  <a:srgbClr val="FFFFFF"/>
                </a:solidFill>
                <a:latin typeface="DM Sans"/>
                <a:cs typeface="DM Sans"/>
              </a:rPr>
              <a:t>De la planilla al control real de tu prevención.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32688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uo-stack-1537D1-18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2907792"/>
            <a:ext cx="548640" cy="5486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32688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Todo en un solo lugar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Reúne documentos, firmas y registros de tu prevención en una plataforma. Se acabó buscar en carpetas y correos.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3320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duo-seal-check-1537D1-18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22191" y="2907792"/>
            <a:ext cx="548640" cy="5486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703320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Respaldo cuando lo necesitas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21608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Cada registro queda con firma electrónica y trazabilidad, con el respaldo de la Resolución 908 de la Dirección del Trabajo.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9631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73951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duo-device-mobile-1537D1-18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2823" y="2907792"/>
            <a:ext cx="548640" cy="54864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473951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Prevención en terreno, desde el celular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Tu equipo levanta hallazgos, inspecciones y firmas donde ocurre el trabajo. Si no hay señal, se sincroniza al recuperar conexión.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70263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244584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duo-grid-four-1537D1-18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63455" y="2907792"/>
            <a:ext cx="548640" cy="54864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244584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Riesgos siempre bajo control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62872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Tu MIPER digitalizada y actualizada, con EPP y capacitaciones al día, todo en un solo sistema y sin archivos dispersos.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E5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azki-wordmark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234440"/>
            <a:ext cx="2286000" cy="84092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" y="2651760"/>
            <a:ext cx="99669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>
                <a:solidFill>
                  <a:srgbClr val="FFFFFF"/>
                </a:solidFill>
                <a:latin typeface="DM Sans"/>
                <a:cs typeface="DM Sans"/>
              </a:rPr>
              <a:t>Un software modular, para cada proceso de tu prevención.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16052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700" b="0">
                <a:solidFill>
                  <a:srgbClr val="A2D6F9"/>
                </a:solidFill>
                <a:latin typeface="DM Sans"/>
                <a:cs typeface="DM Sans"/>
              </a:rPr>
              <a:t>Activa lo que tu operación necesita. Todo comparte datos, trazabilidad y firma.</a:t>
            </a:r>
          </a:p>
        </p:txBody>
      </p:sp>
      <p:pic>
        <p:nvPicPr>
          <p:cNvPr id="5" name="Picture 4" descr="duo-identification-card-B865C1-18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5212080"/>
            <a:ext cx="566928" cy="566928"/>
          </a:xfrm>
          <a:prstGeom prst="rect">
            <a:avLst/>
          </a:prstGeom>
        </p:spPr>
      </p:pic>
      <p:pic>
        <p:nvPicPr>
          <p:cNvPr id="6" name="Picture 5" descr="duo-warning-B865C1-18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02199" y="5212080"/>
            <a:ext cx="566928" cy="566928"/>
          </a:xfrm>
          <a:prstGeom prst="rect">
            <a:avLst/>
          </a:prstGeom>
        </p:spPr>
      </p:pic>
      <p:pic>
        <p:nvPicPr>
          <p:cNvPr id="7" name="Picture 6" descr="duo-chalkboard-teacher-B865C1-18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89998" y="5212080"/>
            <a:ext cx="566928" cy="566928"/>
          </a:xfrm>
          <a:prstGeom prst="rect">
            <a:avLst/>
          </a:prstGeom>
        </p:spPr>
      </p:pic>
      <p:pic>
        <p:nvPicPr>
          <p:cNvPr id="8" name="Picture 7" descr="duo-clipboard-text-B865C1-18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77797" y="5212080"/>
            <a:ext cx="566928" cy="566928"/>
          </a:xfrm>
          <a:prstGeom prst="rect">
            <a:avLst/>
          </a:prstGeom>
        </p:spPr>
      </p:pic>
      <p:pic>
        <p:nvPicPr>
          <p:cNvPr id="9" name="Picture 8" descr="duo-buildings-B865C1-18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65597" y="5212080"/>
            <a:ext cx="566928" cy="566928"/>
          </a:xfrm>
          <a:prstGeom prst="rect">
            <a:avLst/>
          </a:prstGeom>
        </p:spPr>
      </p:pic>
      <p:pic>
        <p:nvPicPr>
          <p:cNvPr id="10" name="Picture 9" descr="duo-hard-hat-B865C1-18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53396" y="5212080"/>
            <a:ext cx="566928" cy="566928"/>
          </a:xfrm>
          <a:prstGeom prst="rect">
            <a:avLst/>
          </a:prstGeom>
        </p:spPr>
      </p:pic>
      <p:pic>
        <p:nvPicPr>
          <p:cNvPr id="11" name="Picture 10" descr="duo-shield-check-B865C1-186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41195" y="5212080"/>
            <a:ext cx="566928" cy="566928"/>
          </a:xfrm>
          <a:prstGeom prst="rect">
            <a:avLst/>
          </a:prstGeom>
        </p:spPr>
      </p:pic>
      <p:pic>
        <p:nvPicPr>
          <p:cNvPr id="12" name="Picture 11" descr="duo-grid-four-B865C1-186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28994" y="5212080"/>
            <a:ext cx="566928" cy="566928"/>
          </a:xfrm>
          <a:prstGeom prst="rect">
            <a:avLst/>
          </a:prstGeom>
        </p:spPr>
      </p:pic>
      <p:pic>
        <p:nvPicPr>
          <p:cNvPr id="13" name="Picture 12" descr="duo-magnifying-glass-B865C1-186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016794" y="5212080"/>
            <a:ext cx="566928" cy="566928"/>
          </a:xfrm>
          <a:prstGeom prst="rect">
            <a:avLst/>
          </a:prstGeom>
        </p:spPr>
      </p:pic>
      <p:pic>
        <p:nvPicPr>
          <p:cNvPr id="14" name="Picture 13" descr="duo-calendar-check-B865C1-186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904593" y="5212080"/>
            <a:ext cx="566928" cy="566928"/>
          </a:xfrm>
          <a:prstGeom prst="rect">
            <a:avLst/>
          </a:prstGeom>
        </p:spPr>
      </p:pic>
      <p:pic>
        <p:nvPicPr>
          <p:cNvPr id="15" name="Picture 14" descr="duo-users-three-B865C1-186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792392" y="5212080"/>
            <a:ext cx="566928" cy="566928"/>
          </a:xfrm>
          <a:prstGeom prst="rect">
            <a:avLst/>
          </a:prstGeom>
        </p:spPr>
      </p:pic>
      <p:pic>
        <p:nvPicPr>
          <p:cNvPr id="16" name="Picture 15" descr="duo-wrench-B865C1-186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680192" y="5212080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identification-card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Inducciones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Documentación obligatoria firmada digitalmente y centralizada por colaborador.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EVESTIDO_evaluacion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837086"/>
            <a:ext cx="5660136" cy="318382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warning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Hallazgos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Gestiona el ciclo de acciones y condiciones inseguras hasta su cierre.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hallazgo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chalkboard-teacher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Capacitaciones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Calendariza charlas, registra asistencia y respalda la firma de cada participante.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REVESTIDO_capacitacion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837086"/>
            <a:ext cx="5660136" cy="318382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clipboard-text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Inspecciones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Identifica y corrige riesgos en terreno, desde el celular del supervisor.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inspeccione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buildings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Contratistas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Documentación vigente de empresas y trabajadores, con control de acceso y subcontratos.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contratista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hard-hat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EPP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Controla el inventario y las entregas de EPP con firma y trazabilidad por trabajador.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low_epp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shield-check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ART / 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Análisis de riesgo digital con firma de todos los participantes en terreno.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art-ast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grid-four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MIPER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Matriz de identificación de peligros y evaluación de riesgos, digitalizada y siempre actualizada.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low_mipe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magnifying-glass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Investigación de accidentes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Registra el accidente, documenta las causas y genera el reporte con respaldo.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low_accidente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calendar-check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Programa de gestión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Planifica las actividades preventivas del período y controla su cumplimiento.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programa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users-three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Comité Paritario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Digitaliza actas, reuniones y acuerdos del comité paritario, con respaldo.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EVESTIDO_document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837086"/>
            <a:ext cx="5660136" cy="3183826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wrench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Insumos y Maquinaria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Controla el inventario de insumos y el historial documental de maquinarias.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insumo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E5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azki-wordmark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731520"/>
            <a:ext cx="2194560" cy="80728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828800"/>
            <a:ext cx="10515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DM Sans"/>
                <a:cs typeface="DM Sans"/>
              </a:rPr>
              <a:t>Pongamos tu prevención</a:t>
            </a:r>
          </a:p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DM Sans"/>
                <a:cs typeface="DM Sans"/>
              </a:rPr>
              <a:t>al día, hoy.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94760"/>
            <a:ext cx="3429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A2D6F9"/>
                </a:solidFill>
                <a:latin typeface="DM Sans"/>
                <a:cs typeface="DM Sans"/>
              </a:rPr>
              <a:t>28.423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572000"/>
            <a:ext cx="3337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CBD6EC"/>
                </a:solidFill>
                <a:latin typeface="DM Sans"/>
                <a:cs typeface="DM Sans"/>
              </a:rPr>
              <a:t>horas hombre devueltas a terreno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34840" y="3794760"/>
            <a:ext cx="3429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A2D6F9"/>
                </a:solidFill>
                <a:latin typeface="DM Sans"/>
                <a:cs typeface="DM Sans"/>
              </a:rPr>
              <a:t>210.393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53128" y="4572000"/>
            <a:ext cx="3337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CBD6EC"/>
                </a:solidFill>
                <a:latin typeface="DM Sans"/>
                <a:cs typeface="DM Sans"/>
              </a:rPr>
              <a:t>EPP entregados con firma digital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3794760"/>
            <a:ext cx="3429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A2D6F9"/>
                </a:solidFill>
                <a:latin typeface="DM Sans"/>
                <a:cs typeface="DM Sans"/>
              </a:rPr>
              <a:t>+150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65008" y="4572000"/>
            <a:ext cx="3337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CBD6EC"/>
                </a:solidFill>
                <a:latin typeface="DM Sans"/>
                <a:cs typeface="DM Sans"/>
              </a:rPr>
              <a:t>empresas confían en Tazki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577840"/>
            <a:ext cx="2286000" cy="713232"/>
          </a:xfrm>
          <a:prstGeom prst="roundRect">
            <a:avLst>
              <a:gd name="adj" fmla="val 50000"/>
            </a:avLst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5577840"/>
            <a:ext cx="22860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600" b="1">
                <a:solidFill>
                  <a:srgbClr val="FFFFFF"/>
                </a:solidFill>
                <a:latin typeface="DM Sans"/>
                <a:cs typeface="DM Sans"/>
              </a:rPr>
              <a:t>Conversemos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5577840"/>
            <a:ext cx="54864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700" b="0">
                <a:solidFill>
                  <a:srgbClr val="A2D6F9"/>
                </a:solidFill>
                <a:latin typeface="DM Sans"/>
                <a:cs typeface="DM Sans"/>
              </a:rPr>
              <a:t>tazki.cl/contactanos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