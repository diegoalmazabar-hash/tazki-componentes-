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· ICP CORE. Foco: Escudo legal ante fiscalización. Hero reemplazable.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Prueba social al inicio: logos reales de clientes de este ICP.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dolores principales (situaciones frecuentes, no diagnóstico cerrado). Imagen y copy editables.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Ventajas: cómo ayuda el software. La 4a card se adapta al foco del ICP.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 a los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Inducciones. [Clave para este ICP]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Hallazgos.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Capacitaciones. [Clave para este ICP]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Inspecciones.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Contratistas.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EPP.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ART / AST.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MIPER.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Investigación de accidentes.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Programa de gestión.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Comité Paritario.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Insumos y Maquinaria.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Cierre/CTA.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4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61.png"/><Relationship Id="rId15" Type="http://schemas.openxmlformats.org/officeDocument/2006/relationships/image" Target="../media/image62.png"/><Relationship Id="rId16" Type="http://schemas.openxmlformats.org/officeDocument/2006/relationships/image" Target="../media/image63.png"/><Relationship Id="rId17" Type="http://schemas.openxmlformats.org/officeDocument/2006/relationships/image" Target="../media/image64.png"/><Relationship Id="rId18" Type="http://schemas.openxmlformats.org/officeDocument/2006/relationships/image" Target="../media/image65.png"/><Relationship Id="rId19" Type="http://schemas.openxmlformats.org/officeDocument/2006/relationships/image" Target="../media/image66.png"/><Relationship Id="rId20" Type="http://schemas.openxmlformats.org/officeDocument/2006/relationships/image" Target="../media/image67.png"/><Relationship Id="rId21" Type="http://schemas.openxmlformats.org/officeDocument/2006/relationships/image" Target="../media/image68.png"/><Relationship Id="rId22" Type="http://schemas.openxmlformats.org/officeDocument/2006/relationships/image" Target="../media/image69.png"/><Relationship Id="rId23" Type="http://schemas.openxmlformats.org/officeDocument/2006/relationships/image" Target="../media/image70.png"/><Relationship Id="rId24" Type="http://schemas.openxmlformats.org/officeDocument/2006/relationships/image" Target="../media/image71.png"/><Relationship Id="rId25" Type="http://schemas.openxmlformats.org/officeDocument/2006/relationships/image" Target="../media/image7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gif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gif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gif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gif"/><Relationship Id="rId4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gif"/><Relationship Id="rId4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gif"/><Relationship Id="rId4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gif"/><Relationship Id="rId4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gif"/><Relationship Id="rId4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gif"/><Relationship Id="rId4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5"/>
          <a:srcRect t="27499" b="27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50">
              <a:alpha val="4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50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azki-wordmark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2377440" cy="8745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97480"/>
            <a:ext cx="7589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El software de prevención</a:t>
            </a:r>
          </a:p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que te respalda ante la DT.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7040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DDE6F5"/>
                </a:solidFill>
                <a:latin typeface="DM Sans"/>
                <a:cs typeface="DM Sans"/>
              </a:rPr>
              <a:t>Centraliza inducciones, EPP, capacitaciones y hallazgos, con firma electrónica y trazabilidad. Pensado para operaciones de alto riesgo.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731520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DM Sans"/>
                <a:cs typeface="DM Sans"/>
              </a:rPr>
              <a:t>+150 empresas confían en Tazki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245352"/>
            <a:ext cx="370332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0">
                <a:solidFill>
                  <a:srgbClr val="CFE0FA"/>
                </a:solidFill>
                <a:latin typeface="DM Sans"/>
                <a:cs typeface="DM Sans"/>
              </a:rPr>
              <a:t>Construcción · Minería · Manufactura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6784848"/>
            <a:ext cx="274320" cy="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" b="0">
                <a:solidFill>
                  <a:srgbClr val="FFFFFF"/>
                </a:solidFill>
                <a:latin typeface="DM Sans"/>
              </a:rPr>
              <a:t>​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rcRect t="27499" b="27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5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rgbClr val="0C1E5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94960" y="0"/>
            <a:ext cx="402336" cy="6858000"/>
          </a:xfrm>
          <a:prstGeom prst="rect">
            <a:avLst/>
          </a:prstGeom>
          <a:solidFill>
            <a:srgbClr val="0C1E5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79008" y="0"/>
            <a:ext cx="402336" cy="6858000"/>
          </a:xfrm>
          <a:prstGeom prst="rect">
            <a:avLst/>
          </a:prstGeom>
          <a:solidFill>
            <a:srgbClr val="0C1E50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63056" y="0"/>
            <a:ext cx="402336" cy="6858000"/>
          </a:xfrm>
          <a:prstGeom prst="rect">
            <a:avLst/>
          </a:prstGeom>
          <a:solidFill>
            <a:srgbClr val="0C1E50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47104" y="0"/>
            <a:ext cx="402336" cy="6858000"/>
          </a:xfrm>
          <a:prstGeom prst="rect">
            <a:avLst/>
          </a:prstGeom>
          <a:solidFill>
            <a:srgbClr val="0C1E50">
              <a:alpha val="6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31152" y="0"/>
            <a:ext cx="402336" cy="6858000"/>
          </a:xfrm>
          <a:prstGeom prst="rect">
            <a:avLst/>
          </a:prstGeom>
          <a:solidFill>
            <a:srgbClr val="0C1E50">
              <a:alpha val="5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402336" cy="6858000"/>
          </a:xfrm>
          <a:prstGeom prst="rect">
            <a:avLst/>
          </a:prstGeom>
          <a:solidFill>
            <a:srgbClr val="0C1E50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99248" y="0"/>
            <a:ext cx="402336" cy="6858000"/>
          </a:xfrm>
          <a:prstGeom prst="rect">
            <a:avLst/>
          </a:prstGeom>
          <a:solidFill>
            <a:srgbClr val="0C1E50">
              <a:alpha val="4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0"/>
            <a:ext cx="402336" cy="6858000"/>
          </a:xfrm>
          <a:prstGeom prst="rect">
            <a:avLst/>
          </a:prstGeom>
          <a:solidFill>
            <a:srgbClr val="0C1E50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67344" y="0"/>
            <a:ext cx="402336" cy="6858000"/>
          </a:xfrm>
          <a:prstGeom prst="rect">
            <a:avLst/>
          </a:prstGeom>
          <a:solidFill>
            <a:srgbClr val="0C1E50">
              <a:alpha val="2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0"/>
            <a:ext cx="402336" cy="6858000"/>
          </a:xfrm>
          <a:prstGeom prst="rect">
            <a:avLst/>
          </a:prstGeom>
          <a:solidFill>
            <a:srgbClr val="0C1E50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160520"/>
            <a:ext cx="12191695" cy="2148840"/>
          </a:xfrm>
          <a:prstGeom prst="rect">
            <a:avLst/>
          </a:prstGeom>
          <a:solidFill>
            <a:srgbClr val="0C1E50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" y="640080"/>
            <a:ext cx="329184" cy="32004"/>
          </a:xfrm>
          <a:prstGeom prst="rect">
            <a:avLst/>
          </a:prstGeom>
          <a:solidFill>
            <a:srgbClr val="7F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EL CONTEXTO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1051560"/>
            <a:ext cx="60350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4400" b="1">
                <a:solidFill>
                  <a:srgbClr val="FFFFFF"/>
                </a:solidFill>
                <a:latin typeface="DM Sans"/>
              </a:rPr>
              <a:t>Ya no basta</a:t>
            </a:r>
          </a:p>
          <a:p>
            <a:pPr>
              <a:lnSpc>
                <a:spcPct val="106000"/>
              </a:lnSpc>
            </a:pPr>
            <a:r>
              <a:rPr sz="4400" b="1">
                <a:solidFill>
                  <a:srgbClr val="FFFFFF"/>
                </a:solidFill>
                <a:latin typeface="DM Sans"/>
              </a:rPr>
              <a:t>con tener</a:t>
            </a:r>
          </a:p>
          <a:p>
            <a:pPr>
              <a:lnSpc>
                <a:spcPct val="106000"/>
              </a:lnSpc>
            </a:pPr>
            <a:r>
              <a:rPr sz="4400" b="1">
                <a:solidFill>
                  <a:srgbClr val="FFFFFF"/>
                </a:solidFill>
                <a:latin typeface="DM Sans"/>
              </a:rPr>
              <a:t>los papeles.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3310128"/>
            <a:ext cx="5577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</a:pPr>
            <a:r>
              <a:rPr sz="1550" b="0">
                <a:solidFill>
                  <a:srgbClr val="C9D3EA"/>
                </a:solidFill>
                <a:latin typeface="DM Sans"/>
              </a:rPr>
              <a:t>El DS 44 cambió la regla: desde 2025 la prevención dejó de medirse por documentos archivados y pasó a medirse por gestión demostrable.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" y="4315968"/>
            <a:ext cx="3246120" cy="36576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462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4718304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650" b="1">
                <a:solidFill>
                  <a:srgbClr val="FFFFFF"/>
                </a:solidFill>
                <a:latin typeface="DM Sans"/>
              </a:rPr>
              <a:t>La ODI se convirtió en IRL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546811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150" b="0">
                <a:solidFill>
                  <a:srgbClr val="C9D3EA"/>
                </a:solidFill>
                <a:latin typeface="DM Sans"/>
              </a:rPr>
              <a:t>Informar los riesgos de cada puesto, con firma de quien los conoció, y actualizarlos cuando la tarea cambia.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1688" y="4315968"/>
            <a:ext cx="3246120" cy="36576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4462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4718304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650" b="1">
                <a:solidFill>
                  <a:srgbClr val="FFFFFF"/>
                </a:solidFill>
                <a:latin typeface="DM Sans"/>
              </a:rPr>
              <a:t>La MIPER manda el programa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546811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150" b="0">
                <a:solidFill>
                  <a:srgbClr val="C9D3EA"/>
                </a:solidFill>
                <a:latin typeface="DM Sans"/>
              </a:rPr>
              <a:t>La matriz define el programa preventivo, y ese programa vence a los 30 días de actualizar la matriz.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9288" y="4315968"/>
            <a:ext cx="3246120" cy="36576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9288" y="4462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4718304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650" b="1">
                <a:solidFill>
                  <a:srgbClr val="FFFFFF"/>
                </a:solidFill>
                <a:latin typeface="DM Sans"/>
              </a:rPr>
              <a:t>Se fiscaliza la evidencia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546811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150" b="0">
                <a:solidFill>
                  <a:srgbClr val="C9D3EA"/>
                </a:solidFill>
                <a:latin typeface="DM Sans"/>
              </a:rPr>
              <a:t>El FUF no revisa si el documento existe: revisa fecha, responsable, firma y seguimiento.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64282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DM Sans"/>
              </a:rPr>
              <a:t>Tazki es donde esa gestión queda registrada, al día y lista para mostrar.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6784848"/>
            <a:ext cx="274320" cy="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" b="0">
                <a:solidFill>
                  <a:srgbClr val="FFFFFF"/>
                </a:solidFill>
                <a:latin typeface="DM Sans"/>
              </a:rPr>
              <a:t>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5669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C1E50"/>
                </a:solidFill>
                <a:latin typeface="DM Sans"/>
              </a:rPr>
              <a:t>Empresas que ya confían en Tazki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13385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5B6472"/>
                </a:solidFill>
                <a:latin typeface="DM Sans"/>
              </a:rPr>
              <a:t>Empresas de todos los rubros · 22 de las +150 que ya digitalizaron su prevención.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29" y="1920971"/>
            <a:ext cx="1419489" cy="105009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8219" y="1920971"/>
            <a:ext cx="1419489" cy="105009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808" y="1920971"/>
            <a:ext cx="1419489" cy="105009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5397" y="1920971"/>
            <a:ext cx="1419489" cy="105009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3986" y="1920971"/>
            <a:ext cx="1419489" cy="1050096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2575" y="1920971"/>
            <a:ext cx="1419489" cy="1050096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629" y="3109691"/>
            <a:ext cx="1419489" cy="1050096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8219" y="3109691"/>
            <a:ext cx="1419489" cy="1050096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6808" y="3109691"/>
            <a:ext cx="1419489" cy="1050096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95397" y="3109691"/>
            <a:ext cx="1419489" cy="1050096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13986" y="3109691"/>
            <a:ext cx="1419489" cy="1050096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32575" y="3109691"/>
            <a:ext cx="1419489" cy="1050096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9629" y="4298411"/>
            <a:ext cx="1419489" cy="1050096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58219" y="4298411"/>
            <a:ext cx="1419489" cy="1050096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76808" y="4298411"/>
            <a:ext cx="1419489" cy="1050096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95397" y="4298411"/>
            <a:ext cx="1419489" cy="1050096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13986" y="4298411"/>
            <a:ext cx="1419489" cy="1050096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32575" y="4298411"/>
            <a:ext cx="1419489" cy="1050096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9629" y="5487131"/>
            <a:ext cx="1419489" cy="1050096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58219" y="5487131"/>
            <a:ext cx="1419489" cy="1050096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76808" y="5487131"/>
            <a:ext cx="1419489" cy="1050096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95397" y="5487131"/>
            <a:ext cx="1419489" cy="10500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470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LO QUE HOY TE COMPLICA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Tres cosas que le pasan a casi todas las operaciones.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files-8F4799-1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Se te va el día en papeleo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Entre firmas, planillas y documentos escaneados, queda poco tiempo para estar en terreno, que es donde de verdad se previene.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gavel-8F4799-1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5943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Si te fiscaliza la DT, ¿está todo a mano?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ODI, entrega de EPP, capacitaciones. Cuando están repartidos en carpetas y correos, responder a tiempo se hace cuesta arriba.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magnifying-glass-8F4799-1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017520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6676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Cuando pasa un accidente, el respaldo tiene que 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Ante algo grave se revisa todo. Si la documentación quedó incompleta, la empresa queda expuesta.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625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ASÍ TE AYUDA TAZKI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De la planilla al control real de tu prevención.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stack-1537D1-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07792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Todo en un solo lugar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Reúne documentos, firmas y registros de tu prevención en una plataforma. Se acabó buscar en carpetas y correos.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seal-check-1537D1-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1" y="2907792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03320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Respaldo cuando lo necesitas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Cada registro queda con firma electrónica y trazabilidad, con el respaldo de la Resolución 908 de la Dirección del Trabajo.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1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device-mobile-1537D1-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3" y="2907792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3951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Prevención en terreno, desde el celular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Tu equipo levanta hallazgos, inspecciones y firmas donde ocurre el trabajo. Si no hay señal, se sincroniza al recuperar conexión.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44584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o-gavel-1537D1-1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5" y="2907792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44584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Menos exposición legal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Con todo registrado y al día, enfrentas una fiscalización o un accidente con la carpeta completa.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2286000" cy="8409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DM Sans"/>
                <a:cs typeface="DM Sans"/>
              </a:rPr>
              <a:t>Un software modular, para cada proceso de tu prevención.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6052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Activa lo que tu operación necesita. Todo comparte datos, trazabilidad y firma.</a:t>
            </a:r>
          </a:p>
        </p:txBody>
      </p:sp>
      <p:pic>
        <p:nvPicPr>
          <p:cNvPr id="5" name="Picture 4" descr="duo-identification-card-B865C1-1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12080"/>
            <a:ext cx="566928" cy="566928"/>
          </a:xfrm>
          <a:prstGeom prst="rect">
            <a:avLst/>
          </a:prstGeom>
        </p:spPr>
      </p:pic>
      <p:pic>
        <p:nvPicPr>
          <p:cNvPr id="6" name="Picture 5" descr="duo-warning-B865C1-1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199" y="5212080"/>
            <a:ext cx="566928" cy="566928"/>
          </a:xfrm>
          <a:prstGeom prst="rect">
            <a:avLst/>
          </a:prstGeom>
        </p:spPr>
      </p:pic>
      <p:pic>
        <p:nvPicPr>
          <p:cNvPr id="7" name="Picture 6" descr="duo-chalkboard-teacher-B865C1-1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998" y="5212080"/>
            <a:ext cx="566928" cy="566928"/>
          </a:xfrm>
          <a:prstGeom prst="rect">
            <a:avLst/>
          </a:prstGeom>
        </p:spPr>
      </p:pic>
      <p:pic>
        <p:nvPicPr>
          <p:cNvPr id="8" name="Picture 7" descr="duo-clipboard-text-B865C1-18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7797" y="5212080"/>
            <a:ext cx="566928" cy="566928"/>
          </a:xfrm>
          <a:prstGeom prst="rect">
            <a:avLst/>
          </a:prstGeom>
        </p:spPr>
      </p:pic>
      <p:pic>
        <p:nvPicPr>
          <p:cNvPr id="9" name="Picture 8" descr="duo-buildings-B865C1-18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597" y="5212080"/>
            <a:ext cx="566928" cy="566928"/>
          </a:xfrm>
          <a:prstGeom prst="rect">
            <a:avLst/>
          </a:prstGeom>
        </p:spPr>
      </p:pic>
      <p:pic>
        <p:nvPicPr>
          <p:cNvPr id="10" name="Picture 9" descr="duo-hard-hat-B865C1-18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396" y="5212080"/>
            <a:ext cx="566928" cy="566928"/>
          </a:xfrm>
          <a:prstGeom prst="rect">
            <a:avLst/>
          </a:prstGeom>
        </p:spPr>
      </p:pic>
      <p:pic>
        <p:nvPicPr>
          <p:cNvPr id="11" name="Picture 10" descr="duo-shield-check-B865C1-18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1195" y="5212080"/>
            <a:ext cx="566928" cy="566928"/>
          </a:xfrm>
          <a:prstGeom prst="rect">
            <a:avLst/>
          </a:prstGeom>
        </p:spPr>
      </p:pic>
      <p:pic>
        <p:nvPicPr>
          <p:cNvPr id="12" name="Picture 11" descr="duo-grid-four-B865C1-18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8994" y="5212080"/>
            <a:ext cx="566928" cy="566928"/>
          </a:xfrm>
          <a:prstGeom prst="rect">
            <a:avLst/>
          </a:prstGeom>
        </p:spPr>
      </p:pic>
      <p:pic>
        <p:nvPicPr>
          <p:cNvPr id="13" name="Picture 12" descr="duo-magnifying-glass-B865C1-18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6794" y="5212080"/>
            <a:ext cx="566928" cy="566928"/>
          </a:xfrm>
          <a:prstGeom prst="rect">
            <a:avLst/>
          </a:prstGeom>
        </p:spPr>
      </p:pic>
      <p:pic>
        <p:nvPicPr>
          <p:cNvPr id="14" name="Picture 13" descr="duo-calendar-check-B865C1-18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4593" y="5212080"/>
            <a:ext cx="566928" cy="566928"/>
          </a:xfrm>
          <a:prstGeom prst="rect">
            <a:avLst/>
          </a:prstGeom>
        </p:spPr>
      </p:pic>
      <p:pic>
        <p:nvPicPr>
          <p:cNvPr id="15" name="Picture 14" descr="duo-users-three-B865C1-18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2392" y="5212080"/>
            <a:ext cx="566928" cy="566928"/>
          </a:xfrm>
          <a:prstGeom prst="rect">
            <a:avLst/>
          </a:prstGeom>
        </p:spPr>
      </p:pic>
      <p:pic>
        <p:nvPicPr>
          <p:cNvPr id="16" name="Picture 15" descr="duo-wrench-B865C1-18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0192" y="52120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identification-card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Inducciones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obligatoria firmada digitalmente y centralizada por colaborador.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VESTIDO_evalu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arning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Hallazgos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Gestiona el ciclo de acciones y condiciones inseguras hasta su cierre.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hallazg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halkboard-teache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Capacitaciones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Calendariza charlas, registra asistencia y respalda la firma de cada participante.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VESTIDO_capacit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lipboard-tex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Inspecciones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Identifica y corrige riesgos en terreno, desde el celular del supervisor.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peccion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building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Contratistas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vigente de empresas y trabajadores, con control de acceso y subcontratos.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contratista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hard-ha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EPP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y las entregas de EPP con firma y trazabilidad por trabajador.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ep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shield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ART / 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Análisis de riesgo digital con firma de todos los participantes en terreno.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art-as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grid-fou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MIPER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Matriz de identificación de peligros y evaluación de riesgos, digitalizada y siempre actualizada.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mipe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magnifying-glas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Investigación de accidentes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Registra el accidente, documenta las causas y genera el reporte con respaldo.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accident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alendar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Programa de gestión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Planifica las actividades preventivas del período y controla su cumplimiento.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progra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users-three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Comité Paritario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Digitaliza actas, reuniones y acuerdos del comité paritario, con respaldo.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docu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rench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Insumos y Maquinaria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de insumos y el historial documental de maquinarias.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um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194560" cy="8072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Demos el primer paso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hacia una prevención al día.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28.423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horas hombre devueltas a terreno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210.393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EPP entregados con firma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+150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empresas confían en Tazki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77840"/>
            <a:ext cx="2286000" cy="713232"/>
          </a:xfrm>
          <a:prstGeom prst="roundRect">
            <a:avLst>
              <a:gd name="adj" fmla="val 50000"/>
            </a:avLst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1">
                <a:solidFill>
                  <a:srgbClr val="FFFFFF"/>
                </a:solidFill>
                <a:latin typeface="DM Sans"/>
                <a:cs typeface="DM Sans"/>
              </a:rPr>
              <a:t>Conversemos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57784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tazki.cl/contactanos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