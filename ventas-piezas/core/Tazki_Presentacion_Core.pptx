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CORE. Foco: Escudo legal ante fiscalización.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4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Relationship Id="rId11" Type="http://schemas.openxmlformats.org/officeDocument/2006/relationships/image" Target="../media/image58.png"/><Relationship Id="rId12" Type="http://schemas.openxmlformats.org/officeDocument/2006/relationships/image" Target="../media/image59.png"/><Relationship Id="rId13" Type="http://schemas.openxmlformats.org/officeDocument/2006/relationships/image" Target="../media/image60.png"/><Relationship Id="rId14" Type="http://schemas.openxmlformats.org/officeDocument/2006/relationships/image" Target="../media/image61.png"/><Relationship Id="rId15" Type="http://schemas.openxmlformats.org/officeDocument/2006/relationships/image" Target="../media/image62.png"/><Relationship Id="rId16" Type="http://schemas.openxmlformats.org/officeDocument/2006/relationships/image" Target="../media/image63.png"/><Relationship Id="rId17" Type="http://schemas.openxmlformats.org/officeDocument/2006/relationships/image" Target="../media/image64.png"/><Relationship Id="rId18" Type="http://schemas.openxmlformats.org/officeDocument/2006/relationships/image" Target="../media/image65.png"/><Relationship Id="rId19" Type="http://schemas.openxmlformats.org/officeDocument/2006/relationships/image" Target="../media/image66.png"/><Relationship Id="rId20" Type="http://schemas.openxmlformats.org/officeDocument/2006/relationships/image" Target="../media/image67.png"/><Relationship Id="rId21" Type="http://schemas.openxmlformats.org/officeDocument/2006/relationships/image" Target="../media/image68.png"/><Relationship Id="rId22" Type="http://schemas.openxmlformats.org/officeDocument/2006/relationships/image" Target="../media/image69.png"/><Relationship Id="rId23" Type="http://schemas.openxmlformats.org/officeDocument/2006/relationships/image" Target="../media/image70.png"/><Relationship Id="rId24" Type="http://schemas.openxmlformats.org/officeDocument/2006/relationships/image" Target="../media/image71.png"/><Relationship Id="rId25" Type="http://schemas.openxmlformats.org/officeDocument/2006/relationships/image" Target="../media/image7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9" name="Picture 8" descr="construction_site_safety_briefing_in_progress.jpeg"/>
          <p:cNvPicPr>
            <a:picLocks noChangeAspect="1"/>
          </p:cNvPicPr>
          <p:nvPr/>
        </p:nvPicPr>
        <p:blipFill>
          <a:blip r:embed="rId5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El software de prevención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que te respalda ante la DT.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inducciones, EPP, capacitaciones y hallazgos, con firma electrónica y trazabilidad. Pensado para operaciones de alto riesgo.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Construcción · Minería · Manufactura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pic>
        <p:nvPicPr>
          <p:cNvPr id="3" name="Picture 2" descr="industrial_safety_briefing_in_progress.jpeg"/>
          <p:cNvPicPr>
            <a:picLocks noChangeAspect="1"/>
          </p:cNvPicPr>
          <p:nvPr/>
        </p:nvPicPr>
        <p:blipFill>
          <a:blip r:embed="rId2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C1E5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088" y="640080"/>
            <a:ext cx="329184" cy="32004"/>
          </a:xfrm>
          <a:prstGeom prst="rect">
            <a:avLst/>
          </a:prstGeom>
          <a:solidFill>
            <a:srgbClr val="7F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EL 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932688"/>
            <a:ext cx="6400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Ya no basta</a:t>
            </a:r>
          </a:p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con tener</a:t>
            </a:r>
          </a:p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los papeles.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27248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</a:pPr>
            <a:r>
              <a:rPr sz="1550" b="0">
                <a:solidFill>
                  <a:srgbClr val="C9D3EA"/>
                </a:solidFill>
                <a:latin typeface="DM Sans"/>
              </a:rPr>
              <a:t>El DS 44 cambió la regla: desde 2025 la prevención dejó de medirse por documentos archivados y pasó a medirse por gestión demostrable.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Informar los riesgos de cada puesto, con firma de quien los conoció, y actualizarlos cuando la tarea cambia.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16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La matriz define el programa preventivo, y ese programa vence a los 30 días de actualizar la matriz.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92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92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Se fiscaliza la evidencia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92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El FUF no revisa si el documento existe: revisa fecha, responsable, firma y seguimiento.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64282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5669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C1E50"/>
                </a:solidFill>
                <a:latin typeface="DM Sans"/>
              </a:rPr>
              <a:t>Empresas que ya confían en Tazki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1338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5B6472"/>
                </a:solidFill>
                <a:latin typeface="DM Sans"/>
              </a:rPr>
              <a:t>Empresas de todos los rubros · 22 de las +150 que ya digitalizaron su prevención.</a:t>
            </a:r>
          </a:p>
        </p:txBody>
      </p:sp>
      <p:pic>
        <p:nvPicPr>
          <p:cNvPr id="7" name="Picture 6" descr="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629" y="1920971"/>
            <a:ext cx="1419489" cy="1050096"/>
          </a:xfrm>
          <a:prstGeom prst="rect">
            <a:avLst/>
          </a:prstGeom>
        </p:spPr>
      </p:pic>
      <p:pic>
        <p:nvPicPr>
          <p:cNvPr id="8" name="Picture 7" descr="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8219" y="1920971"/>
            <a:ext cx="1419489" cy="1050096"/>
          </a:xfrm>
          <a:prstGeom prst="rect">
            <a:avLst/>
          </a:prstGeom>
        </p:spPr>
      </p:pic>
      <p:pic>
        <p:nvPicPr>
          <p:cNvPr id="9" name="Picture 8" descr="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6808" y="1920971"/>
            <a:ext cx="1419489" cy="1050096"/>
          </a:xfrm>
          <a:prstGeom prst="rect">
            <a:avLst/>
          </a:prstGeom>
        </p:spPr>
      </p:pic>
      <p:pic>
        <p:nvPicPr>
          <p:cNvPr id="10" name="Picture 9" descr="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5397" y="1920971"/>
            <a:ext cx="1419489" cy="1050096"/>
          </a:xfrm>
          <a:prstGeom prst="rect">
            <a:avLst/>
          </a:prstGeom>
        </p:spPr>
      </p:pic>
      <p:pic>
        <p:nvPicPr>
          <p:cNvPr id="11" name="Picture 10" descr="2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3986" y="1920971"/>
            <a:ext cx="1419489" cy="1050096"/>
          </a:xfrm>
          <a:prstGeom prst="rect">
            <a:avLst/>
          </a:prstGeom>
        </p:spPr>
      </p:pic>
      <p:pic>
        <p:nvPicPr>
          <p:cNvPr id="12" name="Picture 11" descr="2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32575" y="1920971"/>
            <a:ext cx="1419489" cy="1050096"/>
          </a:xfrm>
          <a:prstGeom prst="rect">
            <a:avLst/>
          </a:prstGeom>
        </p:spPr>
      </p:pic>
      <p:pic>
        <p:nvPicPr>
          <p:cNvPr id="13" name="Picture 12" descr="2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9629" y="3109691"/>
            <a:ext cx="1419489" cy="1050096"/>
          </a:xfrm>
          <a:prstGeom prst="rect">
            <a:avLst/>
          </a:prstGeom>
        </p:spPr>
      </p:pic>
      <p:pic>
        <p:nvPicPr>
          <p:cNvPr id="14" name="Picture 13" descr="2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58219" y="3109691"/>
            <a:ext cx="1419489" cy="1050096"/>
          </a:xfrm>
          <a:prstGeom prst="rect">
            <a:avLst/>
          </a:prstGeom>
        </p:spPr>
      </p:pic>
      <p:pic>
        <p:nvPicPr>
          <p:cNvPr id="15" name="Picture 14" descr="2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76808" y="3109691"/>
            <a:ext cx="1419489" cy="1050096"/>
          </a:xfrm>
          <a:prstGeom prst="rect">
            <a:avLst/>
          </a:prstGeom>
        </p:spPr>
      </p:pic>
      <p:pic>
        <p:nvPicPr>
          <p:cNvPr id="16" name="Picture 15" descr="2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95397" y="3109691"/>
            <a:ext cx="1419489" cy="1050096"/>
          </a:xfrm>
          <a:prstGeom prst="rect">
            <a:avLst/>
          </a:prstGeom>
        </p:spPr>
      </p:pic>
      <p:pic>
        <p:nvPicPr>
          <p:cNvPr id="17" name="Picture 16" descr="2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13986" y="3109691"/>
            <a:ext cx="1419489" cy="1050096"/>
          </a:xfrm>
          <a:prstGeom prst="rect">
            <a:avLst/>
          </a:prstGeom>
        </p:spPr>
      </p:pic>
      <p:pic>
        <p:nvPicPr>
          <p:cNvPr id="18" name="Picture 17" descr="27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32575" y="3109691"/>
            <a:ext cx="1419489" cy="1050096"/>
          </a:xfrm>
          <a:prstGeom prst="rect">
            <a:avLst/>
          </a:prstGeom>
        </p:spPr>
      </p:pic>
      <p:pic>
        <p:nvPicPr>
          <p:cNvPr id="19" name="Picture 18" descr="28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9629" y="4298411"/>
            <a:ext cx="1419489" cy="1050096"/>
          </a:xfrm>
          <a:prstGeom prst="rect">
            <a:avLst/>
          </a:prstGeom>
        </p:spPr>
      </p:pic>
      <p:pic>
        <p:nvPicPr>
          <p:cNvPr id="20" name="Picture 19" descr="29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658219" y="4298411"/>
            <a:ext cx="1419489" cy="1050096"/>
          </a:xfrm>
          <a:prstGeom prst="rect">
            <a:avLst/>
          </a:prstGeom>
        </p:spPr>
      </p:pic>
      <p:pic>
        <p:nvPicPr>
          <p:cNvPr id="21" name="Picture 20" descr="30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76808" y="4298411"/>
            <a:ext cx="1419489" cy="1050096"/>
          </a:xfrm>
          <a:prstGeom prst="rect">
            <a:avLst/>
          </a:prstGeom>
        </p:spPr>
      </p:pic>
      <p:pic>
        <p:nvPicPr>
          <p:cNvPr id="22" name="Picture 21" descr="31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295397" y="4298411"/>
            <a:ext cx="1419489" cy="1050096"/>
          </a:xfrm>
          <a:prstGeom prst="rect">
            <a:avLst/>
          </a:prstGeom>
        </p:spPr>
      </p:pic>
      <p:pic>
        <p:nvPicPr>
          <p:cNvPr id="23" name="Picture 22" descr="32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113986" y="4298411"/>
            <a:ext cx="1419489" cy="1050096"/>
          </a:xfrm>
          <a:prstGeom prst="rect">
            <a:avLst/>
          </a:prstGeom>
        </p:spPr>
      </p:pic>
      <p:pic>
        <p:nvPicPr>
          <p:cNvPr id="24" name="Picture 23" descr="33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932575" y="4298411"/>
            <a:ext cx="1419489" cy="1050096"/>
          </a:xfrm>
          <a:prstGeom prst="rect">
            <a:avLst/>
          </a:prstGeom>
        </p:spPr>
      </p:pic>
      <p:pic>
        <p:nvPicPr>
          <p:cNvPr id="25" name="Picture 24" descr="116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9629" y="5487131"/>
            <a:ext cx="1419489" cy="1050096"/>
          </a:xfrm>
          <a:prstGeom prst="rect">
            <a:avLst/>
          </a:prstGeom>
        </p:spPr>
      </p:pic>
      <p:pic>
        <p:nvPicPr>
          <p:cNvPr id="26" name="Picture 25" descr="117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658219" y="5487131"/>
            <a:ext cx="1419489" cy="1050096"/>
          </a:xfrm>
          <a:prstGeom prst="rect">
            <a:avLst/>
          </a:prstGeom>
        </p:spPr>
      </p:pic>
      <p:pic>
        <p:nvPicPr>
          <p:cNvPr id="27" name="Picture 26" descr="121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476808" y="5487131"/>
            <a:ext cx="1419489" cy="1050096"/>
          </a:xfrm>
          <a:prstGeom prst="rect">
            <a:avLst/>
          </a:prstGeom>
        </p:spPr>
      </p:pic>
      <p:pic>
        <p:nvPicPr>
          <p:cNvPr id="28" name="Picture 27" descr="122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295397" y="5487131"/>
            <a:ext cx="1419489" cy="10500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470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Se te va el día en papeleo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Entre firmas, planillas y documentos escaneados, queda poco tiempo para estar en terreno, que es donde de verdad se previene.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gavel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 te fiscaliza la DT, ¿está todo a mano?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ODI, entrega de EPP, capacitaciones. Cuando están repartidos en carpetas y correos, responder a tiempo se hace cuesta arriba.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magnifying-glas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Cuando pasa un accidente, el respaldo tiene que estar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Ante algo grave se revisa todo. Si la documentación quedó incompleta, la empresa queda expuesta.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625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gavel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Menos exposición legal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Con todo registrado y al día, enfrentas una fiscalización o un accidente con la carpeta completa.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Demos el primer paso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hacia una prevención al día.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