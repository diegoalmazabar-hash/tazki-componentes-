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4" r:id="rId26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Portada · ICP TRANSPORTE Y LOGÍSTICA. Foco: Documentación de flota siempre al día. Hero reemplazable.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Prueba social al inicio: logos reales de clientes de este ICP.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dolores principales (situaciones frecuentes, no diagnóstico cerrado). Imagen y copy editables.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Ventajas: cómo ayuda el software. La 4a card se adapta al foco del ICP.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Transición a los módulos.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Inducciones. [Captura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Hallazgos.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Capacitaciones. [Clave para este ICP] [Captura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Inspecciones.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Contratistas. [Clave para este ICP]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EPP. [Clave para este ICP]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ART / AST.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MIPER.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Investigación de accidentes. [Clave para este ICP]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Programa de gestión.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Comité Paritario. [Captura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Insumos y Maquinaria.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Cierre/CTA.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49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Relationship Id="rId10" Type="http://schemas.openxmlformats.org/officeDocument/2006/relationships/image" Target="../media/image57.png"/><Relationship Id="rId11" Type="http://schemas.openxmlformats.org/officeDocument/2006/relationships/image" Target="../media/image58.png"/><Relationship Id="rId12" Type="http://schemas.openxmlformats.org/officeDocument/2006/relationships/image" Target="../media/image59.png"/><Relationship Id="rId13" Type="http://schemas.openxmlformats.org/officeDocument/2006/relationships/image" Target="../media/image60.png"/><Relationship Id="rId14" Type="http://schemas.openxmlformats.org/officeDocument/2006/relationships/image" Target="../media/image61.png"/><Relationship Id="rId15" Type="http://schemas.openxmlformats.org/officeDocument/2006/relationships/image" Target="../media/image6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4.png"/><Relationship Id="rId15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gif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gif"/><Relationship Id="rId4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gif"/><Relationship Id="rId4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gif"/><Relationship Id="rId4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gif"/><Relationship Id="rId4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gif"/><Relationship Id="rId4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gif"/><Relationship Id="rId4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gif"/><Relationship Id="rId4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gif"/><Relationship Id="rId4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5"/>
          <a:srcRect t="7844" b="784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E50">
              <a:alpha val="4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E50">
              <a:alpha val="3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azki-wordmark-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0080"/>
            <a:ext cx="2377440" cy="8745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697480"/>
            <a:ext cx="7589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700" b="1">
                <a:solidFill>
                  <a:srgbClr val="FFFFFF"/>
                </a:solidFill>
                <a:latin typeface="DM Sans"/>
                <a:cs typeface="DM Sans"/>
              </a:rPr>
              <a:t>Documentación de flota</a:t>
            </a:r>
          </a:p>
          <a:p>
            <a:pPr algn="l">
              <a:lnSpc>
                <a:spcPct val="102000"/>
              </a:lnSpc>
            </a:pPr>
            <a:r>
              <a:rPr sz="3700" b="1">
                <a:solidFill>
                  <a:srgbClr val="FFFFFF"/>
                </a:solidFill>
                <a:latin typeface="DM Sans"/>
                <a:cs typeface="DM Sans"/>
              </a:rPr>
              <a:t>siempre al día.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60520"/>
            <a:ext cx="7040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DDE6F5"/>
                </a:solidFill>
                <a:latin typeface="DM Sans"/>
                <a:cs typeface="DM Sans"/>
              </a:rPr>
              <a:t>Centraliza programas de trabajo, EPP, capacitaciones e investigación de accidentes de toda tu flota, con firma electrónica y alertas de vencimiento.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45352"/>
            <a:ext cx="12191695" cy="612648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245352"/>
            <a:ext cx="7315200" cy="6126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FFFFFF"/>
                </a:solidFill>
                <a:latin typeface="DM Sans"/>
                <a:cs typeface="DM Sans"/>
              </a:rPr>
              <a:t>+150 empresas confían en Tazki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6245352"/>
            <a:ext cx="3703320" cy="6126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200" b="0">
                <a:solidFill>
                  <a:srgbClr val="CFE0FA"/>
                </a:solidFill>
                <a:latin typeface="DM Sans"/>
                <a:cs typeface="DM Sans"/>
              </a:rPr>
              <a:t>Transporte · Logística · Flotas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" y="6784848"/>
            <a:ext cx="274320" cy="54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" b="0">
                <a:solidFill>
                  <a:srgbClr val="FFFFFF"/>
                </a:solidFill>
                <a:latin typeface="DM Sans"/>
              </a:rPr>
              <a:t>​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rcRect t="27499" b="274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E5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94960" cy="6858000"/>
          </a:xfrm>
          <a:prstGeom prst="rect">
            <a:avLst/>
          </a:prstGeom>
          <a:solidFill>
            <a:srgbClr val="0C1E50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94960" y="0"/>
            <a:ext cx="402336" cy="6858000"/>
          </a:xfrm>
          <a:prstGeom prst="rect">
            <a:avLst/>
          </a:prstGeom>
          <a:solidFill>
            <a:srgbClr val="0C1E50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79008" y="0"/>
            <a:ext cx="402336" cy="6858000"/>
          </a:xfrm>
          <a:prstGeom prst="rect">
            <a:avLst/>
          </a:prstGeom>
          <a:solidFill>
            <a:srgbClr val="0C1E50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63056" y="0"/>
            <a:ext cx="402336" cy="6858000"/>
          </a:xfrm>
          <a:prstGeom prst="rect">
            <a:avLst/>
          </a:prstGeom>
          <a:solidFill>
            <a:srgbClr val="0C1E50">
              <a:alpha val="7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47104" y="0"/>
            <a:ext cx="402336" cy="6858000"/>
          </a:xfrm>
          <a:prstGeom prst="rect">
            <a:avLst/>
          </a:prstGeom>
          <a:solidFill>
            <a:srgbClr val="0C1E50">
              <a:alpha val="6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31152" y="0"/>
            <a:ext cx="402336" cy="6858000"/>
          </a:xfrm>
          <a:prstGeom prst="rect">
            <a:avLst/>
          </a:prstGeom>
          <a:solidFill>
            <a:srgbClr val="0C1E50">
              <a:alpha val="5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402336" cy="6858000"/>
          </a:xfrm>
          <a:prstGeom prst="rect">
            <a:avLst/>
          </a:prstGeom>
          <a:solidFill>
            <a:srgbClr val="0C1E50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99248" y="0"/>
            <a:ext cx="402336" cy="6858000"/>
          </a:xfrm>
          <a:prstGeom prst="rect">
            <a:avLst/>
          </a:prstGeom>
          <a:solidFill>
            <a:srgbClr val="0C1E50">
              <a:alpha val="4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83296" y="0"/>
            <a:ext cx="402336" cy="6858000"/>
          </a:xfrm>
          <a:prstGeom prst="rect">
            <a:avLst/>
          </a:prstGeom>
          <a:solidFill>
            <a:srgbClr val="0C1E50">
              <a:alpha val="3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67344" y="0"/>
            <a:ext cx="402336" cy="6858000"/>
          </a:xfrm>
          <a:prstGeom prst="rect">
            <a:avLst/>
          </a:prstGeom>
          <a:solidFill>
            <a:srgbClr val="0C1E50">
              <a:alpha val="2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51392" y="0"/>
            <a:ext cx="402336" cy="6858000"/>
          </a:xfrm>
          <a:prstGeom prst="rect">
            <a:avLst/>
          </a:prstGeom>
          <a:solidFill>
            <a:srgbClr val="0C1E50">
              <a:alpha val="2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160520"/>
            <a:ext cx="12191695" cy="2148840"/>
          </a:xfrm>
          <a:prstGeom prst="rect">
            <a:avLst/>
          </a:prstGeom>
          <a:solidFill>
            <a:srgbClr val="0C1E50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088" y="640080"/>
            <a:ext cx="329184" cy="32004"/>
          </a:xfrm>
          <a:prstGeom prst="rect">
            <a:avLst/>
          </a:prstGeom>
          <a:solidFill>
            <a:srgbClr val="7FB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7FB2FF"/>
                </a:solidFill>
                <a:latin typeface="DM Sans"/>
              </a:rPr>
              <a:t>EL CONTEXTO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1051560"/>
            <a:ext cx="603504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4400" b="1">
                <a:solidFill>
                  <a:srgbClr val="FFFFFF"/>
                </a:solidFill>
                <a:latin typeface="DM Sans"/>
              </a:rPr>
              <a:t>Ya no basta</a:t>
            </a:r>
          </a:p>
          <a:p>
            <a:pPr>
              <a:lnSpc>
                <a:spcPct val="106000"/>
              </a:lnSpc>
            </a:pPr>
            <a:r>
              <a:rPr sz="4400" b="1">
                <a:solidFill>
                  <a:srgbClr val="FFFFFF"/>
                </a:solidFill>
                <a:latin typeface="DM Sans"/>
              </a:rPr>
              <a:t>con tener</a:t>
            </a:r>
          </a:p>
          <a:p>
            <a:pPr>
              <a:lnSpc>
                <a:spcPct val="106000"/>
              </a:lnSpc>
            </a:pPr>
            <a:r>
              <a:rPr sz="4400" b="1">
                <a:solidFill>
                  <a:srgbClr val="FFFFFF"/>
                </a:solidFill>
                <a:latin typeface="DM Sans"/>
              </a:rPr>
              <a:t>los papeles.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" y="3310128"/>
            <a:ext cx="55778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</a:pPr>
            <a:r>
              <a:rPr sz="1550" b="0">
                <a:solidFill>
                  <a:srgbClr val="C9D3EA"/>
                </a:solidFill>
                <a:latin typeface="DM Sans"/>
              </a:rPr>
              <a:t>El DS 44 cambió la regla: desde 2025 la prevención dejó de medirse por documentos archivados y pasó a medirse por gestión demostrable.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" y="4315968"/>
            <a:ext cx="3246120" cy="36576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446227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7FB2FF"/>
                </a:solidFill>
                <a:latin typeface="DM Sans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4718304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sz="1650" b="1">
                <a:solidFill>
                  <a:srgbClr val="FFFFFF"/>
                </a:solidFill>
                <a:latin typeface="DM Sans"/>
              </a:rPr>
              <a:t>La ODI se convirtió en IRL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5468112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6000"/>
              </a:lnSpc>
            </a:pPr>
            <a:r>
              <a:rPr sz="1150" b="0">
                <a:solidFill>
                  <a:srgbClr val="C9D3EA"/>
                </a:solidFill>
                <a:latin typeface="DM Sans"/>
              </a:rPr>
              <a:t>Informar los riesgos de cada puesto, con firma de quien los conoció, y actualizarlos cuando la tarea cambia.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61688" y="4315968"/>
            <a:ext cx="3246120" cy="36576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1688" y="446227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7FB2FF"/>
                </a:solidFill>
                <a:latin typeface="DM Sans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1688" y="4718304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sz="1650" b="1">
                <a:solidFill>
                  <a:srgbClr val="FFFFFF"/>
                </a:solidFill>
                <a:latin typeface="DM Sans"/>
              </a:rPr>
              <a:t>La MIPER manda el programa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5468112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6000"/>
              </a:lnSpc>
            </a:pPr>
            <a:r>
              <a:rPr sz="1150" b="0">
                <a:solidFill>
                  <a:srgbClr val="C9D3EA"/>
                </a:solidFill>
                <a:latin typeface="DM Sans"/>
              </a:rPr>
              <a:t>La matriz define el programa preventivo, y ese programa vence a los 30 días de actualizar la matriz.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19288" y="4315968"/>
            <a:ext cx="3246120" cy="36576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9288" y="446227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7FB2FF"/>
                </a:solidFill>
                <a:latin typeface="DM Sans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4718304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sz="1650" b="1">
                <a:solidFill>
                  <a:srgbClr val="FFFFFF"/>
                </a:solidFill>
                <a:latin typeface="DM Sans"/>
              </a:rPr>
              <a:t>Se fiscaliza la evidencia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9288" y="5468112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6000"/>
              </a:lnSpc>
            </a:pPr>
            <a:r>
              <a:rPr sz="1150" b="0">
                <a:solidFill>
                  <a:srgbClr val="C9D3EA"/>
                </a:solidFill>
                <a:latin typeface="DM Sans"/>
              </a:rPr>
              <a:t>El FUF no revisa si el documento existe: revisa fecha, responsable, firma y seguimiento.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6428232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DM Sans"/>
              </a:rPr>
              <a:t>Tazki es donde esa gestión queda registrada, al día y lista para mostrar.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" y="6784848"/>
            <a:ext cx="274320" cy="54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" b="0">
                <a:solidFill>
                  <a:srgbClr val="FFFFFF"/>
                </a:solidFill>
                <a:latin typeface="DM Sans"/>
              </a:rPr>
              <a:t>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56692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C1E50"/>
                </a:solidFill>
                <a:latin typeface="DM Sans"/>
              </a:rPr>
              <a:t>Empresas que ya confían en Tazki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13385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5B6472"/>
                </a:solidFill>
                <a:latin typeface="DM Sans"/>
              </a:rPr>
              <a:t>Transporte, logística y almacenamiento · 12 de las +150 que ya digitalizaron su prevención.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629" y="3109691"/>
            <a:ext cx="1419489" cy="105009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8219" y="3109691"/>
            <a:ext cx="1419489" cy="1050096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6808" y="3109691"/>
            <a:ext cx="1419489" cy="1050096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5397" y="3109691"/>
            <a:ext cx="1419489" cy="1050096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13986" y="3109691"/>
            <a:ext cx="1419489" cy="1050096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32575" y="3109691"/>
            <a:ext cx="1419489" cy="1050096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9629" y="4298411"/>
            <a:ext cx="1419489" cy="1050096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58219" y="4298411"/>
            <a:ext cx="1419489" cy="1050096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76808" y="4298411"/>
            <a:ext cx="1419489" cy="1050096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95397" y="4298411"/>
            <a:ext cx="1419489" cy="1050096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13986" y="4298411"/>
            <a:ext cx="1419489" cy="1050096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32575" y="4298411"/>
            <a:ext cx="1419489" cy="10500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cov_35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148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0058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CFE0FA"/>
                </a:solidFill>
                <a:latin typeface="DM Sans"/>
                <a:cs typeface="DM Sans"/>
              </a:rPr>
              <a:t>LO QUE HOY TE COMPLICA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>
                <a:solidFill>
                  <a:srgbClr val="FFFFFF"/>
                </a:solidFill>
                <a:latin typeface="DM Sans"/>
                <a:cs typeface="DM Sans"/>
              </a:rPr>
              <a:t>Tres cosas que le pasan a casi todas las operaciones.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14600"/>
            <a:ext cx="3429000" cy="35204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2880360"/>
            <a:ext cx="86868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uo-files-8F4799-1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017520"/>
            <a:ext cx="594360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3000" y="39319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0C1E50"/>
                </a:solidFill>
                <a:latin typeface="DM Sans"/>
                <a:cs typeface="DM Sans"/>
              </a:rPr>
              <a:t>Los programas de trabajo viven en el drive, a mano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4910328"/>
            <a:ext cx="2770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5B6472"/>
                </a:solidFill>
                <a:latin typeface="DM Sans"/>
                <a:cs typeface="DM Sans"/>
              </a:rPr>
              <a:t>Formatos y planillas repartidos en carpetas compartidas. Mantenerlos al día y encontrarlos cuando se necesitan cuesta el doble.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514600"/>
            <a:ext cx="3429000" cy="35204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54880" y="2880360"/>
            <a:ext cx="86868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uo-clock-8F4799-1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594360" cy="594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0" y="39319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0C1E50"/>
                </a:solidFill>
                <a:latin typeface="DM Sans"/>
                <a:cs typeface="DM Sans"/>
              </a:rPr>
              <a:t>Un requisito vencido deja a tu gente fuera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4910328"/>
            <a:ext cx="2770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5B6472"/>
                </a:solidFill>
                <a:latin typeface="DM Sans"/>
                <a:cs typeface="DM Sans"/>
              </a:rPr>
              <a:t>EPP, exámenes y requisitos críticos que caducan sin que nadie los vea. Sin alertas, el aviso llega cuando ya es tarde.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514600"/>
            <a:ext cx="3429000" cy="35204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66760" y="2880360"/>
            <a:ext cx="86868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uo-gavel-8F4799-19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3017520"/>
            <a:ext cx="594360" cy="5943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66760" y="39319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0C1E50"/>
                </a:solidFill>
                <a:latin typeface="DM Sans"/>
                <a:cs typeface="DM Sans"/>
              </a:rPr>
              <a:t>Sin trazabilidad, la fiscalización te complica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4910328"/>
            <a:ext cx="2770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5B6472"/>
                </a:solidFill>
                <a:latin typeface="DM Sans"/>
                <a:cs typeface="DM Sans"/>
              </a:rPr>
              <a:t>Firmas en papel y doble validación de jefatura y trabajador dispersa. Reunir la evidencia al día, por conductor, toma tiempo.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cov_533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148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0058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CFE0FA"/>
                </a:solidFill>
                <a:latin typeface="DM Sans"/>
                <a:cs typeface="DM Sans"/>
              </a:rPr>
              <a:t>ASÍ TE AYUDA TAZKI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>
                <a:solidFill>
                  <a:srgbClr val="FFFFFF"/>
                </a:solidFill>
                <a:latin typeface="DM Sans"/>
                <a:cs typeface="DM Sans"/>
              </a:rPr>
              <a:t>De la planilla al control real de tu prevención.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uo-stack-1537D1-1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907792"/>
            <a:ext cx="548640" cy="548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2688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Todo en un solo lugar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Reúne documentos, firmas y registros de tu prevención en una plataforma. Se acabó buscar en carpetas y correos.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3320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uo-seal-check-1537D1-1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91" y="2907792"/>
            <a:ext cx="548640" cy="548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703320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Respaldo cuando lo necesitas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Cada registro queda con firma electrónica y trazabilidad, con el respaldo de la Resolución 908 de la Dirección del Trabajo.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1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73951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uo-device-mobile-1537D1-18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3" y="2907792"/>
            <a:ext cx="548640" cy="5486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73951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Prevención en terreno, desde el celular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Tu equipo levanta hallazgos, inspecciones y firmas donde ocurre el trabajo. Si no hay señal, se sincroniza al recuperar conexión.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0263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44584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uo-clock-1537D1-18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3455" y="2907792"/>
            <a:ext cx="548640" cy="5486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244584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Alertas antes del vencimiento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Recordatorios automáticos de EPP, exámenes y requisitos críticos, para que tu flota nunca quede fuera por un documento vencido.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azki-wordmark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34440"/>
            <a:ext cx="2286000" cy="84092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651760"/>
            <a:ext cx="9966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>
                <a:solidFill>
                  <a:srgbClr val="FFFFFF"/>
                </a:solidFill>
                <a:latin typeface="DM Sans"/>
                <a:cs typeface="DM Sans"/>
              </a:rPr>
              <a:t>Un software modular, para cada proceso de tu prevención.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6052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700" b="0">
                <a:solidFill>
                  <a:srgbClr val="A2D6F9"/>
                </a:solidFill>
                <a:latin typeface="DM Sans"/>
                <a:cs typeface="DM Sans"/>
              </a:rPr>
              <a:t>Activa lo que tu operación necesita. Todo comparte datos, trazabilidad y firma.</a:t>
            </a:r>
          </a:p>
        </p:txBody>
      </p:sp>
      <p:pic>
        <p:nvPicPr>
          <p:cNvPr id="5" name="Picture 4" descr="duo-identification-card-B865C1-1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212080"/>
            <a:ext cx="566928" cy="566928"/>
          </a:xfrm>
          <a:prstGeom prst="rect">
            <a:avLst/>
          </a:prstGeom>
        </p:spPr>
      </p:pic>
      <p:pic>
        <p:nvPicPr>
          <p:cNvPr id="6" name="Picture 5" descr="duo-warning-B865C1-18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2199" y="5212080"/>
            <a:ext cx="566928" cy="566928"/>
          </a:xfrm>
          <a:prstGeom prst="rect">
            <a:avLst/>
          </a:prstGeom>
        </p:spPr>
      </p:pic>
      <p:pic>
        <p:nvPicPr>
          <p:cNvPr id="7" name="Picture 6" descr="duo-chalkboard-teacher-B865C1-18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9998" y="5212080"/>
            <a:ext cx="566928" cy="566928"/>
          </a:xfrm>
          <a:prstGeom prst="rect">
            <a:avLst/>
          </a:prstGeom>
        </p:spPr>
      </p:pic>
      <p:pic>
        <p:nvPicPr>
          <p:cNvPr id="8" name="Picture 7" descr="duo-clipboard-text-B865C1-18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7797" y="5212080"/>
            <a:ext cx="566928" cy="566928"/>
          </a:xfrm>
          <a:prstGeom prst="rect">
            <a:avLst/>
          </a:prstGeom>
        </p:spPr>
      </p:pic>
      <p:pic>
        <p:nvPicPr>
          <p:cNvPr id="9" name="Picture 8" descr="duo-buildings-B865C1-18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5597" y="5212080"/>
            <a:ext cx="566928" cy="566928"/>
          </a:xfrm>
          <a:prstGeom prst="rect">
            <a:avLst/>
          </a:prstGeom>
        </p:spPr>
      </p:pic>
      <p:pic>
        <p:nvPicPr>
          <p:cNvPr id="10" name="Picture 9" descr="duo-hard-hat-B865C1-18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3396" y="5212080"/>
            <a:ext cx="566928" cy="566928"/>
          </a:xfrm>
          <a:prstGeom prst="rect">
            <a:avLst/>
          </a:prstGeom>
        </p:spPr>
      </p:pic>
      <p:pic>
        <p:nvPicPr>
          <p:cNvPr id="11" name="Picture 10" descr="duo-shield-check-B865C1-18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1195" y="5212080"/>
            <a:ext cx="566928" cy="566928"/>
          </a:xfrm>
          <a:prstGeom prst="rect">
            <a:avLst/>
          </a:prstGeom>
        </p:spPr>
      </p:pic>
      <p:pic>
        <p:nvPicPr>
          <p:cNvPr id="12" name="Picture 11" descr="duo-grid-four-B865C1-18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8994" y="5212080"/>
            <a:ext cx="566928" cy="566928"/>
          </a:xfrm>
          <a:prstGeom prst="rect">
            <a:avLst/>
          </a:prstGeom>
        </p:spPr>
      </p:pic>
      <p:pic>
        <p:nvPicPr>
          <p:cNvPr id="13" name="Picture 12" descr="duo-magnifying-glass-B865C1-18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16794" y="5212080"/>
            <a:ext cx="566928" cy="566928"/>
          </a:xfrm>
          <a:prstGeom prst="rect">
            <a:avLst/>
          </a:prstGeom>
        </p:spPr>
      </p:pic>
      <p:pic>
        <p:nvPicPr>
          <p:cNvPr id="14" name="Picture 13" descr="duo-calendar-check-B865C1-18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04593" y="5212080"/>
            <a:ext cx="566928" cy="566928"/>
          </a:xfrm>
          <a:prstGeom prst="rect">
            <a:avLst/>
          </a:prstGeom>
        </p:spPr>
      </p:pic>
      <p:pic>
        <p:nvPicPr>
          <p:cNvPr id="15" name="Picture 14" descr="duo-users-three-B865C1-18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92392" y="5212080"/>
            <a:ext cx="566928" cy="566928"/>
          </a:xfrm>
          <a:prstGeom prst="rect">
            <a:avLst/>
          </a:prstGeom>
        </p:spPr>
      </p:pic>
      <p:pic>
        <p:nvPicPr>
          <p:cNvPr id="16" name="Picture 15" descr="duo-wrench-B865C1-186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80192" y="521208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identification-card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Inducciones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Documentación obligatoria firmada digitalmente y centralizada por colaborador.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VESTIDO_evaluaci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837086"/>
            <a:ext cx="5660136" cy="31838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warning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Hallazgos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Gestiona el ciclo de acciones y condiciones inseguras hasta su cierre.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hallazgo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chalkboard-teacher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Capacitaciones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Calendariza charlas, registra asistencia y respalda la firma de cada participante.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VESTIDO_capacitaci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837086"/>
            <a:ext cx="5660136" cy="31838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clipboard-text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Inspecciones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Identifica y corrige riesgos en terreno, desde el celular del supervisor.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inspeccione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buildings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Contratistas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Documentación vigente de empresas y trabajadores, con control de acceso y subcontratos.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ow_contratista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hard-hat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EPP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Controla el inventario y las entregas de EPP con firma y trazabilidad por trabajador.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ow_epp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shield-check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ART / 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Análisis de riesgo digital con firma de todos los participantes en terreno.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art-ast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grid-four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MIPER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Matriz de identificación de peligros y evaluación de riesgos, digitalizada y siempre actualizada.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mipe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magnifying-glass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Investigación de accidentes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Registra el accidente, documenta las causas y genera el reporte con respaldo.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ow_accidente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calendar-check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Programa de gestión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Planifica las actividades preventivas del período y controla su cumplimiento.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programa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users-three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Comité Paritario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Digitaliza actas, reuniones y acuerdos del comité paritario, con respaldo.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VESTIDO_documen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837086"/>
            <a:ext cx="5660136" cy="318382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wrench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Insumos y Maquinaria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Controla el inventario de insumos y el historial documental de maquinarias.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insumo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azki-wordmark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31520"/>
            <a:ext cx="2194560" cy="8072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8288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M Sans"/>
                <a:cs typeface="DM Sans"/>
              </a:rPr>
              <a:t>Pongamos tu prevención</a:t>
            </a:r>
          </a:p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M Sans"/>
                <a:cs typeface="DM Sans"/>
              </a:rPr>
              <a:t>al día, hoy.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9476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A2D6F9"/>
                </a:solidFill>
                <a:latin typeface="DM Sans"/>
                <a:cs typeface="DM Sans"/>
              </a:rPr>
              <a:t>28.423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57200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CBD6EC"/>
                </a:solidFill>
                <a:latin typeface="DM Sans"/>
                <a:cs typeface="DM Sans"/>
              </a:rPr>
              <a:t>horas hombre devueltas a terreno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379476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A2D6F9"/>
                </a:solidFill>
                <a:latin typeface="DM Sans"/>
                <a:cs typeface="DM Sans"/>
              </a:rPr>
              <a:t>210.393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53128" y="457200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CBD6EC"/>
                </a:solidFill>
                <a:latin typeface="DM Sans"/>
                <a:cs typeface="DM Sans"/>
              </a:rPr>
              <a:t>EPP entregados con firma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379476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A2D6F9"/>
                </a:solidFill>
                <a:latin typeface="DM Sans"/>
                <a:cs typeface="DM Sans"/>
              </a:rPr>
              <a:t>+150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5008" y="457200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CBD6EC"/>
                </a:solidFill>
                <a:latin typeface="DM Sans"/>
                <a:cs typeface="DM Sans"/>
              </a:rPr>
              <a:t>empresas confían en Tazki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577840"/>
            <a:ext cx="2286000" cy="713232"/>
          </a:xfrm>
          <a:prstGeom prst="roundRect">
            <a:avLst>
              <a:gd name="adj" fmla="val 50000"/>
            </a:avLst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577840"/>
            <a:ext cx="2286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600" b="1">
                <a:solidFill>
                  <a:srgbClr val="FFFFFF"/>
                </a:solidFill>
                <a:latin typeface="DM Sans"/>
                <a:cs typeface="DM Sans"/>
              </a:rPr>
              <a:t>Conversemos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5577840"/>
            <a:ext cx="5486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700" b="0">
                <a:solidFill>
                  <a:srgbClr val="A2D6F9"/>
                </a:solidFill>
                <a:latin typeface="DM Sans"/>
                <a:cs typeface="DM Sans"/>
              </a:rPr>
              <a:t>tazki.cl/contactanos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