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7" r:id="rId29"/>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Portada · ICP ENTERPRISE CONTROLADO. Foco: Centralizar la red y blindar Ley Karin. Hero reemplazable.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Prueba social al inicio: logos reales de clientes de este ICP. Editable.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dolores principales (situaciones frecuentes, no diagnóstico cerrado). Imagen y copy editables.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Ventajas: cómo ayuda el software. La 4a card se adapta al foco del ICP.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Transición a los módulos.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Inducciones.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Hallazgos.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Capacitaciones.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Inspecciones.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Contratistas.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EPP.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ART / AST.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MIPER.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Investigación de accidentes.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Programa de gestión.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Comité Paritario. [Clave para este ICP]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Insumos y Maquinaria.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contexto y desafío.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solución.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resultados.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Cierre/CTA.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5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 Id="rId7" Type="http://schemas.openxmlformats.org/officeDocument/2006/relationships/image" Target="../media/image58.png"/><Relationship Id="rId8" Type="http://schemas.openxmlformats.org/officeDocument/2006/relationships/image" Target="../media/image59.png"/><Relationship Id="rId9" Type="http://schemas.openxmlformats.org/officeDocument/2006/relationships/image" Target="../media/image60.png"/><Relationship Id="rId10" Type="http://schemas.openxmlformats.org/officeDocument/2006/relationships/image" Target="../media/image61.png"/><Relationship Id="rId11" Type="http://schemas.openxmlformats.org/officeDocument/2006/relationships/image" Target="../media/image62.png"/><Relationship Id="rId12" Type="http://schemas.openxmlformats.org/officeDocument/2006/relationships/image" Target="../media/image63.png"/><Relationship Id="rId13" Type="http://schemas.openxmlformats.org/officeDocument/2006/relationships/image" Target="../media/image64.png"/><Relationship Id="rId14" Type="http://schemas.openxmlformats.org/officeDocument/2006/relationships/image" Target="../media/image65.png"/><Relationship Id="rId15" Type="http://schemas.openxmlformats.org/officeDocument/2006/relationships/image" Target="../media/image66.png"/><Relationship Id="rId16" Type="http://schemas.openxmlformats.org/officeDocument/2006/relationships/image" Target="../media/image67.png"/><Relationship Id="rId17" Type="http://schemas.openxmlformats.org/officeDocument/2006/relationships/image" Target="../media/image68.png"/><Relationship Id="rId18" Type="http://schemas.openxmlformats.org/officeDocument/2006/relationships/image" Target="../media/image69.png"/><Relationship Id="rId19" Type="http://schemas.openxmlformats.org/officeDocument/2006/relationships/image" Target="../media/image70.png"/><Relationship Id="rId20" Type="http://schemas.openxmlformats.org/officeDocument/2006/relationships/image" Target="../media/image71.png"/><Relationship Id="rId21" Type="http://schemas.openxmlformats.org/officeDocument/2006/relationships/image" Target="../media/image72.png"/><Relationship Id="rId22" Type="http://schemas.openxmlformats.org/officeDocument/2006/relationships/image" Target="../media/image73.png"/><Relationship Id="rId23" Type="http://schemas.openxmlformats.org/officeDocument/2006/relationships/image" Target="../media/image74.png"/><Relationship Id="rId24" Type="http://schemas.openxmlformats.org/officeDocument/2006/relationships/image" Target="../media/image75.png"/><Relationship Id="rId25" Type="http://schemas.openxmlformats.org/officeDocument/2006/relationships/image" Target="../media/image76.png"/><Relationship Id="rId26" Type="http://schemas.openxmlformats.org/officeDocument/2006/relationships/image" Target="../media/image77.png"/><Relationship Id="rId27" Type="http://schemas.openxmlformats.org/officeDocument/2006/relationships/image" Target="../media/image78.png"/><Relationship Id="rId28" Type="http://schemas.openxmlformats.org/officeDocument/2006/relationships/image" Target="../media/image79.png"/><Relationship Id="rId29" Type="http://schemas.openxmlformats.org/officeDocument/2006/relationships/image" Target="../media/image80.png"/><Relationship Id="rId30" Type="http://schemas.openxmlformats.org/officeDocument/2006/relationships/image" Target="../media/image81.png"/><Relationship Id="rId31" Type="http://schemas.openxmlformats.org/officeDocument/2006/relationships/image" Target="../media/image8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gif"/><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gif"/><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gif"/><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gif"/><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gif"/><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gif"/><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gif"/><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gif"/><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gif"/><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9" name="Picture 8" descr="30_industrial_office_presentation_in_progress.jpeg"/>
          <p:cNvPicPr>
            <a:picLocks noChangeAspect="1"/>
          </p:cNvPicPr>
          <p:nvPr/>
        </p:nvPicPr>
        <p:blipFill>
          <a:blip r:embed="rId5"/>
          <a:srcRect l="1" r="1"/>
          <a:stretch>
            <a:fillRect/>
          </a:stretch>
        </p:blipFill>
        <p:spPr>
          <a:xfrm>
            <a:off x="0" y="0"/>
            <a:ext cx="12191695" cy="6858000"/>
          </a:xfrm>
          <a:prstGeom prst="rect">
            <a:avLst/>
          </a:prstGeom>
        </p:spPr>
      </p:pic>
      <p:sp>
        <p:nvSpPr>
          <p:cNvPr id="10" name="Rectangle 9"/>
          <p:cNvSpPr/>
          <p:nvPr/>
        </p:nvSpPr>
        <p:spPr>
          <a:xfrm>
            <a:off x="0" y="0"/>
            <a:ext cx="12191695" cy="6858000"/>
          </a:xfrm>
          <a:prstGeom prst="rect">
            <a:avLst/>
          </a:prstGeom>
          <a:solidFill>
            <a:srgbClr val="0C1E50">
              <a:alpha val="3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azki-wordmark-blanco.png"/>
          <p:cNvPicPr>
            <a:picLocks noChangeAspect="1"/>
          </p:cNvPicPr>
          <p:nvPr/>
        </p:nvPicPr>
        <p:blipFill>
          <a:blip r:embed="rId3"/>
          <a:stretch>
            <a:fillRect/>
          </a:stretch>
        </p:blipFill>
        <p:spPr>
          <a:xfrm>
            <a:off x="822960" y="640080"/>
            <a:ext cx="2377440" cy="874558"/>
          </a:xfrm>
          <a:prstGeom prst="rect">
            <a:avLst/>
          </a:prstGeom>
        </p:spPr>
      </p:pic>
      <p:sp>
        <p:nvSpPr>
          <p:cNvPr id="4" name="TextBox 3"/>
          <p:cNvSpPr txBox="1"/>
          <p:nvPr/>
        </p:nvSpPr>
        <p:spPr>
          <a:xfrm>
            <a:off x="822960" y="2697480"/>
            <a:ext cx="7589520" cy="1828800"/>
          </a:xfrm>
          <a:prstGeom prst="rect">
            <a:avLst/>
          </a:prstGeom>
          <a:noFill/>
        </p:spPr>
        <p:txBody>
          <a:bodyPr wrap="square" anchor="t" lIns="0" rIns="0" tIns="0" bIns="0">
            <a:spAutoFit/>
          </a:bodyPr>
          <a:lstStyle/>
          <a:p>
            <a:pPr algn="l">
              <a:lnSpc>
                <a:spcPct val="102000"/>
              </a:lnSpc>
            </a:pPr>
            <a:r>
              <a:rPr sz="3700" b="1">
                <a:solidFill>
                  <a:srgbClr val="FFFFFF"/>
                </a:solidFill>
                <a:latin typeface="DM Sans"/>
                <a:cs typeface="DM Sans"/>
              </a:rPr>
              <a:t>Centraliza la prevención</a:t>
            </a:r>
          </a:p>
          <a:p>
            <a:pPr algn="l">
              <a:lnSpc>
                <a:spcPct val="102000"/>
              </a:lnSpc>
            </a:pPr>
            <a:r>
              <a:rPr sz="3700" b="1">
                <a:solidFill>
                  <a:srgbClr val="FFFFFF"/>
                </a:solidFill>
                <a:latin typeface="DM Sans"/>
                <a:cs typeface="DM Sans"/>
              </a:rPr>
              <a:t>de toda tu red.</a:t>
            </a:r>
          </a:p>
        </p:txBody>
      </p:sp>
      <p:sp>
        <p:nvSpPr>
          <p:cNvPr id="5" name="TextBox 4"/>
          <p:cNvSpPr txBox="1"/>
          <p:nvPr/>
        </p:nvSpPr>
        <p:spPr>
          <a:xfrm>
            <a:off x="841248" y="4160520"/>
            <a:ext cx="7040880" cy="914400"/>
          </a:xfrm>
          <a:prstGeom prst="rect">
            <a:avLst/>
          </a:prstGeom>
          <a:noFill/>
        </p:spPr>
        <p:txBody>
          <a:bodyPr wrap="square" anchor="t" lIns="0" rIns="0" tIns="0" bIns="0">
            <a:spAutoFit/>
          </a:bodyPr>
          <a:lstStyle/>
          <a:p>
            <a:pPr algn="l">
              <a:lnSpc>
                <a:spcPct val="116000"/>
              </a:lnSpc>
            </a:pPr>
            <a:r>
              <a:rPr sz="1500" b="0">
                <a:solidFill>
                  <a:srgbClr val="DDE6F5"/>
                </a:solidFill>
                <a:latin typeface="DM Sans"/>
                <a:cs typeface="DM Sans"/>
              </a:rPr>
              <a:t>Control en tiempo real sobre una red distribuida: inspecciones, hallazgos y normativa administrativa, todo en una sola plataforma.</a:t>
            </a:r>
          </a:p>
        </p:txBody>
      </p:sp>
      <p:sp>
        <p:nvSpPr>
          <p:cNvPr id="6" name="Rectangle 5"/>
          <p:cNvSpPr/>
          <p:nvPr/>
        </p:nvSpPr>
        <p:spPr>
          <a:xfrm>
            <a:off x="0" y="6245352"/>
            <a:ext cx="12191695" cy="612648"/>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245352"/>
            <a:ext cx="7315200" cy="612648"/>
          </a:xfrm>
          <a:prstGeom prst="rect">
            <a:avLst/>
          </a:prstGeom>
          <a:noFill/>
        </p:spPr>
        <p:txBody>
          <a:bodyPr wrap="square" anchor="ctr" lIns="0" rIns="0" tIns="0" bIns="0">
            <a:spAutoFit/>
          </a:bodyPr>
          <a:lstStyle/>
          <a:p>
            <a:pPr algn="l">
              <a:lnSpc>
                <a:spcPct val="106000"/>
              </a:lnSpc>
            </a:pPr>
            <a:r>
              <a:rPr sz="1500" b="1">
                <a:solidFill>
                  <a:srgbClr val="FFFFFF"/>
                </a:solidFill>
                <a:latin typeface="DM Sans"/>
                <a:cs typeface="DM Sans"/>
              </a:rPr>
              <a:t>+150 empresas confían en Tazki</a:t>
            </a:r>
          </a:p>
        </p:txBody>
      </p:sp>
      <p:sp>
        <p:nvSpPr>
          <p:cNvPr id="8" name="TextBox 7"/>
          <p:cNvSpPr txBox="1"/>
          <p:nvPr/>
        </p:nvSpPr>
        <p:spPr>
          <a:xfrm>
            <a:off x="7680960" y="6245352"/>
            <a:ext cx="3703320" cy="612648"/>
          </a:xfrm>
          <a:prstGeom prst="rect">
            <a:avLst/>
          </a:prstGeom>
          <a:noFill/>
        </p:spPr>
        <p:txBody>
          <a:bodyPr wrap="square" anchor="ctr" lIns="0" rIns="0" tIns="0" bIns="0">
            <a:spAutoFit/>
          </a:bodyPr>
          <a:lstStyle/>
          <a:p>
            <a:pPr algn="r">
              <a:lnSpc>
                <a:spcPct val="106000"/>
              </a:lnSpc>
            </a:pPr>
            <a:r>
              <a:rPr sz="1200" b="0">
                <a:solidFill>
                  <a:srgbClr val="CFE0FA"/>
                </a:solidFill>
                <a:latin typeface="DM Sans"/>
                <a:cs typeface="DM Sans"/>
              </a:rPr>
              <a:t>Retail · Banca · Servicios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 y="6784848"/>
            <a:ext cx="274320" cy="54864"/>
          </a:xfrm>
          <a:prstGeom prst="rect">
            <a:avLst/>
          </a:prstGeom>
          <a:noFill/>
        </p:spPr>
        <p:txBody>
          <a:bodyPr wrap="square" lIns="0" rIns="0" tIns="0" bIns="0">
            <a:spAutoFit/>
          </a:bodyPr>
          <a:lstStyle/>
          <a:p>
            <a:pPr>
              <a:lnSpc>
                <a:spcPct val="115000"/>
              </a:lnSpc>
            </a:pPr>
            <a:r>
              <a:rPr sz="100" b="0">
                <a:solidFill>
                  <a:srgbClr val="FFFFFF"/>
                </a:solidFill>
                <a:latin typeface="DM Sans"/>
              </a:rPr>
              <a:t>​</a:t>
            </a:r>
          </a:p>
        </p:txBody>
      </p:sp>
      <p:pic>
        <p:nvPicPr>
          <p:cNvPr id="3" name="Picture 2" descr="industrial_safety_briefing_in_progress.jpeg"/>
          <p:cNvPicPr>
            <a:picLocks noChangeAspect="1"/>
          </p:cNvPicPr>
          <p:nvPr/>
        </p:nvPicPr>
        <p:blipFill>
          <a:blip r:embed="rId2"/>
          <a:srcRect t="27499" b="27499"/>
          <a:stretch>
            <a:fillRect/>
          </a:stretch>
        </p:blipFill>
        <p:spPr>
          <a:xfrm>
            <a:off x="0" y="0"/>
            <a:ext cx="12191695" cy="6858000"/>
          </a:xfrm>
          <a:prstGeom prst="rect">
            <a:avLst/>
          </a:prstGeom>
        </p:spPr>
      </p:pic>
      <p:sp>
        <p:nvSpPr>
          <p:cNvPr id="4" name="Rectangle 3"/>
          <p:cNvSpPr/>
          <p:nvPr/>
        </p:nvSpPr>
        <p:spPr>
          <a:xfrm>
            <a:off x="0" y="0"/>
            <a:ext cx="12191695" cy="6858000"/>
          </a:xfrm>
          <a:prstGeom prst="rect">
            <a:avLst/>
          </a:prstGeom>
          <a:solidFill>
            <a:srgbClr val="0C1E50">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6766560" cy="6858000"/>
          </a:xfrm>
          <a:prstGeom prst="rect">
            <a:avLst/>
          </a:prstGeom>
          <a:solidFill>
            <a:srgbClr val="0C1E5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4088" y="640080"/>
            <a:ext cx="329184" cy="32004"/>
          </a:xfrm>
          <a:prstGeom prst="rect">
            <a:avLst/>
          </a:prstGeom>
          <a:solidFill>
            <a:srgbClr val="7FB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548640"/>
            <a:ext cx="5486400" cy="274320"/>
          </a:xfrm>
          <a:prstGeom prst="rect">
            <a:avLst/>
          </a:prstGeom>
          <a:noFill/>
        </p:spPr>
        <p:txBody>
          <a:bodyPr wrap="square" lIns="0" rIns="0" tIns="0" bIns="0">
            <a:spAutoFit/>
          </a:bodyPr>
          <a:lstStyle/>
          <a:p>
            <a:pPr>
              <a:lnSpc>
                <a:spcPct val="115000"/>
              </a:lnSpc>
            </a:pPr>
            <a:r>
              <a:rPr sz="1300" b="1">
                <a:solidFill>
                  <a:srgbClr val="7FB2FF"/>
                </a:solidFill>
                <a:latin typeface="DM Sans"/>
              </a:rPr>
              <a:t>EL CONTEXTO</a:t>
            </a:r>
          </a:p>
        </p:txBody>
      </p:sp>
      <p:sp>
        <p:nvSpPr>
          <p:cNvPr id="8" name="TextBox 7"/>
          <p:cNvSpPr txBox="1"/>
          <p:nvPr/>
        </p:nvSpPr>
        <p:spPr>
          <a:xfrm>
            <a:off x="704088" y="932688"/>
            <a:ext cx="6400800" cy="2194560"/>
          </a:xfrm>
          <a:prstGeom prst="rect">
            <a:avLst/>
          </a:prstGeom>
          <a:noFill/>
        </p:spPr>
        <p:txBody>
          <a:bodyPr wrap="square" lIns="0" rIns="0" tIns="0" bIns="0">
            <a:spAutoFit/>
          </a:bodyPr>
          <a:lstStyle/>
          <a:p>
            <a:pPr>
              <a:lnSpc>
                <a:spcPct val="102000"/>
              </a:lnSpc>
            </a:pPr>
            <a:r>
              <a:rPr sz="5400" b="1">
                <a:solidFill>
                  <a:srgbClr val="FFFFFF"/>
                </a:solidFill>
                <a:latin typeface="DM Sans"/>
              </a:rPr>
              <a:t>Ya no basta</a:t>
            </a:r>
          </a:p>
          <a:p>
            <a:pPr>
              <a:lnSpc>
                <a:spcPct val="102000"/>
              </a:lnSpc>
            </a:pPr>
            <a:r>
              <a:rPr sz="5400" b="1">
                <a:solidFill>
                  <a:srgbClr val="FFFFFF"/>
                </a:solidFill>
                <a:latin typeface="DM Sans"/>
              </a:rPr>
              <a:t>con tener</a:t>
            </a:r>
          </a:p>
          <a:p>
            <a:pPr>
              <a:lnSpc>
                <a:spcPct val="102000"/>
              </a:lnSpc>
            </a:pPr>
            <a:r>
              <a:rPr sz="5400" b="1">
                <a:solidFill>
                  <a:srgbClr val="FFFFFF"/>
                </a:solidFill>
                <a:latin typeface="DM Sans"/>
              </a:rPr>
              <a:t>los papeles.</a:t>
            </a:r>
          </a:p>
        </p:txBody>
      </p:sp>
      <p:sp>
        <p:nvSpPr>
          <p:cNvPr id="9" name="TextBox 8"/>
          <p:cNvSpPr txBox="1"/>
          <p:nvPr/>
        </p:nvSpPr>
        <p:spPr>
          <a:xfrm>
            <a:off x="731520" y="3127248"/>
            <a:ext cx="5394960" cy="914400"/>
          </a:xfrm>
          <a:prstGeom prst="rect">
            <a:avLst/>
          </a:prstGeom>
          <a:noFill/>
        </p:spPr>
        <p:txBody>
          <a:bodyPr wrap="square" lIns="0" rIns="0" tIns="0" bIns="0">
            <a:spAutoFit/>
          </a:bodyPr>
          <a:lstStyle/>
          <a:p>
            <a:pPr>
              <a:lnSpc>
                <a:spcPct val="142000"/>
              </a:lnSpc>
            </a:pPr>
            <a:r>
              <a:rPr sz="1550" b="0">
                <a:solidFill>
                  <a:srgbClr val="C9D3EA"/>
                </a:solidFill>
                <a:latin typeface="DM Sans"/>
              </a:rPr>
              <a:t>El DS 44 cambió la regla: desde 2025 la prevención dejó de medirse por documentos archivados y pasó a medirse por gestión demostrable.</a:t>
            </a:r>
          </a:p>
        </p:txBody>
      </p:sp>
      <p:sp>
        <p:nvSpPr>
          <p:cNvPr id="10" name="Rectangle 9"/>
          <p:cNvSpPr/>
          <p:nvPr/>
        </p:nvSpPr>
        <p:spPr>
          <a:xfrm>
            <a:off x="704088" y="4315968"/>
            <a:ext cx="3246120" cy="36576"/>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4462272"/>
            <a:ext cx="3200400" cy="228600"/>
          </a:xfrm>
          <a:prstGeom prst="rect">
            <a:avLst/>
          </a:prstGeom>
          <a:noFill/>
        </p:spPr>
        <p:txBody>
          <a:bodyPr wrap="square" lIns="0" rIns="0" tIns="0" bIns="0">
            <a:spAutoFit/>
          </a:bodyPr>
          <a:lstStyle/>
          <a:p>
            <a:pPr>
              <a:lnSpc>
                <a:spcPct val="115000"/>
              </a:lnSpc>
            </a:pPr>
            <a:r>
              <a:rPr sz="1300" b="1">
                <a:solidFill>
                  <a:srgbClr val="7FB2FF"/>
                </a:solidFill>
                <a:latin typeface="DM Sans"/>
              </a:rPr>
              <a:t>01</a:t>
            </a:r>
          </a:p>
        </p:txBody>
      </p:sp>
      <p:sp>
        <p:nvSpPr>
          <p:cNvPr id="12" name="TextBox 11"/>
          <p:cNvSpPr txBox="1"/>
          <p:nvPr/>
        </p:nvSpPr>
        <p:spPr>
          <a:xfrm>
            <a:off x="704088" y="4736592"/>
            <a:ext cx="3200400" cy="548640"/>
          </a:xfrm>
          <a:prstGeom prst="rect">
            <a:avLst/>
          </a:prstGeom>
          <a:noFill/>
        </p:spPr>
        <p:txBody>
          <a:bodyPr wrap="square" lIns="0" rIns="0" tIns="0" bIns="0">
            <a:spAutoFit/>
          </a:bodyPr>
          <a:lstStyle/>
          <a:p>
            <a:pPr>
              <a:lnSpc>
                <a:spcPct val="112000"/>
              </a:lnSpc>
            </a:pPr>
            <a:r>
              <a:rPr sz="1800" b="1">
                <a:solidFill>
                  <a:srgbClr val="FFFFFF"/>
                </a:solidFill>
                <a:latin typeface="DM Sans"/>
              </a:rPr>
              <a:t>La ODI se convirtió en IRL</a:t>
            </a:r>
          </a:p>
        </p:txBody>
      </p:sp>
      <p:sp>
        <p:nvSpPr>
          <p:cNvPr id="13" name="TextBox 12"/>
          <p:cNvSpPr txBox="1"/>
          <p:nvPr/>
        </p:nvSpPr>
        <p:spPr>
          <a:xfrm>
            <a:off x="704088" y="5230368"/>
            <a:ext cx="3200400" cy="914400"/>
          </a:xfrm>
          <a:prstGeom prst="rect">
            <a:avLst/>
          </a:prstGeom>
          <a:noFill/>
        </p:spPr>
        <p:txBody>
          <a:bodyPr wrap="square" lIns="0" rIns="0" tIns="0" bIns="0">
            <a:spAutoFit/>
          </a:bodyPr>
          <a:lstStyle/>
          <a:p>
            <a:pPr>
              <a:lnSpc>
                <a:spcPct val="136000"/>
              </a:lnSpc>
            </a:pPr>
            <a:r>
              <a:rPr sz="1150" b="0">
                <a:solidFill>
                  <a:srgbClr val="C9D3EA"/>
                </a:solidFill>
                <a:latin typeface="DM Sans"/>
              </a:rPr>
              <a:t>Informar los riesgos de cada puesto, con firma de quien los conoció, y actualizarlos cuando la tarea cambia.</a:t>
            </a:r>
          </a:p>
        </p:txBody>
      </p:sp>
      <p:sp>
        <p:nvSpPr>
          <p:cNvPr id="14" name="Rectangle 13"/>
          <p:cNvSpPr/>
          <p:nvPr/>
        </p:nvSpPr>
        <p:spPr>
          <a:xfrm>
            <a:off x="4361688" y="4315968"/>
            <a:ext cx="3246120" cy="36576"/>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61688" y="4462272"/>
            <a:ext cx="3200400" cy="228600"/>
          </a:xfrm>
          <a:prstGeom prst="rect">
            <a:avLst/>
          </a:prstGeom>
          <a:noFill/>
        </p:spPr>
        <p:txBody>
          <a:bodyPr wrap="square" lIns="0" rIns="0" tIns="0" bIns="0">
            <a:spAutoFit/>
          </a:bodyPr>
          <a:lstStyle/>
          <a:p>
            <a:pPr>
              <a:lnSpc>
                <a:spcPct val="115000"/>
              </a:lnSpc>
            </a:pPr>
            <a:r>
              <a:rPr sz="1300" b="1">
                <a:solidFill>
                  <a:srgbClr val="7FB2FF"/>
                </a:solidFill>
                <a:latin typeface="DM Sans"/>
              </a:rPr>
              <a:t>02</a:t>
            </a:r>
          </a:p>
        </p:txBody>
      </p:sp>
      <p:sp>
        <p:nvSpPr>
          <p:cNvPr id="16" name="TextBox 15"/>
          <p:cNvSpPr txBox="1"/>
          <p:nvPr/>
        </p:nvSpPr>
        <p:spPr>
          <a:xfrm>
            <a:off x="4361688" y="4736592"/>
            <a:ext cx="3200400" cy="548640"/>
          </a:xfrm>
          <a:prstGeom prst="rect">
            <a:avLst/>
          </a:prstGeom>
          <a:noFill/>
        </p:spPr>
        <p:txBody>
          <a:bodyPr wrap="square" lIns="0" rIns="0" tIns="0" bIns="0">
            <a:spAutoFit/>
          </a:bodyPr>
          <a:lstStyle/>
          <a:p>
            <a:pPr>
              <a:lnSpc>
                <a:spcPct val="112000"/>
              </a:lnSpc>
            </a:pPr>
            <a:r>
              <a:rPr sz="1800" b="1">
                <a:solidFill>
                  <a:srgbClr val="FFFFFF"/>
                </a:solidFill>
                <a:latin typeface="DM Sans"/>
              </a:rPr>
              <a:t>La MIPER manda el programa</a:t>
            </a:r>
          </a:p>
        </p:txBody>
      </p:sp>
      <p:sp>
        <p:nvSpPr>
          <p:cNvPr id="17" name="TextBox 16"/>
          <p:cNvSpPr txBox="1"/>
          <p:nvPr/>
        </p:nvSpPr>
        <p:spPr>
          <a:xfrm>
            <a:off x="4361688" y="5230368"/>
            <a:ext cx="3200400" cy="914400"/>
          </a:xfrm>
          <a:prstGeom prst="rect">
            <a:avLst/>
          </a:prstGeom>
          <a:noFill/>
        </p:spPr>
        <p:txBody>
          <a:bodyPr wrap="square" lIns="0" rIns="0" tIns="0" bIns="0">
            <a:spAutoFit/>
          </a:bodyPr>
          <a:lstStyle/>
          <a:p>
            <a:pPr>
              <a:lnSpc>
                <a:spcPct val="136000"/>
              </a:lnSpc>
            </a:pPr>
            <a:r>
              <a:rPr sz="1150" b="0">
                <a:solidFill>
                  <a:srgbClr val="C9D3EA"/>
                </a:solidFill>
                <a:latin typeface="DM Sans"/>
              </a:rPr>
              <a:t>La matriz define el programa preventivo, y ese programa vence a los 30 días de actualizar la matriz.</a:t>
            </a:r>
          </a:p>
        </p:txBody>
      </p:sp>
      <p:sp>
        <p:nvSpPr>
          <p:cNvPr id="18" name="Rectangle 17"/>
          <p:cNvSpPr/>
          <p:nvPr/>
        </p:nvSpPr>
        <p:spPr>
          <a:xfrm>
            <a:off x="8019288" y="4315968"/>
            <a:ext cx="3246120" cy="36576"/>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19288" y="4462272"/>
            <a:ext cx="3200400" cy="228600"/>
          </a:xfrm>
          <a:prstGeom prst="rect">
            <a:avLst/>
          </a:prstGeom>
          <a:noFill/>
        </p:spPr>
        <p:txBody>
          <a:bodyPr wrap="square" lIns="0" rIns="0" tIns="0" bIns="0">
            <a:spAutoFit/>
          </a:bodyPr>
          <a:lstStyle/>
          <a:p>
            <a:pPr>
              <a:lnSpc>
                <a:spcPct val="115000"/>
              </a:lnSpc>
            </a:pPr>
            <a:r>
              <a:rPr sz="1300" b="1">
                <a:solidFill>
                  <a:srgbClr val="7FB2FF"/>
                </a:solidFill>
                <a:latin typeface="DM Sans"/>
              </a:rPr>
              <a:t>03</a:t>
            </a:r>
          </a:p>
        </p:txBody>
      </p:sp>
      <p:sp>
        <p:nvSpPr>
          <p:cNvPr id="20" name="TextBox 19"/>
          <p:cNvSpPr txBox="1"/>
          <p:nvPr/>
        </p:nvSpPr>
        <p:spPr>
          <a:xfrm>
            <a:off x="8019288" y="4736592"/>
            <a:ext cx="3200400" cy="548640"/>
          </a:xfrm>
          <a:prstGeom prst="rect">
            <a:avLst/>
          </a:prstGeom>
          <a:noFill/>
        </p:spPr>
        <p:txBody>
          <a:bodyPr wrap="square" lIns="0" rIns="0" tIns="0" bIns="0">
            <a:spAutoFit/>
          </a:bodyPr>
          <a:lstStyle/>
          <a:p>
            <a:pPr>
              <a:lnSpc>
                <a:spcPct val="112000"/>
              </a:lnSpc>
            </a:pPr>
            <a:r>
              <a:rPr sz="1800" b="1">
                <a:solidFill>
                  <a:srgbClr val="FFFFFF"/>
                </a:solidFill>
                <a:latin typeface="DM Sans"/>
              </a:rPr>
              <a:t>Se fiscaliza la evidencia</a:t>
            </a:r>
          </a:p>
        </p:txBody>
      </p:sp>
      <p:sp>
        <p:nvSpPr>
          <p:cNvPr id="21" name="TextBox 20"/>
          <p:cNvSpPr txBox="1"/>
          <p:nvPr/>
        </p:nvSpPr>
        <p:spPr>
          <a:xfrm>
            <a:off x="8019288" y="5230368"/>
            <a:ext cx="3200400" cy="914400"/>
          </a:xfrm>
          <a:prstGeom prst="rect">
            <a:avLst/>
          </a:prstGeom>
          <a:noFill/>
        </p:spPr>
        <p:txBody>
          <a:bodyPr wrap="square" lIns="0" rIns="0" tIns="0" bIns="0">
            <a:spAutoFit/>
          </a:bodyPr>
          <a:lstStyle/>
          <a:p>
            <a:pPr>
              <a:lnSpc>
                <a:spcPct val="136000"/>
              </a:lnSpc>
            </a:pPr>
            <a:r>
              <a:rPr sz="1150" b="0">
                <a:solidFill>
                  <a:srgbClr val="C9D3EA"/>
                </a:solidFill>
                <a:latin typeface="DM Sans"/>
              </a:rPr>
              <a:t>El FUF no revisa si el documento existe: revisa fecha, responsable, firma y seguimiento.</a:t>
            </a:r>
          </a:p>
        </p:txBody>
      </p:sp>
      <p:sp>
        <p:nvSpPr>
          <p:cNvPr id="22" name="Rectangle 21"/>
          <p:cNvSpPr/>
          <p:nvPr/>
        </p:nvSpPr>
        <p:spPr>
          <a:xfrm>
            <a:off x="0" y="6263640"/>
            <a:ext cx="12191695" cy="594360"/>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6428232"/>
            <a:ext cx="10789920" cy="320040"/>
          </a:xfrm>
          <a:prstGeom prst="rect">
            <a:avLst/>
          </a:prstGeom>
          <a:noFill/>
        </p:spPr>
        <p:txBody>
          <a:bodyPr wrap="square" lIns="0" rIns="0" tIns="0" bIns="0">
            <a:spAutoFit/>
          </a:bodyPr>
          <a:lstStyle/>
          <a:p>
            <a:pPr>
              <a:lnSpc>
                <a:spcPct val="115000"/>
              </a:lnSpc>
            </a:pPr>
            <a:r>
              <a:rPr sz="1500" b="1">
                <a:solidFill>
                  <a:srgbClr val="FFFFFF"/>
                </a:solidFill>
                <a:latin typeface="DM Sans"/>
              </a:rPr>
              <a:t>Tazki es donde esa gestión queda registrada, al día y lista para mostrar.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 y="6784848"/>
            <a:ext cx="274320" cy="54864"/>
          </a:xfrm>
          <a:prstGeom prst="rect">
            <a:avLst/>
          </a:prstGeom>
          <a:noFill/>
        </p:spPr>
        <p:txBody>
          <a:bodyPr wrap="square" lIns="0" rIns="0" tIns="0" bIns="0">
            <a:spAutoFit/>
          </a:bodyPr>
          <a:lstStyle/>
          <a:p>
            <a:pPr>
              <a:lnSpc>
                <a:spcPct val="115000"/>
              </a:lnSpc>
            </a:pPr>
            <a:r>
              <a:rPr sz="100" b="0">
                <a:solidFill>
                  <a:srgbClr val="FFFFFF"/>
                </a:solidFill>
                <a:latin typeface="DM Sans"/>
              </a:rPr>
              <a:t>​</a:t>
            </a: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46304" cy="6858000"/>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4088" y="566928"/>
            <a:ext cx="10515600" cy="457200"/>
          </a:xfrm>
          <a:prstGeom prst="rect">
            <a:avLst/>
          </a:prstGeom>
          <a:noFill/>
        </p:spPr>
        <p:txBody>
          <a:bodyPr wrap="square" lIns="0" rIns="0" tIns="0" bIns="0">
            <a:spAutoFit/>
          </a:bodyPr>
          <a:lstStyle/>
          <a:p>
            <a:pPr>
              <a:lnSpc>
                <a:spcPct val="115000"/>
              </a:lnSpc>
            </a:pPr>
            <a:r>
              <a:rPr sz="3100" b="1">
                <a:solidFill>
                  <a:srgbClr val="0C1E50"/>
                </a:solidFill>
                <a:latin typeface="DM Sans"/>
              </a:rPr>
              <a:t>Empresas que ya confían en Tazki</a:t>
            </a:r>
          </a:p>
        </p:txBody>
      </p:sp>
      <p:sp>
        <p:nvSpPr>
          <p:cNvPr id="6" name="TextBox 5"/>
          <p:cNvSpPr txBox="1"/>
          <p:nvPr/>
        </p:nvSpPr>
        <p:spPr>
          <a:xfrm>
            <a:off x="722376" y="1133856"/>
            <a:ext cx="10058400" cy="320040"/>
          </a:xfrm>
          <a:prstGeom prst="rect">
            <a:avLst/>
          </a:prstGeom>
          <a:noFill/>
        </p:spPr>
        <p:txBody>
          <a:bodyPr wrap="square" lIns="0" rIns="0" tIns="0" bIns="0">
            <a:spAutoFit/>
          </a:bodyPr>
          <a:lstStyle/>
          <a:p>
            <a:pPr>
              <a:lnSpc>
                <a:spcPct val="115000"/>
              </a:lnSpc>
            </a:pPr>
            <a:r>
              <a:rPr sz="1400" b="0">
                <a:solidFill>
                  <a:srgbClr val="5B6472"/>
                </a:solidFill>
                <a:latin typeface="DM Sans"/>
              </a:rPr>
              <a:t>Operaciones multisitio · 28 de las +150 que ya digitalizaron su prevención.</a:t>
            </a:r>
          </a:p>
        </p:txBody>
      </p:sp>
      <p:pic>
        <p:nvPicPr>
          <p:cNvPr id="7" name="Picture 6" descr="1.png"/>
          <p:cNvPicPr>
            <a:picLocks noChangeAspect="1"/>
          </p:cNvPicPr>
          <p:nvPr/>
        </p:nvPicPr>
        <p:blipFill>
          <a:blip r:embed="rId4"/>
          <a:stretch>
            <a:fillRect/>
          </a:stretch>
        </p:blipFill>
        <p:spPr>
          <a:xfrm>
            <a:off x="711241" y="1922089"/>
            <a:ext cx="1416466" cy="1047861"/>
          </a:xfrm>
          <a:prstGeom prst="rect">
            <a:avLst/>
          </a:prstGeom>
        </p:spPr>
      </p:pic>
      <p:pic>
        <p:nvPicPr>
          <p:cNvPr id="8" name="Picture 7" descr="2.png"/>
          <p:cNvPicPr>
            <a:picLocks noChangeAspect="1"/>
          </p:cNvPicPr>
          <p:nvPr/>
        </p:nvPicPr>
        <p:blipFill>
          <a:blip r:embed="rId5"/>
          <a:stretch>
            <a:fillRect/>
          </a:stretch>
        </p:blipFill>
        <p:spPr>
          <a:xfrm>
            <a:off x="2270032" y="1922089"/>
            <a:ext cx="1416466" cy="1047861"/>
          </a:xfrm>
          <a:prstGeom prst="rect">
            <a:avLst/>
          </a:prstGeom>
        </p:spPr>
      </p:pic>
      <p:pic>
        <p:nvPicPr>
          <p:cNvPr id="9" name="Picture 8" descr="3.png"/>
          <p:cNvPicPr>
            <a:picLocks noChangeAspect="1"/>
          </p:cNvPicPr>
          <p:nvPr/>
        </p:nvPicPr>
        <p:blipFill>
          <a:blip r:embed="rId6"/>
          <a:stretch>
            <a:fillRect/>
          </a:stretch>
        </p:blipFill>
        <p:spPr>
          <a:xfrm>
            <a:off x="3828823" y="1922089"/>
            <a:ext cx="1416466" cy="1047861"/>
          </a:xfrm>
          <a:prstGeom prst="rect">
            <a:avLst/>
          </a:prstGeom>
        </p:spPr>
      </p:pic>
      <p:pic>
        <p:nvPicPr>
          <p:cNvPr id="10" name="Picture 9" descr="4.png"/>
          <p:cNvPicPr>
            <a:picLocks noChangeAspect="1"/>
          </p:cNvPicPr>
          <p:nvPr/>
        </p:nvPicPr>
        <p:blipFill>
          <a:blip r:embed="rId7"/>
          <a:stretch>
            <a:fillRect/>
          </a:stretch>
        </p:blipFill>
        <p:spPr>
          <a:xfrm>
            <a:off x="5387614" y="1922089"/>
            <a:ext cx="1416466" cy="1047861"/>
          </a:xfrm>
          <a:prstGeom prst="rect">
            <a:avLst/>
          </a:prstGeom>
        </p:spPr>
      </p:pic>
      <p:pic>
        <p:nvPicPr>
          <p:cNvPr id="11" name="Picture 10" descr="5.png"/>
          <p:cNvPicPr>
            <a:picLocks noChangeAspect="1"/>
          </p:cNvPicPr>
          <p:nvPr/>
        </p:nvPicPr>
        <p:blipFill>
          <a:blip r:embed="rId8"/>
          <a:stretch>
            <a:fillRect/>
          </a:stretch>
        </p:blipFill>
        <p:spPr>
          <a:xfrm>
            <a:off x="6946404" y="1922089"/>
            <a:ext cx="1416466" cy="1047861"/>
          </a:xfrm>
          <a:prstGeom prst="rect">
            <a:avLst/>
          </a:prstGeom>
        </p:spPr>
      </p:pic>
      <p:pic>
        <p:nvPicPr>
          <p:cNvPr id="12" name="Picture 11" descr="6.png"/>
          <p:cNvPicPr>
            <a:picLocks noChangeAspect="1"/>
          </p:cNvPicPr>
          <p:nvPr/>
        </p:nvPicPr>
        <p:blipFill>
          <a:blip r:embed="rId9"/>
          <a:stretch>
            <a:fillRect/>
          </a:stretch>
        </p:blipFill>
        <p:spPr>
          <a:xfrm>
            <a:off x="8505195" y="1922089"/>
            <a:ext cx="1416466" cy="1047861"/>
          </a:xfrm>
          <a:prstGeom prst="rect">
            <a:avLst/>
          </a:prstGeom>
        </p:spPr>
      </p:pic>
      <p:pic>
        <p:nvPicPr>
          <p:cNvPr id="13" name="Picture 12" descr="7.png"/>
          <p:cNvPicPr>
            <a:picLocks noChangeAspect="1"/>
          </p:cNvPicPr>
          <p:nvPr/>
        </p:nvPicPr>
        <p:blipFill>
          <a:blip r:embed="rId10"/>
          <a:stretch>
            <a:fillRect/>
          </a:stretch>
        </p:blipFill>
        <p:spPr>
          <a:xfrm>
            <a:off x="10063986" y="1922089"/>
            <a:ext cx="1416466" cy="1047861"/>
          </a:xfrm>
          <a:prstGeom prst="rect">
            <a:avLst/>
          </a:prstGeom>
        </p:spPr>
      </p:pic>
      <p:pic>
        <p:nvPicPr>
          <p:cNvPr id="14" name="Picture 13" descr="8.png"/>
          <p:cNvPicPr>
            <a:picLocks noChangeAspect="1"/>
          </p:cNvPicPr>
          <p:nvPr/>
        </p:nvPicPr>
        <p:blipFill>
          <a:blip r:embed="rId11"/>
          <a:stretch>
            <a:fillRect/>
          </a:stretch>
        </p:blipFill>
        <p:spPr>
          <a:xfrm>
            <a:off x="711241" y="3110809"/>
            <a:ext cx="1416466" cy="1047861"/>
          </a:xfrm>
          <a:prstGeom prst="rect">
            <a:avLst/>
          </a:prstGeom>
        </p:spPr>
      </p:pic>
      <p:pic>
        <p:nvPicPr>
          <p:cNvPr id="15" name="Picture 14" descr="9.png"/>
          <p:cNvPicPr>
            <a:picLocks noChangeAspect="1"/>
          </p:cNvPicPr>
          <p:nvPr/>
        </p:nvPicPr>
        <p:blipFill>
          <a:blip r:embed="rId12"/>
          <a:stretch>
            <a:fillRect/>
          </a:stretch>
        </p:blipFill>
        <p:spPr>
          <a:xfrm>
            <a:off x="2270032" y="3110809"/>
            <a:ext cx="1416466" cy="1047861"/>
          </a:xfrm>
          <a:prstGeom prst="rect">
            <a:avLst/>
          </a:prstGeom>
        </p:spPr>
      </p:pic>
      <p:pic>
        <p:nvPicPr>
          <p:cNvPr id="16" name="Picture 15" descr="10.png"/>
          <p:cNvPicPr>
            <a:picLocks noChangeAspect="1"/>
          </p:cNvPicPr>
          <p:nvPr/>
        </p:nvPicPr>
        <p:blipFill>
          <a:blip r:embed="rId13"/>
          <a:stretch>
            <a:fillRect/>
          </a:stretch>
        </p:blipFill>
        <p:spPr>
          <a:xfrm>
            <a:off x="3828823" y="3110809"/>
            <a:ext cx="1416466" cy="1047861"/>
          </a:xfrm>
          <a:prstGeom prst="rect">
            <a:avLst/>
          </a:prstGeom>
        </p:spPr>
      </p:pic>
      <p:pic>
        <p:nvPicPr>
          <p:cNvPr id="17" name="Picture 16" descr="11.png"/>
          <p:cNvPicPr>
            <a:picLocks noChangeAspect="1"/>
          </p:cNvPicPr>
          <p:nvPr/>
        </p:nvPicPr>
        <p:blipFill>
          <a:blip r:embed="rId14"/>
          <a:stretch>
            <a:fillRect/>
          </a:stretch>
        </p:blipFill>
        <p:spPr>
          <a:xfrm>
            <a:off x="5387614" y="3110809"/>
            <a:ext cx="1416466" cy="1047861"/>
          </a:xfrm>
          <a:prstGeom prst="rect">
            <a:avLst/>
          </a:prstGeom>
        </p:spPr>
      </p:pic>
      <p:pic>
        <p:nvPicPr>
          <p:cNvPr id="18" name="Picture 17" descr="12.png"/>
          <p:cNvPicPr>
            <a:picLocks noChangeAspect="1"/>
          </p:cNvPicPr>
          <p:nvPr/>
        </p:nvPicPr>
        <p:blipFill>
          <a:blip r:embed="rId15"/>
          <a:stretch>
            <a:fillRect/>
          </a:stretch>
        </p:blipFill>
        <p:spPr>
          <a:xfrm>
            <a:off x="6946404" y="3110809"/>
            <a:ext cx="1416466" cy="1047861"/>
          </a:xfrm>
          <a:prstGeom prst="rect">
            <a:avLst/>
          </a:prstGeom>
        </p:spPr>
      </p:pic>
      <p:pic>
        <p:nvPicPr>
          <p:cNvPr id="19" name="Picture 18" descr="13.png"/>
          <p:cNvPicPr>
            <a:picLocks noChangeAspect="1"/>
          </p:cNvPicPr>
          <p:nvPr/>
        </p:nvPicPr>
        <p:blipFill>
          <a:blip r:embed="rId16"/>
          <a:stretch>
            <a:fillRect/>
          </a:stretch>
        </p:blipFill>
        <p:spPr>
          <a:xfrm>
            <a:off x="8505195" y="3110809"/>
            <a:ext cx="1416466" cy="1047861"/>
          </a:xfrm>
          <a:prstGeom prst="rect">
            <a:avLst/>
          </a:prstGeom>
        </p:spPr>
      </p:pic>
      <p:pic>
        <p:nvPicPr>
          <p:cNvPr id="20" name="Picture 19" descr="14.png"/>
          <p:cNvPicPr>
            <a:picLocks noChangeAspect="1"/>
          </p:cNvPicPr>
          <p:nvPr/>
        </p:nvPicPr>
        <p:blipFill>
          <a:blip r:embed="rId17"/>
          <a:stretch>
            <a:fillRect/>
          </a:stretch>
        </p:blipFill>
        <p:spPr>
          <a:xfrm>
            <a:off x="10063986" y="3110809"/>
            <a:ext cx="1416466" cy="1047861"/>
          </a:xfrm>
          <a:prstGeom prst="rect">
            <a:avLst/>
          </a:prstGeom>
        </p:spPr>
      </p:pic>
      <p:pic>
        <p:nvPicPr>
          <p:cNvPr id="21" name="Picture 20" descr="15.png"/>
          <p:cNvPicPr>
            <a:picLocks noChangeAspect="1"/>
          </p:cNvPicPr>
          <p:nvPr/>
        </p:nvPicPr>
        <p:blipFill>
          <a:blip r:embed="rId18"/>
          <a:stretch>
            <a:fillRect/>
          </a:stretch>
        </p:blipFill>
        <p:spPr>
          <a:xfrm>
            <a:off x="711241" y="4299529"/>
            <a:ext cx="1416466" cy="1047861"/>
          </a:xfrm>
          <a:prstGeom prst="rect">
            <a:avLst/>
          </a:prstGeom>
        </p:spPr>
      </p:pic>
      <p:pic>
        <p:nvPicPr>
          <p:cNvPr id="22" name="Picture 21" descr="16.png"/>
          <p:cNvPicPr>
            <a:picLocks noChangeAspect="1"/>
          </p:cNvPicPr>
          <p:nvPr/>
        </p:nvPicPr>
        <p:blipFill>
          <a:blip r:embed="rId19"/>
          <a:stretch>
            <a:fillRect/>
          </a:stretch>
        </p:blipFill>
        <p:spPr>
          <a:xfrm>
            <a:off x="2270032" y="4299529"/>
            <a:ext cx="1416466" cy="1047861"/>
          </a:xfrm>
          <a:prstGeom prst="rect">
            <a:avLst/>
          </a:prstGeom>
        </p:spPr>
      </p:pic>
      <p:pic>
        <p:nvPicPr>
          <p:cNvPr id="23" name="Picture 22" descr="17.png"/>
          <p:cNvPicPr>
            <a:picLocks noChangeAspect="1"/>
          </p:cNvPicPr>
          <p:nvPr/>
        </p:nvPicPr>
        <p:blipFill>
          <a:blip r:embed="rId20"/>
          <a:stretch>
            <a:fillRect/>
          </a:stretch>
        </p:blipFill>
        <p:spPr>
          <a:xfrm>
            <a:off x="3828823" y="4311511"/>
            <a:ext cx="1416466" cy="1023896"/>
          </a:xfrm>
          <a:prstGeom prst="rect">
            <a:avLst/>
          </a:prstGeom>
        </p:spPr>
      </p:pic>
      <p:pic>
        <p:nvPicPr>
          <p:cNvPr id="24" name="Picture 23" descr="18.png"/>
          <p:cNvPicPr>
            <a:picLocks noChangeAspect="1"/>
          </p:cNvPicPr>
          <p:nvPr/>
        </p:nvPicPr>
        <p:blipFill>
          <a:blip r:embed="rId21"/>
          <a:stretch>
            <a:fillRect/>
          </a:stretch>
        </p:blipFill>
        <p:spPr>
          <a:xfrm>
            <a:off x="5387614" y="4299529"/>
            <a:ext cx="1416466" cy="1047861"/>
          </a:xfrm>
          <a:prstGeom prst="rect">
            <a:avLst/>
          </a:prstGeom>
        </p:spPr>
      </p:pic>
      <p:pic>
        <p:nvPicPr>
          <p:cNvPr id="25" name="Picture 24" descr="19.png"/>
          <p:cNvPicPr>
            <a:picLocks noChangeAspect="1"/>
          </p:cNvPicPr>
          <p:nvPr/>
        </p:nvPicPr>
        <p:blipFill>
          <a:blip r:embed="rId22"/>
          <a:stretch>
            <a:fillRect/>
          </a:stretch>
        </p:blipFill>
        <p:spPr>
          <a:xfrm>
            <a:off x="6946404" y="4299529"/>
            <a:ext cx="1416466" cy="1047861"/>
          </a:xfrm>
          <a:prstGeom prst="rect">
            <a:avLst/>
          </a:prstGeom>
        </p:spPr>
      </p:pic>
      <p:pic>
        <p:nvPicPr>
          <p:cNvPr id="26" name="Picture 25" descr="20.png"/>
          <p:cNvPicPr>
            <a:picLocks noChangeAspect="1"/>
          </p:cNvPicPr>
          <p:nvPr/>
        </p:nvPicPr>
        <p:blipFill>
          <a:blip r:embed="rId23"/>
          <a:stretch>
            <a:fillRect/>
          </a:stretch>
        </p:blipFill>
        <p:spPr>
          <a:xfrm>
            <a:off x="8505195" y="4299529"/>
            <a:ext cx="1416466" cy="1047861"/>
          </a:xfrm>
          <a:prstGeom prst="rect">
            <a:avLst/>
          </a:prstGeom>
        </p:spPr>
      </p:pic>
      <p:pic>
        <p:nvPicPr>
          <p:cNvPr id="27" name="Picture 26" descr="21.png"/>
          <p:cNvPicPr>
            <a:picLocks noChangeAspect="1"/>
          </p:cNvPicPr>
          <p:nvPr/>
        </p:nvPicPr>
        <p:blipFill>
          <a:blip r:embed="rId24"/>
          <a:stretch>
            <a:fillRect/>
          </a:stretch>
        </p:blipFill>
        <p:spPr>
          <a:xfrm>
            <a:off x="10063986" y="4299529"/>
            <a:ext cx="1416466" cy="1047861"/>
          </a:xfrm>
          <a:prstGeom prst="rect">
            <a:avLst/>
          </a:prstGeom>
        </p:spPr>
      </p:pic>
      <p:pic>
        <p:nvPicPr>
          <p:cNvPr id="28" name="Picture 27" descr="22.png"/>
          <p:cNvPicPr>
            <a:picLocks noChangeAspect="1"/>
          </p:cNvPicPr>
          <p:nvPr/>
        </p:nvPicPr>
        <p:blipFill>
          <a:blip r:embed="rId25"/>
          <a:stretch>
            <a:fillRect/>
          </a:stretch>
        </p:blipFill>
        <p:spPr>
          <a:xfrm>
            <a:off x="711241" y="5488249"/>
            <a:ext cx="1416466" cy="1047861"/>
          </a:xfrm>
          <a:prstGeom prst="rect">
            <a:avLst/>
          </a:prstGeom>
        </p:spPr>
      </p:pic>
      <p:pic>
        <p:nvPicPr>
          <p:cNvPr id="29" name="Picture 28" descr="23.png"/>
          <p:cNvPicPr>
            <a:picLocks noChangeAspect="1"/>
          </p:cNvPicPr>
          <p:nvPr/>
        </p:nvPicPr>
        <p:blipFill>
          <a:blip r:embed="rId26"/>
          <a:stretch>
            <a:fillRect/>
          </a:stretch>
        </p:blipFill>
        <p:spPr>
          <a:xfrm>
            <a:off x="2270032" y="5488249"/>
            <a:ext cx="1416466" cy="1047861"/>
          </a:xfrm>
          <a:prstGeom prst="rect">
            <a:avLst/>
          </a:prstGeom>
        </p:spPr>
      </p:pic>
      <p:pic>
        <p:nvPicPr>
          <p:cNvPr id="30" name="Picture 29" descr="24.png"/>
          <p:cNvPicPr>
            <a:picLocks noChangeAspect="1"/>
          </p:cNvPicPr>
          <p:nvPr/>
        </p:nvPicPr>
        <p:blipFill>
          <a:blip r:embed="rId27"/>
          <a:stretch>
            <a:fillRect/>
          </a:stretch>
        </p:blipFill>
        <p:spPr>
          <a:xfrm>
            <a:off x="3828823" y="5488249"/>
            <a:ext cx="1416466" cy="1047861"/>
          </a:xfrm>
          <a:prstGeom prst="rect">
            <a:avLst/>
          </a:prstGeom>
        </p:spPr>
      </p:pic>
      <p:pic>
        <p:nvPicPr>
          <p:cNvPr id="31" name="Picture 30" descr="25.png"/>
          <p:cNvPicPr>
            <a:picLocks noChangeAspect="1"/>
          </p:cNvPicPr>
          <p:nvPr/>
        </p:nvPicPr>
        <p:blipFill>
          <a:blip r:embed="rId28"/>
          <a:stretch>
            <a:fillRect/>
          </a:stretch>
        </p:blipFill>
        <p:spPr>
          <a:xfrm>
            <a:off x="5387614" y="5488249"/>
            <a:ext cx="1416466" cy="1047861"/>
          </a:xfrm>
          <a:prstGeom prst="rect">
            <a:avLst/>
          </a:prstGeom>
        </p:spPr>
      </p:pic>
      <p:pic>
        <p:nvPicPr>
          <p:cNvPr id="32" name="Picture 31" descr="26.png"/>
          <p:cNvPicPr>
            <a:picLocks noChangeAspect="1"/>
          </p:cNvPicPr>
          <p:nvPr/>
        </p:nvPicPr>
        <p:blipFill>
          <a:blip r:embed="rId29"/>
          <a:stretch>
            <a:fillRect/>
          </a:stretch>
        </p:blipFill>
        <p:spPr>
          <a:xfrm>
            <a:off x="6946404" y="5488249"/>
            <a:ext cx="1416466" cy="1047861"/>
          </a:xfrm>
          <a:prstGeom prst="rect">
            <a:avLst/>
          </a:prstGeom>
        </p:spPr>
      </p:pic>
      <p:pic>
        <p:nvPicPr>
          <p:cNvPr id="33" name="Picture 32" descr="27.png"/>
          <p:cNvPicPr>
            <a:picLocks noChangeAspect="1"/>
          </p:cNvPicPr>
          <p:nvPr/>
        </p:nvPicPr>
        <p:blipFill>
          <a:blip r:embed="rId30"/>
          <a:stretch>
            <a:fillRect/>
          </a:stretch>
        </p:blipFill>
        <p:spPr>
          <a:xfrm>
            <a:off x="8505195" y="5488249"/>
            <a:ext cx="1416466" cy="1047861"/>
          </a:xfrm>
          <a:prstGeom prst="rect">
            <a:avLst/>
          </a:prstGeom>
        </p:spPr>
      </p:pic>
      <p:pic>
        <p:nvPicPr>
          <p:cNvPr id="34" name="Picture 33" descr="28.png"/>
          <p:cNvPicPr>
            <a:picLocks noChangeAspect="1"/>
          </p:cNvPicPr>
          <p:nvPr/>
        </p:nvPicPr>
        <p:blipFill>
          <a:blip r:embed="rId31"/>
          <a:stretch>
            <a:fillRect/>
          </a:stretch>
        </p:blipFill>
        <p:spPr>
          <a:xfrm>
            <a:off x="10063986" y="5488249"/>
            <a:ext cx="1416466" cy="104786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_scov_25434.jpg"/>
          <p:cNvPicPr>
            <a:picLocks noChangeAspect="1"/>
          </p:cNvPicPr>
          <p:nvPr/>
        </p:nvPicPr>
        <p:blipFill>
          <a:blip r:embed="rId2"/>
          <a:stretch>
            <a:fillRect/>
          </a:stretch>
        </p:blipFill>
        <p:spPr>
          <a:xfrm>
            <a:off x="0" y="0"/>
            <a:ext cx="12191695" cy="2148840"/>
          </a:xfrm>
          <a:prstGeom prst="rect">
            <a:avLst/>
          </a:prstGeom>
        </p:spPr>
      </p:pic>
      <p:sp>
        <p:nvSpPr>
          <p:cNvPr id="3" name="TextBox 2"/>
          <p:cNvSpPr txBox="1"/>
          <p:nvPr/>
        </p:nvSpPr>
        <p:spPr>
          <a:xfrm>
            <a:off x="822960" y="1005840"/>
            <a:ext cx="8229600" cy="365760"/>
          </a:xfrm>
          <a:prstGeom prst="rect">
            <a:avLst/>
          </a:prstGeom>
          <a:noFill/>
        </p:spPr>
        <p:txBody>
          <a:bodyPr wrap="square" anchor="t" lIns="0" rIns="0" tIns="0" bIns="0">
            <a:spAutoFit/>
          </a:bodyPr>
          <a:lstStyle/>
          <a:p>
            <a:pPr algn="l">
              <a:lnSpc>
                <a:spcPct val="106000"/>
              </a:lnSpc>
            </a:pPr>
            <a:r>
              <a:rPr sz="1250" b="1">
                <a:solidFill>
                  <a:srgbClr val="CFE0FA"/>
                </a:solidFill>
                <a:latin typeface="DM Sans"/>
                <a:cs typeface="DM Sans"/>
              </a:rPr>
              <a:t>LO QUE HOY TE COMPLICA</a:t>
            </a:r>
          </a:p>
        </p:txBody>
      </p:sp>
      <p:sp>
        <p:nvSpPr>
          <p:cNvPr id="4" name="TextBox 3"/>
          <p:cNvSpPr txBox="1"/>
          <p:nvPr/>
        </p:nvSpPr>
        <p:spPr>
          <a:xfrm>
            <a:off x="822960" y="1325880"/>
            <a:ext cx="9601200" cy="640080"/>
          </a:xfrm>
          <a:prstGeom prst="rect">
            <a:avLst/>
          </a:prstGeom>
          <a:noFill/>
        </p:spPr>
        <p:txBody>
          <a:bodyPr wrap="square" anchor="t" lIns="0" rIns="0" tIns="0" bIns="0">
            <a:spAutoFit/>
          </a:bodyPr>
          <a:lstStyle/>
          <a:p>
            <a:pPr algn="l">
              <a:lnSpc>
                <a:spcPct val="106000"/>
              </a:lnSpc>
            </a:pPr>
            <a:r>
              <a:rPr sz="2600" b="1">
                <a:solidFill>
                  <a:srgbClr val="FFFFFF"/>
                </a:solidFill>
                <a:latin typeface="DM Sans"/>
                <a:cs typeface="DM Sans"/>
              </a:rPr>
              <a:t>Tres cosas que le pasan a casi todas las operaciones.</a:t>
            </a:r>
          </a:p>
        </p:txBody>
      </p:sp>
      <p:sp>
        <p:nvSpPr>
          <p:cNvPr id="5" name="Rounded Rectangle 4"/>
          <p:cNvSpPr/>
          <p:nvPr/>
        </p:nvSpPr>
        <p:spPr>
          <a:xfrm>
            <a:off x="82296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4300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o-buildings-8F4799-195.png"/>
          <p:cNvPicPr>
            <a:picLocks noChangeAspect="1"/>
          </p:cNvPicPr>
          <p:nvPr/>
        </p:nvPicPr>
        <p:blipFill>
          <a:blip r:embed="rId3"/>
          <a:stretch>
            <a:fillRect/>
          </a:stretch>
        </p:blipFill>
        <p:spPr>
          <a:xfrm>
            <a:off x="1280160" y="3017520"/>
            <a:ext cx="594360" cy="594360"/>
          </a:xfrm>
          <a:prstGeom prst="rect">
            <a:avLst/>
          </a:prstGeom>
        </p:spPr>
      </p:pic>
      <p:sp>
        <p:nvSpPr>
          <p:cNvPr id="8" name="TextBox 7"/>
          <p:cNvSpPr txBox="1"/>
          <p:nvPr/>
        </p:nvSpPr>
        <p:spPr>
          <a:xfrm>
            <a:off x="114300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Cada sucursal es un mundo aparte</a:t>
            </a:r>
          </a:p>
        </p:txBody>
      </p:sp>
      <p:sp>
        <p:nvSpPr>
          <p:cNvPr id="9" name="TextBox 8"/>
          <p:cNvSpPr txBox="1"/>
          <p:nvPr/>
        </p:nvSpPr>
        <p:spPr>
          <a:xfrm>
            <a:off x="116128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Con la red repartida en muchos locales, saber qué está al día en cada punto, en el momento, se hace difícil.</a:t>
            </a:r>
          </a:p>
        </p:txBody>
      </p:sp>
      <p:sp>
        <p:nvSpPr>
          <p:cNvPr id="10" name="Rounded Rectangle 9"/>
          <p:cNvSpPr/>
          <p:nvPr/>
        </p:nvSpPr>
        <p:spPr>
          <a:xfrm>
            <a:off x="443484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5488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uo-shield-check-8F4799-195.png"/>
          <p:cNvPicPr>
            <a:picLocks noChangeAspect="1"/>
          </p:cNvPicPr>
          <p:nvPr/>
        </p:nvPicPr>
        <p:blipFill>
          <a:blip r:embed="rId4"/>
          <a:stretch>
            <a:fillRect/>
          </a:stretch>
        </p:blipFill>
        <p:spPr>
          <a:xfrm>
            <a:off x="4892040" y="3017520"/>
            <a:ext cx="594360" cy="594360"/>
          </a:xfrm>
          <a:prstGeom prst="rect">
            <a:avLst/>
          </a:prstGeom>
        </p:spPr>
      </p:pic>
      <p:sp>
        <p:nvSpPr>
          <p:cNvPr id="13" name="TextBox 12"/>
          <p:cNvSpPr txBox="1"/>
          <p:nvPr/>
        </p:nvSpPr>
        <p:spPr>
          <a:xfrm>
            <a:off x="475488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La normativa administrativa no da respiro</a:t>
            </a:r>
          </a:p>
        </p:txBody>
      </p:sp>
      <p:sp>
        <p:nvSpPr>
          <p:cNvPr id="14" name="TextBox 13"/>
          <p:cNvSpPr txBox="1"/>
          <p:nvPr/>
        </p:nvSpPr>
        <p:spPr>
          <a:xfrm>
            <a:off x="477316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Ley Karin, RIOHS y protocolos piden registro y trazabilidad. Sin un respaldo ordenado, cada requerimiento es una carrera.</a:t>
            </a:r>
          </a:p>
        </p:txBody>
      </p:sp>
      <p:sp>
        <p:nvSpPr>
          <p:cNvPr id="15" name="Rounded Rectangle 14"/>
          <p:cNvSpPr/>
          <p:nvPr/>
        </p:nvSpPr>
        <p:spPr>
          <a:xfrm>
            <a:off x="804672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6676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uo-eye-slash-8F4799-195.png"/>
          <p:cNvPicPr>
            <a:picLocks noChangeAspect="1"/>
          </p:cNvPicPr>
          <p:nvPr/>
        </p:nvPicPr>
        <p:blipFill>
          <a:blip r:embed="rId5"/>
          <a:stretch>
            <a:fillRect/>
          </a:stretch>
        </p:blipFill>
        <p:spPr>
          <a:xfrm>
            <a:off x="8503920" y="3017520"/>
            <a:ext cx="594360" cy="594360"/>
          </a:xfrm>
          <a:prstGeom prst="rect">
            <a:avLst/>
          </a:prstGeom>
        </p:spPr>
      </p:pic>
      <p:sp>
        <p:nvSpPr>
          <p:cNvPr id="18" name="TextBox 17"/>
          <p:cNvSpPr txBox="1"/>
          <p:nvPr/>
        </p:nvSpPr>
        <p:spPr>
          <a:xfrm>
            <a:off x="836676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Auditan y la evidencia está repartida</a:t>
            </a:r>
          </a:p>
        </p:txBody>
      </p:sp>
      <p:sp>
        <p:nvSpPr>
          <p:cNvPr id="19" name="TextBox 18"/>
          <p:cNvSpPr txBox="1"/>
          <p:nvPr/>
        </p:nvSpPr>
        <p:spPr>
          <a:xfrm>
            <a:off x="838504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Cuando corporativo audita, juntar lo de toda la red a mano toma tiempo y siempre falta algo.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_scov_93884.jpg"/>
          <p:cNvPicPr>
            <a:picLocks noChangeAspect="1"/>
          </p:cNvPicPr>
          <p:nvPr/>
        </p:nvPicPr>
        <p:blipFill>
          <a:blip r:embed="rId2"/>
          <a:stretch>
            <a:fillRect/>
          </a:stretch>
        </p:blipFill>
        <p:spPr>
          <a:xfrm>
            <a:off x="0" y="0"/>
            <a:ext cx="12191695" cy="2148840"/>
          </a:xfrm>
          <a:prstGeom prst="rect">
            <a:avLst/>
          </a:prstGeom>
        </p:spPr>
      </p:pic>
      <p:sp>
        <p:nvSpPr>
          <p:cNvPr id="3" name="TextBox 2"/>
          <p:cNvSpPr txBox="1"/>
          <p:nvPr/>
        </p:nvSpPr>
        <p:spPr>
          <a:xfrm>
            <a:off x="822960" y="1005840"/>
            <a:ext cx="8229600" cy="365760"/>
          </a:xfrm>
          <a:prstGeom prst="rect">
            <a:avLst/>
          </a:prstGeom>
          <a:noFill/>
        </p:spPr>
        <p:txBody>
          <a:bodyPr wrap="square" anchor="t" lIns="0" rIns="0" tIns="0" bIns="0">
            <a:spAutoFit/>
          </a:bodyPr>
          <a:lstStyle/>
          <a:p>
            <a:pPr algn="l">
              <a:lnSpc>
                <a:spcPct val="106000"/>
              </a:lnSpc>
            </a:pPr>
            <a:r>
              <a:rPr sz="1250" b="1">
                <a:solidFill>
                  <a:srgbClr val="CFE0FA"/>
                </a:solidFill>
                <a:latin typeface="DM Sans"/>
                <a:cs typeface="DM Sans"/>
              </a:rPr>
              <a:t>ASÍ TE AYUDA TAZKI</a:t>
            </a:r>
          </a:p>
        </p:txBody>
      </p:sp>
      <p:sp>
        <p:nvSpPr>
          <p:cNvPr id="4" name="TextBox 3"/>
          <p:cNvSpPr txBox="1"/>
          <p:nvPr/>
        </p:nvSpPr>
        <p:spPr>
          <a:xfrm>
            <a:off x="822960" y="1325880"/>
            <a:ext cx="9601200" cy="640080"/>
          </a:xfrm>
          <a:prstGeom prst="rect">
            <a:avLst/>
          </a:prstGeom>
          <a:noFill/>
        </p:spPr>
        <p:txBody>
          <a:bodyPr wrap="square" anchor="t" lIns="0" rIns="0" tIns="0" bIns="0">
            <a:spAutoFit/>
          </a:bodyPr>
          <a:lstStyle/>
          <a:p>
            <a:pPr algn="l">
              <a:lnSpc>
                <a:spcPct val="106000"/>
              </a:lnSpc>
            </a:pPr>
            <a:r>
              <a:rPr sz="2600" b="1">
                <a:solidFill>
                  <a:srgbClr val="FFFFFF"/>
                </a:solidFill>
                <a:latin typeface="DM Sans"/>
                <a:cs typeface="DM Sans"/>
              </a:rPr>
              <a:t>De la planilla al control real de tu prevención.</a:t>
            </a:r>
          </a:p>
        </p:txBody>
      </p:sp>
      <p:sp>
        <p:nvSpPr>
          <p:cNvPr id="5" name="Rounded Rectangle 4"/>
          <p:cNvSpPr/>
          <p:nvPr/>
        </p:nvSpPr>
        <p:spPr>
          <a:xfrm>
            <a:off x="658368"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32688"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o-stack-1537D1-180.png"/>
          <p:cNvPicPr>
            <a:picLocks noChangeAspect="1"/>
          </p:cNvPicPr>
          <p:nvPr/>
        </p:nvPicPr>
        <p:blipFill>
          <a:blip r:embed="rId3"/>
          <a:stretch>
            <a:fillRect/>
          </a:stretch>
        </p:blipFill>
        <p:spPr>
          <a:xfrm>
            <a:off x="1051560" y="2907792"/>
            <a:ext cx="548640" cy="548640"/>
          </a:xfrm>
          <a:prstGeom prst="rect">
            <a:avLst/>
          </a:prstGeom>
        </p:spPr>
      </p:pic>
      <p:sp>
        <p:nvSpPr>
          <p:cNvPr id="8" name="TextBox 7"/>
          <p:cNvSpPr txBox="1"/>
          <p:nvPr/>
        </p:nvSpPr>
        <p:spPr>
          <a:xfrm>
            <a:off x="932688"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Todo en un solo lugar</a:t>
            </a:r>
          </a:p>
        </p:txBody>
      </p:sp>
      <p:sp>
        <p:nvSpPr>
          <p:cNvPr id="9" name="TextBox 8"/>
          <p:cNvSpPr txBox="1"/>
          <p:nvPr/>
        </p:nvSpPr>
        <p:spPr>
          <a:xfrm>
            <a:off x="950976"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Reúne documentos, firmas y registros de tu prevención en una plataforma. Se acabó buscar en carpetas y correos.</a:t>
            </a:r>
          </a:p>
        </p:txBody>
      </p:sp>
      <p:sp>
        <p:nvSpPr>
          <p:cNvPr id="10" name="Rounded Rectangle 9"/>
          <p:cNvSpPr/>
          <p:nvPr/>
        </p:nvSpPr>
        <p:spPr>
          <a:xfrm>
            <a:off x="3429000"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03320"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uo-seal-check-1537D1-180.png"/>
          <p:cNvPicPr>
            <a:picLocks noChangeAspect="1"/>
          </p:cNvPicPr>
          <p:nvPr/>
        </p:nvPicPr>
        <p:blipFill>
          <a:blip r:embed="rId4"/>
          <a:stretch>
            <a:fillRect/>
          </a:stretch>
        </p:blipFill>
        <p:spPr>
          <a:xfrm>
            <a:off x="3822191" y="2907792"/>
            <a:ext cx="548640" cy="548640"/>
          </a:xfrm>
          <a:prstGeom prst="rect">
            <a:avLst/>
          </a:prstGeom>
        </p:spPr>
      </p:pic>
      <p:sp>
        <p:nvSpPr>
          <p:cNvPr id="13" name="TextBox 12"/>
          <p:cNvSpPr txBox="1"/>
          <p:nvPr/>
        </p:nvSpPr>
        <p:spPr>
          <a:xfrm>
            <a:off x="3703320"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Respaldo cuando lo necesitas</a:t>
            </a:r>
          </a:p>
        </p:txBody>
      </p:sp>
      <p:sp>
        <p:nvSpPr>
          <p:cNvPr id="14" name="TextBox 13"/>
          <p:cNvSpPr txBox="1"/>
          <p:nvPr/>
        </p:nvSpPr>
        <p:spPr>
          <a:xfrm>
            <a:off x="3721608"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Cada registro queda con firma electrónica y trazabilidad, con el respaldo de la Resolución 908 de la Dirección del Trabajo.</a:t>
            </a:r>
          </a:p>
        </p:txBody>
      </p:sp>
      <p:sp>
        <p:nvSpPr>
          <p:cNvPr id="15" name="Rounded Rectangle 14"/>
          <p:cNvSpPr/>
          <p:nvPr/>
        </p:nvSpPr>
        <p:spPr>
          <a:xfrm>
            <a:off x="6199631"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73951"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uo-device-mobile-1537D1-180.png"/>
          <p:cNvPicPr>
            <a:picLocks noChangeAspect="1"/>
          </p:cNvPicPr>
          <p:nvPr/>
        </p:nvPicPr>
        <p:blipFill>
          <a:blip r:embed="rId5"/>
          <a:stretch>
            <a:fillRect/>
          </a:stretch>
        </p:blipFill>
        <p:spPr>
          <a:xfrm>
            <a:off x="6592823" y="2907792"/>
            <a:ext cx="548640" cy="548640"/>
          </a:xfrm>
          <a:prstGeom prst="rect">
            <a:avLst/>
          </a:prstGeom>
        </p:spPr>
      </p:pic>
      <p:sp>
        <p:nvSpPr>
          <p:cNvPr id="18" name="TextBox 17"/>
          <p:cNvSpPr txBox="1"/>
          <p:nvPr/>
        </p:nvSpPr>
        <p:spPr>
          <a:xfrm>
            <a:off x="6473951"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Prevención en terreno, desde el celular</a:t>
            </a:r>
          </a:p>
        </p:txBody>
      </p:sp>
      <p:sp>
        <p:nvSpPr>
          <p:cNvPr id="19" name="TextBox 18"/>
          <p:cNvSpPr txBox="1"/>
          <p:nvPr/>
        </p:nvSpPr>
        <p:spPr>
          <a:xfrm>
            <a:off x="6492240"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Tu equipo levanta hallazgos, inspecciones y firmas donde ocurre el trabajo. Si no hay señal, se sincroniza al recuperar conexión.</a:t>
            </a:r>
          </a:p>
        </p:txBody>
      </p:sp>
      <p:sp>
        <p:nvSpPr>
          <p:cNvPr id="20" name="Rounded Rectangle 19"/>
          <p:cNvSpPr/>
          <p:nvPr/>
        </p:nvSpPr>
        <p:spPr>
          <a:xfrm>
            <a:off x="8970263"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244584"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uo-buildings-1537D1-180.png"/>
          <p:cNvPicPr>
            <a:picLocks noChangeAspect="1"/>
          </p:cNvPicPr>
          <p:nvPr/>
        </p:nvPicPr>
        <p:blipFill>
          <a:blip r:embed="rId6"/>
          <a:stretch>
            <a:fillRect/>
          </a:stretch>
        </p:blipFill>
        <p:spPr>
          <a:xfrm>
            <a:off x="9363455" y="2907792"/>
            <a:ext cx="548640" cy="548640"/>
          </a:xfrm>
          <a:prstGeom prst="rect">
            <a:avLst/>
          </a:prstGeom>
        </p:spPr>
      </p:pic>
      <p:sp>
        <p:nvSpPr>
          <p:cNvPr id="23" name="TextBox 22"/>
          <p:cNvSpPr txBox="1"/>
          <p:nvPr/>
        </p:nvSpPr>
        <p:spPr>
          <a:xfrm>
            <a:off x="9244584"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Toda la red bajo control</a:t>
            </a:r>
          </a:p>
        </p:txBody>
      </p:sp>
      <p:sp>
        <p:nvSpPr>
          <p:cNvPr id="24" name="TextBox 23"/>
          <p:cNvSpPr txBox="1"/>
          <p:nvPr/>
        </p:nvSpPr>
        <p:spPr>
          <a:xfrm>
            <a:off x="9262872"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Ves en tiempo real qué está al día en cada sucursal, desde un solo panel.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tazki-wordmark-blanco.png"/>
          <p:cNvPicPr>
            <a:picLocks noChangeAspect="1"/>
          </p:cNvPicPr>
          <p:nvPr/>
        </p:nvPicPr>
        <p:blipFill>
          <a:blip r:embed="rId2"/>
          <a:stretch>
            <a:fillRect/>
          </a:stretch>
        </p:blipFill>
        <p:spPr>
          <a:xfrm>
            <a:off x="4937760" y="1234440"/>
            <a:ext cx="2286000" cy="840921"/>
          </a:xfrm>
          <a:prstGeom prst="rect">
            <a:avLst/>
          </a:prstGeom>
        </p:spPr>
      </p:pic>
      <p:sp>
        <p:nvSpPr>
          <p:cNvPr id="3" name="TextBox 2"/>
          <p:cNvSpPr txBox="1"/>
          <p:nvPr/>
        </p:nvSpPr>
        <p:spPr>
          <a:xfrm>
            <a:off x="1097280" y="2651760"/>
            <a:ext cx="9966960" cy="1280160"/>
          </a:xfrm>
          <a:prstGeom prst="rect">
            <a:avLst/>
          </a:prstGeom>
          <a:noFill/>
        </p:spPr>
        <p:txBody>
          <a:bodyPr wrap="square" anchor="t" lIns="0" rIns="0" tIns="0" bIns="0">
            <a:spAutoFit/>
          </a:bodyPr>
          <a:lstStyle/>
          <a:p>
            <a:pPr algn="ctr">
              <a:lnSpc>
                <a:spcPct val="105000"/>
              </a:lnSpc>
            </a:pPr>
            <a:r>
              <a:rPr sz="3400" b="1">
                <a:solidFill>
                  <a:srgbClr val="FFFFFF"/>
                </a:solidFill>
                <a:latin typeface="DM Sans"/>
                <a:cs typeface="DM Sans"/>
              </a:rPr>
              <a:t>Un software modular, para cada proceso de tu prevención.</a:t>
            </a:r>
          </a:p>
        </p:txBody>
      </p:sp>
      <p:sp>
        <p:nvSpPr>
          <p:cNvPr id="4" name="TextBox 3"/>
          <p:cNvSpPr txBox="1"/>
          <p:nvPr/>
        </p:nvSpPr>
        <p:spPr>
          <a:xfrm>
            <a:off x="1097280" y="4160520"/>
            <a:ext cx="9966960" cy="640080"/>
          </a:xfrm>
          <a:prstGeom prst="rect">
            <a:avLst/>
          </a:prstGeom>
          <a:noFill/>
        </p:spPr>
        <p:txBody>
          <a:bodyPr wrap="square" anchor="t" lIns="0" rIns="0" tIns="0" bIns="0">
            <a:spAutoFit/>
          </a:bodyPr>
          <a:lstStyle/>
          <a:p>
            <a:pPr algn="ctr">
              <a:lnSpc>
                <a:spcPct val="106000"/>
              </a:lnSpc>
            </a:pPr>
            <a:r>
              <a:rPr sz="1700" b="0">
                <a:solidFill>
                  <a:srgbClr val="A2D6F9"/>
                </a:solidFill>
                <a:latin typeface="DM Sans"/>
                <a:cs typeface="DM Sans"/>
              </a:rPr>
              <a:t>Activa lo que tu operación necesita. Todo comparte datos, trazabilidad y firma.</a:t>
            </a:r>
          </a:p>
        </p:txBody>
      </p:sp>
      <p:pic>
        <p:nvPicPr>
          <p:cNvPr id="5" name="Picture 4" descr="duo-identification-card-B865C1-186.png"/>
          <p:cNvPicPr>
            <a:picLocks noChangeAspect="1"/>
          </p:cNvPicPr>
          <p:nvPr/>
        </p:nvPicPr>
        <p:blipFill>
          <a:blip r:embed="rId3"/>
          <a:stretch>
            <a:fillRect/>
          </a:stretch>
        </p:blipFill>
        <p:spPr>
          <a:xfrm>
            <a:off x="914400" y="5212080"/>
            <a:ext cx="566928" cy="566928"/>
          </a:xfrm>
          <a:prstGeom prst="rect">
            <a:avLst/>
          </a:prstGeom>
        </p:spPr>
      </p:pic>
      <p:pic>
        <p:nvPicPr>
          <p:cNvPr id="6" name="Picture 5" descr="duo-warning-B865C1-186.png"/>
          <p:cNvPicPr>
            <a:picLocks noChangeAspect="1"/>
          </p:cNvPicPr>
          <p:nvPr/>
        </p:nvPicPr>
        <p:blipFill>
          <a:blip r:embed="rId4"/>
          <a:stretch>
            <a:fillRect/>
          </a:stretch>
        </p:blipFill>
        <p:spPr>
          <a:xfrm>
            <a:off x="1802199" y="5212080"/>
            <a:ext cx="566928" cy="566928"/>
          </a:xfrm>
          <a:prstGeom prst="rect">
            <a:avLst/>
          </a:prstGeom>
        </p:spPr>
      </p:pic>
      <p:pic>
        <p:nvPicPr>
          <p:cNvPr id="7" name="Picture 6" descr="duo-chalkboard-teacher-B865C1-186.png"/>
          <p:cNvPicPr>
            <a:picLocks noChangeAspect="1"/>
          </p:cNvPicPr>
          <p:nvPr/>
        </p:nvPicPr>
        <p:blipFill>
          <a:blip r:embed="rId5"/>
          <a:stretch>
            <a:fillRect/>
          </a:stretch>
        </p:blipFill>
        <p:spPr>
          <a:xfrm>
            <a:off x="2689998" y="5212080"/>
            <a:ext cx="566928" cy="566928"/>
          </a:xfrm>
          <a:prstGeom prst="rect">
            <a:avLst/>
          </a:prstGeom>
        </p:spPr>
      </p:pic>
      <p:pic>
        <p:nvPicPr>
          <p:cNvPr id="8" name="Picture 7" descr="duo-clipboard-text-B865C1-186.png"/>
          <p:cNvPicPr>
            <a:picLocks noChangeAspect="1"/>
          </p:cNvPicPr>
          <p:nvPr/>
        </p:nvPicPr>
        <p:blipFill>
          <a:blip r:embed="rId6"/>
          <a:stretch>
            <a:fillRect/>
          </a:stretch>
        </p:blipFill>
        <p:spPr>
          <a:xfrm>
            <a:off x="3577797" y="5212080"/>
            <a:ext cx="566928" cy="566928"/>
          </a:xfrm>
          <a:prstGeom prst="rect">
            <a:avLst/>
          </a:prstGeom>
        </p:spPr>
      </p:pic>
      <p:pic>
        <p:nvPicPr>
          <p:cNvPr id="9" name="Picture 8" descr="duo-buildings-B865C1-186.png"/>
          <p:cNvPicPr>
            <a:picLocks noChangeAspect="1"/>
          </p:cNvPicPr>
          <p:nvPr/>
        </p:nvPicPr>
        <p:blipFill>
          <a:blip r:embed="rId7"/>
          <a:stretch>
            <a:fillRect/>
          </a:stretch>
        </p:blipFill>
        <p:spPr>
          <a:xfrm>
            <a:off x="4465597" y="5212080"/>
            <a:ext cx="566928" cy="566928"/>
          </a:xfrm>
          <a:prstGeom prst="rect">
            <a:avLst/>
          </a:prstGeom>
        </p:spPr>
      </p:pic>
      <p:pic>
        <p:nvPicPr>
          <p:cNvPr id="10" name="Picture 9" descr="duo-hard-hat-B865C1-186.png"/>
          <p:cNvPicPr>
            <a:picLocks noChangeAspect="1"/>
          </p:cNvPicPr>
          <p:nvPr/>
        </p:nvPicPr>
        <p:blipFill>
          <a:blip r:embed="rId8"/>
          <a:stretch>
            <a:fillRect/>
          </a:stretch>
        </p:blipFill>
        <p:spPr>
          <a:xfrm>
            <a:off x="5353396" y="5212080"/>
            <a:ext cx="566928" cy="566928"/>
          </a:xfrm>
          <a:prstGeom prst="rect">
            <a:avLst/>
          </a:prstGeom>
        </p:spPr>
      </p:pic>
      <p:pic>
        <p:nvPicPr>
          <p:cNvPr id="11" name="Picture 10" descr="duo-shield-check-B865C1-186.png"/>
          <p:cNvPicPr>
            <a:picLocks noChangeAspect="1"/>
          </p:cNvPicPr>
          <p:nvPr/>
        </p:nvPicPr>
        <p:blipFill>
          <a:blip r:embed="rId9"/>
          <a:stretch>
            <a:fillRect/>
          </a:stretch>
        </p:blipFill>
        <p:spPr>
          <a:xfrm>
            <a:off x="6241195" y="5212080"/>
            <a:ext cx="566928" cy="566928"/>
          </a:xfrm>
          <a:prstGeom prst="rect">
            <a:avLst/>
          </a:prstGeom>
        </p:spPr>
      </p:pic>
      <p:pic>
        <p:nvPicPr>
          <p:cNvPr id="12" name="Picture 11" descr="duo-grid-four-B865C1-186.png"/>
          <p:cNvPicPr>
            <a:picLocks noChangeAspect="1"/>
          </p:cNvPicPr>
          <p:nvPr/>
        </p:nvPicPr>
        <p:blipFill>
          <a:blip r:embed="rId10"/>
          <a:stretch>
            <a:fillRect/>
          </a:stretch>
        </p:blipFill>
        <p:spPr>
          <a:xfrm>
            <a:off x="7128994" y="5212080"/>
            <a:ext cx="566928" cy="566928"/>
          </a:xfrm>
          <a:prstGeom prst="rect">
            <a:avLst/>
          </a:prstGeom>
        </p:spPr>
      </p:pic>
      <p:pic>
        <p:nvPicPr>
          <p:cNvPr id="13" name="Picture 12" descr="duo-magnifying-glass-B865C1-186.png"/>
          <p:cNvPicPr>
            <a:picLocks noChangeAspect="1"/>
          </p:cNvPicPr>
          <p:nvPr/>
        </p:nvPicPr>
        <p:blipFill>
          <a:blip r:embed="rId11"/>
          <a:stretch>
            <a:fillRect/>
          </a:stretch>
        </p:blipFill>
        <p:spPr>
          <a:xfrm>
            <a:off x="8016794" y="5212080"/>
            <a:ext cx="566928" cy="566928"/>
          </a:xfrm>
          <a:prstGeom prst="rect">
            <a:avLst/>
          </a:prstGeom>
        </p:spPr>
      </p:pic>
      <p:pic>
        <p:nvPicPr>
          <p:cNvPr id="14" name="Picture 13" descr="duo-calendar-check-B865C1-186.png"/>
          <p:cNvPicPr>
            <a:picLocks noChangeAspect="1"/>
          </p:cNvPicPr>
          <p:nvPr/>
        </p:nvPicPr>
        <p:blipFill>
          <a:blip r:embed="rId12"/>
          <a:stretch>
            <a:fillRect/>
          </a:stretch>
        </p:blipFill>
        <p:spPr>
          <a:xfrm>
            <a:off x="8904593" y="5212080"/>
            <a:ext cx="566928" cy="566928"/>
          </a:xfrm>
          <a:prstGeom prst="rect">
            <a:avLst/>
          </a:prstGeom>
        </p:spPr>
      </p:pic>
      <p:pic>
        <p:nvPicPr>
          <p:cNvPr id="15" name="Picture 14" descr="duo-users-three-B865C1-186.png"/>
          <p:cNvPicPr>
            <a:picLocks noChangeAspect="1"/>
          </p:cNvPicPr>
          <p:nvPr/>
        </p:nvPicPr>
        <p:blipFill>
          <a:blip r:embed="rId13"/>
          <a:stretch>
            <a:fillRect/>
          </a:stretch>
        </p:blipFill>
        <p:spPr>
          <a:xfrm>
            <a:off x="9792392" y="5212080"/>
            <a:ext cx="566928" cy="566928"/>
          </a:xfrm>
          <a:prstGeom prst="rect">
            <a:avLst/>
          </a:prstGeom>
        </p:spPr>
      </p:pic>
      <p:pic>
        <p:nvPicPr>
          <p:cNvPr id="16" name="Picture 15" descr="duo-wrench-B865C1-186.png"/>
          <p:cNvPicPr>
            <a:picLocks noChangeAspect="1"/>
          </p:cNvPicPr>
          <p:nvPr/>
        </p:nvPicPr>
        <p:blipFill>
          <a:blip r:embed="rId14"/>
          <a:stretch>
            <a:fillRect/>
          </a:stretch>
        </p:blipFill>
        <p:spPr>
          <a:xfrm>
            <a:off x="10680192" y="5212080"/>
            <a:ext cx="566928" cy="56692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identification-card-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Inducciones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Documentación obligatoria firmada digitalmente y centralizada por colaborador.</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VESTIDO_evaluacione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warning-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Hallazgos</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Gestiona el ciclo de acciones y condiciones inseguras hasta su cierre.</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hallazgo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halkboard-teacher-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Capacitaciones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Calendariza charlas, registra asistencia y respalda la firma de cada participante.</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VESTIDO_capacitacione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lipboard-text-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Inspecciones</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Identifica y corrige riesgos en terreno, desde el celular del supervisor.</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inspeccione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buildings-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Contratistas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Documentación vigente de empresas y trabajadores, con control de acceso y subcontratos.</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contratista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hard-hat-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EPP</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Controla el inventario y las entregas de EPP con firma y trazabilidad por trabajador.</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epp.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shield-check-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ART / AST</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Análisis de riesgo digital con firma de todos los participantes en terreno.</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art-ast.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grid-four-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MIPER</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Matriz de identificación de peligros y evaluación de riesgos, digitalizada y siempre actualizada.</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miper.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magnifying-glass-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Investigación de accidentes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Registra el accidente, documenta las causas y genera el reporte con respaldo.</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accidente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alendar-check-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Programa de gestión</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Planifica las actividades preventivas del período y controla su cumplimiento.</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programa.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users-three-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Comité Paritario</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Digitaliza actas, reuniones y acuerdos del comité paritario, con respaldo.</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VESTIDO_documento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wrench-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Insumos y Maquinaria</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Controla el inventario de insumos y el historial documental de maquinarias.</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insumo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874519"/>
          </a:xfrm>
          <a:prstGeom prst="rect">
            <a:avLst/>
          </a:prstGeom>
          <a:solidFill>
            <a:srgbClr val="0C1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49640" y="457200"/>
            <a:ext cx="2834640"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nco-falabella.png"/>
          <p:cNvPicPr>
            <a:picLocks noChangeAspect="1"/>
          </p:cNvPicPr>
          <p:nvPr/>
        </p:nvPicPr>
        <p:blipFill>
          <a:blip r:embed="rId2"/>
          <a:stretch>
            <a:fillRect/>
          </a:stretch>
        </p:blipFill>
        <p:spPr>
          <a:xfrm>
            <a:off x="8789166" y="566928"/>
            <a:ext cx="2355586" cy="731520"/>
          </a:xfrm>
          <a:prstGeom prst="rect">
            <a:avLst/>
          </a:prstGeom>
        </p:spPr>
      </p:pic>
      <p:sp>
        <p:nvSpPr>
          <p:cNvPr id="5" name="TextBox 4"/>
          <p:cNvSpPr txBox="1"/>
          <p:nvPr/>
        </p:nvSpPr>
        <p:spPr>
          <a:xfrm>
            <a:off x="822960" y="457200"/>
            <a:ext cx="7498079" cy="822960"/>
          </a:xfrm>
          <a:prstGeom prst="rect">
            <a:avLst/>
          </a:prstGeom>
          <a:noFill/>
        </p:spPr>
        <p:txBody>
          <a:bodyPr wrap="square" anchor="t" lIns="0" rIns="0" tIns="0" bIns="0">
            <a:spAutoFit/>
          </a:bodyPr>
          <a:lstStyle/>
          <a:p>
            <a:pPr algn="l">
              <a:lnSpc>
                <a:spcPct val="106000"/>
              </a:lnSpc>
            </a:pPr>
            <a:r>
              <a:rPr sz="2800" b="1">
                <a:solidFill>
                  <a:srgbClr val="FFFFFF"/>
                </a:solidFill>
                <a:latin typeface="DM Sans"/>
                <a:cs typeface="DM Sans"/>
              </a:rPr>
              <a:t>Caso de éxito: Banco Falabella</a:t>
            </a:r>
          </a:p>
        </p:txBody>
      </p:sp>
      <p:sp>
        <p:nvSpPr>
          <p:cNvPr id="6" name="TextBox 5"/>
          <p:cNvSpPr txBox="1"/>
          <p:nvPr/>
        </p:nvSpPr>
        <p:spPr>
          <a:xfrm>
            <a:off x="841248" y="1207008"/>
            <a:ext cx="7498079" cy="548640"/>
          </a:xfrm>
          <a:prstGeom prst="rect">
            <a:avLst/>
          </a:prstGeom>
          <a:noFill/>
        </p:spPr>
        <p:txBody>
          <a:bodyPr wrap="square" anchor="t" lIns="0" rIns="0" tIns="0" bIns="0">
            <a:spAutoFit/>
          </a:bodyPr>
          <a:lstStyle/>
          <a:p>
            <a:pPr algn="l">
              <a:lnSpc>
                <a:spcPct val="106000"/>
              </a:lnSpc>
            </a:pPr>
            <a:r>
              <a:rPr sz="1550" b="0">
                <a:solidFill>
                  <a:srgbClr val="BFD0EA"/>
                </a:solidFill>
                <a:latin typeface="DM Sans"/>
                <a:cs typeface="DM Sans"/>
              </a:rPr>
              <a:t>Una red distribuida que exigía más control, sin fricción operativa.</a:t>
            </a:r>
          </a:p>
        </p:txBody>
      </p:sp>
      <p:sp>
        <p:nvSpPr>
          <p:cNvPr id="7" name="TextBox 6"/>
          <p:cNvSpPr txBox="1"/>
          <p:nvPr/>
        </p:nvSpPr>
        <p:spPr>
          <a:xfrm>
            <a:off x="822960" y="2194560"/>
            <a:ext cx="6400800" cy="3566160"/>
          </a:xfrm>
          <a:prstGeom prst="rect">
            <a:avLst/>
          </a:prstGeom>
          <a:noFill/>
        </p:spPr>
        <p:txBody>
          <a:bodyPr wrap="square" anchor="t" lIns="0" rIns="0" tIns="0" bIns="0">
            <a:spAutoFit/>
          </a:bodyPr>
          <a:lstStyle/>
          <a:p>
            <a:pPr algn="l">
              <a:lnSpc>
                <a:spcPct val="130000"/>
              </a:lnSpc>
            </a:pPr>
            <a:r>
              <a:rPr sz="1350" b="0">
                <a:solidFill>
                  <a:srgbClr val="5B6472"/>
                </a:solidFill>
                <a:latin typeface="DM Sans"/>
                <a:cs typeface="DM Sans"/>
              </a:rPr>
              <a:t>Banco Falabella, con una red de 80 sucursales en las principales ciudades de Chile, enfrentaba el desafío de fortalecer su gestión de prevención de riesgos sin afectar la continuidad operacional ni la atención al cliente. El equipo de Prevención de Riesgos, liderado por Carlos Villegas, trabajaba con inspecciones en terreno, levantamiento de hallazgos, derivación a las áreas responsables y seguimiento posterior: un proceso sólido que necesitaba una herramienta a la medida de su dinámica y con mejor visibilidad y control en tiempo real.</a:t>
            </a:r>
          </a:p>
        </p:txBody>
      </p:sp>
      <p:sp>
        <p:nvSpPr>
          <p:cNvPr id="8" name="Rounded Rectangle 7"/>
          <p:cNvSpPr/>
          <p:nvPr/>
        </p:nvSpPr>
        <p:spPr>
          <a:xfrm>
            <a:off x="7452360" y="2194560"/>
            <a:ext cx="3931920" cy="4114800"/>
          </a:xfrm>
          <a:prstGeom prst="roundRect">
            <a:avLst>
              <a:gd name="adj" fmla="val 5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2423160"/>
            <a:ext cx="3383280" cy="457200"/>
          </a:xfrm>
          <a:prstGeom prst="rect">
            <a:avLst/>
          </a:prstGeom>
          <a:noFill/>
        </p:spPr>
        <p:txBody>
          <a:bodyPr wrap="square" anchor="t" lIns="0" rIns="0" tIns="0" bIns="0">
            <a:spAutoFit/>
          </a:bodyPr>
          <a:lstStyle/>
          <a:p>
            <a:pPr algn="l">
              <a:lnSpc>
                <a:spcPct val="106000"/>
              </a:lnSpc>
            </a:pPr>
            <a:r>
              <a:rPr sz="1600" b="1">
                <a:solidFill>
                  <a:srgbClr val="0C1E50"/>
                </a:solidFill>
                <a:latin typeface="DM Sans"/>
                <a:cs typeface="DM Sans"/>
              </a:rPr>
              <a:t>El desafío</a:t>
            </a:r>
          </a:p>
        </p:txBody>
      </p:sp>
      <p:sp>
        <p:nvSpPr>
          <p:cNvPr id="10" name="TextBox 9"/>
          <p:cNvSpPr txBox="1"/>
          <p:nvPr/>
        </p:nvSpPr>
        <p:spPr>
          <a:xfrm>
            <a:off x="7726679" y="2971800"/>
            <a:ext cx="3429000" cy="2011680"/>
          </a:xfrm>
          <a:prstGeom prst="rect">
            <a:avLst/>
          </a:prstGeom>
          <a:noFill/>
        </p:spPr>
        <p:txBody>
          <a:bodyPr wrap="square" anchor="t" lIns="0" rIns="0" tIns="0" bIns="0">
            <a:spAutoFit/>
          </a:bodyPr>
          <a:lstStyle/>
          <a:p>
            <a:pPr algn="l">
              <a:lnSpc>
                <a:spcPct val="122000"/>
              </a:lnSpc>
              <a:spcAft>
                <a:spcPts val="600"/>
              </a:spcAft>
            </a:pPr>
            <a:r>
              <a:rPr sz="1250" b="0">
                <a:solidFill>
                  <a:srgbClr val="5B6472"/>
                </a:solidFill>
                <a:latin typeface="DM Sans"/>
                <a:cs typeface="DM Sans"/>
              </a:rPr>
              <a:t>•  Visibilidad centralizada limitada de las condiciones en cada sucursal de la red.</a:t>
            </a:r>
          </a:p>
          <a:p>
            <a:pPr algn="l">
              <a:lnSpc>
                <a:spcPct val="122000"/>
              </a:lnSpc>
              <a:spcAft>
                <a:spcPts val="600"/>
              </a:spcAft>
            </a:pPr>
            <a:r>
              <a:rPr sz="1250" b="0">
                <a:solidFill>
                  <a:srgbClr val="5B6472"/>
                </a:solidFill>
                <a:latin typeface="DM Sans"/>
                <a:cs typeface="DM Sans"/>
              </a:rPr>
              <a:t>•  Procesos manuales con baja trazabilidad, que dificultaban el seguimiento de hallazgos y la consolidación de información.</a:t>
            </a:r>
          </a:p>
          <a:p>
            <a:pPr algn="l">
              <a:lnSpc>
                <a:spcPct val="122000"/>
              </a:lnSpc>
              <a:spcAft>
                <a:spcPts val="600"/>
              </a:spcAft>
            </a:pPr>
            <a:r>
              <a:rPr sz="1250" b="0">
                <a:solidFill>
                  <a:srgbClr val="5B6472"/>
                </a:solidFill>
                <a:latin typeface="DM Sans"/>
                <a:cs typeface="DM Sans"/>
              </a:rPr>
              <a:t>•  Dependencia de soporte externo para ajustar los controles de inspección.</a:t>
            </a:r>
          </a:p>
        </p:txBody>
      </p:sp>
      <p:sp>
        <p:nvSpPr>
          <p:cNvPr id="11" name="TextBox 10"/>
          <p:cNvSpPr txBox="1"/>
          <p:nvPr/>
        </p:nvSpPr>
        <p:spPr>
          <a:xfrm>
            <a:off x="7726679" y="5166360"/>
            <a:ext cx="3429000" cy="1051560"/>
          </a:xfrm>
          <a:prstGeom prst="rect">
            <a:avLst/>
          </a:prstGeom>
          <a:noFill/>
        </p:spPr>
        <p:txBody>
          <a:bodyPr wrap="square" anchor="t" lIns="0" rIns="0" tIns="0" bIns="0">
            <a:spAutoFit/>
          </a:bodyPr>
          <a:lstStyle/>
          <a:p>
            <a:pPr algn="l">
              <a:lnSpc>
                <a:spcPct val="122000"/>
              </a:lnSpc>
            </a:pPr>
            <a:r>
              <a:rPr sz="1250" b="1">
                <a:solidFill>
                  <a:srgbClr val="8F4799"/>
                </a:solidFill>
                <a:latin typeface="DM Sans"/>
                <a:cs typeface="DM Sans"/>
              </a:rPr>
              <a:t>Objetivo.  </a:t>
            </a:r>
            <a:r>
              <a:rPr sz="1250" b="0">
                <a:solidFill>
                  <a:srgbClr val="5B6472"/>
                </a:solidFill>
                <a:latin typeface="DM Sans"/>
                <a:cs typeface="DM Sans"/>
              </a:rPr>
              <a:t>Dotar al área de una plataforma flexible y segura, con control en tiempo real sobre toda la red, manteniendo la autonomía del equipo y los estándares de seguridad del sector financiero.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85800"/>
            <a:ext cx="10515600" cy="457200"/>
          </a:xfrm>
          <a:prstGeom prst="rect">
            <a:avLst/>
          </a:prstGeom>
          <a:noFill/>
        </p:spPr>
        <p:txBody>
          <a:bodyPr wrap="square" anchor="t" lIns="0" rIns="0" tIns="0" bIns="0">
            <a:spAutoFit/>
          </a:bodyPr>
          <a:lstStyle/>
          <a:p>
            <a:pPr algn="l">
              <a:lnSpc>
                <a:spcPct val="106000"/>
              </a:lnSpc>
            </a:pPr>
            <a:r>
              <a:rPr sz="1300" b="1">
                <a:solidFill>
                  <a:srgbClr val="8F4799"/>
                </a:solidFill>
                <a:latin typeface="DM Sans"/>
                <a:cs typeface="DM Sans"/>
              </a:rPr>
              <a:t>CASO DE ÉXITO · BANCO FALABELLA</a:t>
            </a:r>
          </a:p>
        </p:txBody>
      </p:sp>
      <p:sp>
        <p:nvSpPr>
          <p:cNvPr id="3" name="TextBox 2"/>
          <p:cNvSpPr txBox="1"/>
          <p:nvPr/>
        </p:nvSpPr>
        <p:spPr>
          <a:xfrm>
            <a:off x="822960" y="1143000"/>
            <a:ext cx="10515600" cy="914400"/>
          </a:xfrm>
          <a:prstGeom prst="rect">
            <a:avLst/>
          </a:prstGeom>
          <a:noFill/>
        </p:spPr>
        <p:txBody>
          <a:bodyPr wrap="square" anchor="t" lIns="0" rIns="0" tIns="0" bIns="0">
            <a:spAutoFit/>
          </a:bodyPr>
          <a:lstStyle/>
          <a:p>
            <a:pPr algn="l">
              <a:lnSpc>
                <a:spcPct val="105000"/>
              </a:lnSpc>
            </a:pPr>
            <a:r>
              <a:rPr sz="2700" b="1">
                <a:solidFill>
                  <a:srgbClr val="0C1E50"/>
                </a:solidFill>
                <a:latin typeface="DM Sans"/>
                <a:cs typeface="DM Sans"/>
              </a:rPr>
              <a:t>Una implementación ágil, autónoma y validada en ciberseguridad</a:t>
            </a:r>
          </a:p>
        </p:txBody>
      </p:sp>
      <p:sp>
        <p:nvSpPr>
          <p:cNvPr id="4" name="Rounded Rectangle 3"/>
          <p:cNvSpPr/>
          <p:nvPr/>
        </p:nvSpPr>
        <p:spPr>
          <a:xfrm>
            <a:off x="82296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4300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uo-shield-check-1537D1-192.png"/>
          <p:cNvPicPr>
            <a:picLocks noChangeAspect="1"/>
          </p:cNvPicPr>
          <p:nvPr/>
        </p:nvPicPr>
        <p:blipFill>
          <a:blip r:embed="rId2"/>
          <a:stretch>
            <a:fillRect/>
          </a:stretch>
        </p:blipFill>
        <p:spPr>
          <a:xfrm>
            <a:off x="1261872" y="2788920"/>
            <a:ext cx="585216" cy="585216"/>
          </a:xfrm>
          <a:prstGeom prst="rect">
            <a:avLst/>
          </a:prstGeom>
        </p:spPr>
      </p:pic>
      <p:sp>
        <p:nvSpPr>
          <p:cNvPr id="7" name="TextBox 6"/>
          <p:cNvSpPr txBox="1"/>
          <p:nvPr/>
        </p:nvSpPr>
        <p:spPr>
          <a:xfrm>
            <a:off x="114300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Autonomía operativa</a:t>
            </a:r>
          </a:p>
        </p:txBody>
      </p:sp>
      <p:sp>
        <p:nvSpPr>
          <p:cNvPr id="8" name="TextBox 7"/>
          <p:cNvSpPr txBox="1"/>
          <p:nvPr/>
        </p:nvSpPr>
        <p:spPr>
          <a:xfrm>
            <a:off x="116128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Configurar y adaptar las listas de verificación de forma independiente, sin depender de soporte externo, con controles específicos por tipo de inspección: cumplimiento normativo, inspección de equipos críticos y seguridad física con acceso restringido.</a:t>
            </a:r>
          </a:p>
        </p:txBody>
      </p:sp>
      <p:sp>
        <p:nvSpPr>
          <p:cNvPr id="9" name="Rounded Rectangle 8"/>
          <p:cNvSpPr/>
          <p:nvPr/>
        </p:nvSpPr>
        <p:spPr>
          <a:xfrm>
            <a:off x="443484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uo-calendar-check-1537D1-192.png"/>
          <p:cNvPicPr>
            <a:picLocks noChangeAspect="1"/>
          </p:cNvPicPr>
          <p:nvPr/>
        </p:nvPicPr>
        <p:blipFill>
          <a:blip r:embed="rId3"/>
          <a:stretch>
            <a:fillRect/>
          </a:stretch>
        </p:blipFill>
        <p:spPr>
          <a:xfrm>
            <a:off x="4873752" y="2788920"/>
            <a:ext cx="585216" cy="585216"/>
          </a:xfrm>
          <a:prstGeom prst="rect">
            <a:avLst/>
          </a:prstGeom>
        </p:spPr>
      </p:pic>
      <p:sp>
        <p:nvSpPr>
          <p:cNvPr id="12" name="TextBox 11"/>
          <p:cNvSpPr txBox="1"/>
          <p:nvPr/>
        </p:nvSpPr>
        <p:spPr>
          <a:xfrm>
            <a:off x="475488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Implementación ágil</a:t>
            </a:r>
          </a:p>
        </p:txBody>
      </p:sp>
      <p:sp>
        <p:nvSpPr>
          <p:cNvPr id="13" name="TextBox 12"/>
          <p:cNvSpPr txBox="1"/>
          <p:nvPr/>
        </p:nvSpPr>
        <p:spPr>
          <a:xfrm>
            <a:off x="477316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Desplegada en cerca de 2 semanas, incluyendo configuración y capacitación, con rápida adopción sin afectar la operación.</a:t>
            </a:r>
          </a:p>
        </p:txBody>
      </p:sp>
      <p:sp>
        <p:nvSpPr>
          <p:cNvPr id="14" name="Rounded Rectangle 13"/>
          <p:cNvSpPr/>
          <p:nvPr/>
        </p:nvSpPr>
        <p:spPr>
          <a:xfrm>
            <a:off x="804672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6676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uo-seal-check-1537D1-192.png"/>
          <p:cNvPicPr>
            <a:picLocks noChangeAspect="1"/>
          </p:cNvPicPr>
          <p:nvPr/>
        </p:nvPicPr>
        <p:blipFill>
          <a:blip r:embed="rId4"/>
          <a:stretch>
            <a:fillRect/>
          </a:stretch>
        </p:blipFill>
        <p:spPr>
          <a:xfrm>
            <a:off x="8485632" y="2788920"/>
            <a:ext cx="585216" cy="585216"/>
          </a:xfrm>
          <a:prstGeom prst="rect">
            <a:avLst/>
          </a:prstGeom>
        </p:spPr>
      </p:pic>
      <p:sp>
        <p:nvSpPr>
          <p:cNvPr id="17" name="TextBox 16"/>
          <p:cNvSpPr txBox="1"/>
          <p:nvPr/>
        </p:nvSpPr>
        <p:spPr>
          <a:xfrm>
            <a:off x="836676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Validación en ciberseguridad</a:t>
            </a:r>
          </a:p>
        </p:txBody>
      </p:sp>
      <p:sp>
        <p:nvSpPr>
          <p:cNvPr id="18" name="TextBox 17"/>
          <p:cNvSpPr txBox="1"/>
          <p:nvPr/>
        </p:nvSpPr>
        <p:spPr>
          <a:xfrm>
            <a:off x="838504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La solución superó los procesos de validación exigidos por el estándar del sector financiero.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sp>
        <p:nvSpPr>
          <p:cNvPr id="2" name="TextBox 1"/>
          <p:cNvSpPr txBox="1"/>
          <p:nvPr/>
        </p:nvSpPr>
        <p:spPr>
          <a:xfrm>
            <a:off x="822960" y="640080"/>
            <a:ext cx="10515600" cy="457200"/>
          </a:xfrm>
          <a:prstGeom prst="rect">
            <a:avLst/>
          </a:prstGeom>
          <a:noFill/>
        </p:spPr>
        <p:txBody>
          <a:bodyPr wrap="square" anchor="t" lIns="0" rIns="0" tIns="0" bIns="0">
            <a:spAutoFit/>
          </a:bodyPr>
          <a:lstStyle/>
          <a:p>
            <a:pPr algn="l">
              <a:lnSpc>
                <a:spcPct val="106000"/>
              </a:lnSpc>
            </a:pPr>
            <a:r>
              <a:rPr sz="1300" b="1">
                <a:solidFill>
                  <a:srgbClr val="B865C1"/>
                </a:solidFill>
                <a:latin typeface="DM Sans"/>
                <a:cs typeface="DM Sans"/>
              </a:rPr>
              <a:t>CASO DE ÉXITO · BANCO FALABELLA</a:t>
            </a:r>
          </a:p>
        </p:txBody>
      </p:sp>
      <p:sp>
        <p:nvSpPr>
          <p:cNvPr id="3" name="TextBox 2"/>
          <p:cNvSpPr txBox="1"/>
          <p:nvPr/>
        </p:nvSpPr>
        <p:spPr>
          <a:xfrm>
            <a:off x="822960" y="1097280"/>
            <a:ext cx="10515600" cy="822960"/>
          </a:xfrm>
          <a:prstGeom prst="rect">
            <a:avLst/>
          </a:prstGeom>
          <a:noFill/>
        </p:spPr>
        <p:txBody>
          <a:bodyPr wrap="square" anchor="t" lIns="0" rIns="0" tIns="0" bIns="0">
            <a:spAutoFit/>
          </a:bodyPr>
          <a:lstStyle/>
          <a:p>
            <a:pPr algn="l">
              <a:lnSpc>
                <a:spcPct val="105000"/>
              </a:lnSpc>
            </a:pPr>
            <a:r>
              <a:rPr sz="2600" b="1">
                <a:solidFill>
                  <a:srgbClr val="FFFFFF"/>
                </a:solidFill>
                <a:latin typeface="DM Sans"/>
                <a:cs typeface="DM Sans"/>
              </a:rPr>
              <a:t>Más control, mejor trazabilidad y decisiones con respaldo</a:t>
            </a:r>
          </a:p>
        </p:txBody>
      </p:sp>
      <p:sp>
        <p:nvSpPr>
          <p:cNvPr id="4" name="Rounded Rectangle 3"/>
          <p:cNvSpPr/>
          <p:nvPr/>
        </p:nvSpPr>
        <p:spPr>
          <a:xfrm>
            <a:off x="82296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80</a:t>
            </a:r>
          </a:p>
        </p:txBody>
      </p:sp>
      <p:sp>
        <p:nvSpPr>
          <p:cNvPr id="6" name="TextBox 5"/>
          <p:cNvSpPr txBox="1"/>
          <p:nvPr/>
        </p:nvSpPr>
        <p:spPr>
          <a:xfrm>
            <a:off x="111556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sucursales bajo control centralizado</a:t>
            </a:r>
          </a:p>
        </p:txBody>
      </p:sp>
      <p:sp>
        <p:nvSpPr>
          <p:cNvPr id="7" name="Rounded Rectangle 6"/>
          <p:cNvSpPr/>
          <p:nvPr/>
        </p:nvSpPr>
        <p:spPr>
          <a:xfrm>
            <a:off x="443484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~2 sem</a:t>
            </a:r>
          </a:p>
        </p:txBody>
      </p:sp>
      <p:sp>
        <p:nvSpPr>
          <p:cNvPr id="9" name="TextBox 8"/>
          <p:cNvSpPr txBox="1"/>
          <p:nvPr/>
        </p:nvSpPr>
        <p:spPr>
          <a:xfrm>
            <a:off x="472744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de implementación y capacitación</a:t>
            </a:r>
          </a:p>
        </p:txBody>
      </p:sp>
      <p:sp>
        <p:nvSpPr>
          <p:cNvPr id="10" name="Rounded Rectangle 9"/>
          <p:cNvSpPr/>
          <p:nvPr/>
        </p:nvSpPr>
        <p:spPr>
          <a:xfrm>
            <a:off x="804672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100%</a:t>
            </a:r>
          </a:p>
        </p:txBody>
      </p:sp>
      <p:sp>
        <p:nvSpPr>
          <p:cNvPr id="12" name="TextBox 11"/>
          <p:cNvSpPr txBox="1"/>
          <p:nvPr/>
        </p:nvSpPr>
        <p:spPr>
          <a:xfrm>
            <a:off x="833932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validación de ciberseguridad superada</a:t>
            </a:r>
          </a:p>
        </p:txBody>
      </p:sp>
      <p:sp>
        <p:nvSpPr>
          <p:cNvPr id="13" name="TextBox 12"/>
          <p:cNvSpPr txBox="1"/>
          <p:nvPr/>
        </p:nvSpPr>
        <p:spPr>
          <a:xfrm>
            <a:off x="822960" y="4114800"/>
            <a:ext cx="6126480" cy="2103120"/>
          </a:xfrm>
          <a:prstGeom prst="rect">
            <a:avLst/>
          </a:prstGeom>
          <a:noFill/>
        </p:spPr>
        <p:txBody>
          <a:bodyPr wrap="square" anchor="t" lIns="0" rIns="0" tIns="0" bIns="0">
            <a:spAutoFit/>
          </a:bodyPr>
          <a:lstStyle/>
          <a:p>
            <a:pPr algn="l">
              <a:lnSpc>
                <a:spcPct val="130000"/>
              </a:lnSpc>
              <a:spcAft>
                <a:spcPts val="500"/>
              </a:spcAft>
            </a:pPr>
            <a:r>
              <a:rPr sz="1300" b="0">
                <a:solidFill>
                  <a:srgbClr val="E4EAF6"/>
                </a:solidFill>
                <a:latin typeface="DM Sans"/>
                <a:cs typeface="DM Sans"/>
              </a:rPr>
              <a:t>•  Mayor control y visibilidad sobre la operación en sucursales.</a:t>
            </a:r>
          </a:p>
          <a:p>
            <a:pPr algn="l">
              <a:lnSpc>
                <a:spcPct val="130000"/>
              </a:lnSpc>
              <a:spcAft>
                <a:spcPts val="500"/>
              </a:spcAft>
            </a:pPr>
            <a:r>
              <a:rPr sz="1300" b="0">
                <a:solidFill>
                  <a:srgbClr val="E4EAF6"/>
                </a:solidFill>
                <a:latin typeface="DM Sans"/>
                <a:cs typeface="DM Sans"/>
              </a:rPr>
              <a:t>•  Mejor trazabilidad y seguimiento de hallazgos.</a:t>
            </a:r>
          </a:p>
          <a:p>
            <a:pPr algn="l">
              <a:lnSpc>
                <a:spcPct val="130000"/>
              </a:lnSpc>
              <a:spcAft>
                <a:spcPts val="500"/>
              </a:spcAft>
            </a:pPr>
            <a:r>
              <a:rPr sz="1300" b="0">
                <a:solidFill>
                  <a:srgbClr val="E4EAF6"/>
                </a:solidFill>
                <a:latin typeface="DM Sans"/>
                <a:cs typeface="DM Sans"/>
              </a:rPr>
              <a:t>•  Información consolidada para la toma de decisiones.</a:t>
            </a:r>
          </a:p>
          <a:p>
            <a:pPr algn="l">
              <a:lnSpc>
                <a:spcPct val="130000"/>
              </a:lnSpc>
              <a:spcAft>
                <a:spcPts val="500"/>
              </a:spcAft>
            </a:pPr>
            <a:r>
              <a:rPr sz="1300" b="0">
                <a:solidFill>
                  <a:srgbClr val="E4EAF6"/>
                </a:solidFill>
                <a:latin typeface="DM Sans"/>
                <a:cs typeface="DM Sans"/>
              </a:rPr>
              <a:t>•  Fortalecimiento del rol estratégico del área de prevención.</a:t>
            </a:r>
          </a:p>
        </p:txBody>
      </p:sp>
      <p:sp>
        <p:nvSpPr>
          <p:cNvPr id="14" name="Rounded Rectangle 13"/>
          <p:cNvSpPr/>
          <p:nvPr/>
        </p:nvSpPr>
        <p:spPr>
          <a:xfrm>
            <a:off x="7223760" y="4114800"/>
            <a:ext cx="4160520" cy="2148840"/>
          </a:xfrm>
          <a:prstGeom prst="roundRect">
            <a:avLst>
              <a:gd name="adj" fmla="val 5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43400"/>
            <a:ext cx="3611880" cy="457200"/>
          </a:xfrm>
          <a:prstGeom prst="rect">
            <a:avLst/>
          </a:prstGeom>
          <a:noFill/>
        </p:spPr>
        <p:txBody>
          <a:bodyPr wrap="square" anchor="t" lIns="0" rIns="0" tIns="0" bIns="0">
            <a:spAutoFit/>
          </a:bodyPr>
          <a:lstStyle/>
          <a:p>
            <a:pPr algn="l">
              <a:lnSpc>
                <a:spcPct val="106000"/>
              </a:lnSpc>
            </a:pPr>
            <a:r>
              <a:rPr sz="1400" b="1">
                <a:solidFill>
                  <a:srgbClr val="B865C1"/>
                </a:solidFill>
                <a:latin typeface="DM Sans"/>
                <a:cs typeface="DM Sans"/>
              </a:rPr>
              <a:t>Impacto organizacional</a:t>
            </a:r>
          </a:p>
        </p:txBody>
      </p:sp>
      <p:sp>
        <p:nvSpPr>
          <p:cNvPr id="16" name="TextBox 15"/>
          <p:cNvSpPr txBox="1"/>
          <p:nvPr/>
        </p:nvSpPr>
        <p:spPr>
          <a:xfrm>
            <a:off x="7498079" y="4846320"/>
            <a:ext cx="3611880" cy="1280160"/>
          </a:xfrm>
          <a:prstGeom prst="rect">
            <a:avLst/>
          </a:prstGeom>
          <a:noFill/>
        </p:spPr>
        <p:txBody>
          <a:bodyPr wrap="square" anchor="t" lIns="0" rIns="0" tIns="0" bIns="0">
            <a:spAutoFit/>
          </a:bodyPr>
          <a:lstStyle/>
          <a:p>
            <a:pPr algn="l">
              <a:lnSpc>
                <a:spcPct val="122000"/>
              </a:lnSpc>
            </a:pPr>
            <a:r>
              <a:rPr sz="1200" b="0">
                <a:solidFill>
                  <a:srgbClr val="D7E0F0"/>
                </a:solidFill>
                <a:latin typeface="DM Sans"/>
                <a:cs typeface="DM Sans"/>
              </a:rPr>
              <a:t>El área de prevención evolucionó de una función operativa a un actor relevante en la toma de decisiones, respaldado por información confiable y oportuna.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tazki-wordmark-blanco.png"/>
          <p:cNvPicPr>
            <a:picLocks noChangeAspect="1"/>
          </p:cNvPicPr>
          <p:nvPr/>
        </p:nvPicPr>
        <p:blipFill>
          <a:blip r:embed="rId2"/>
          <a:stretch>
            <a:fillRect/>
          </a:stretch>
        </p:blipFill>
        <p:spPr>
          <a:xfrm>
            <a:off x="822960" y="731520"/>
            <a:ext cx="2194560" cy="807285"/>
          </a:xfrm>
          <a:prstGeom prst="rect">
            <a:avLst/>
          </a:prstGeom>
        </p:spPr>
      </p:pic>
      <p:sp>
        <p:nvSpPr>
          <p:cNvPr id="3" name="TextBox 2"/>
          <p:cNvSpPr txBox="1"/>
          <p:nvPr/>
        </p:nvSpPr>
        <p:spPr>
          <a:xfrm>
            <a:off x="822960" y="1828800"/>
            <a:ext cx="10515600" cy="1371600"/>
          </a:xfrm>
          <a:prstGeom prst="rect">
            <a:avLst/>
          </a:prstGeom>
          <a:noFill/>
        </p:spPr>
        <p:txBody>
          <a:bodyPr wrap="square" anchor="t" lIns="0" rIns="0" tIns="0" bIns="0">
            <a:spAutoFit/>
          </a:bodyPr>
          <a:lstStyle/>
          <a:p>
            <a:pPr algn="l">
              <a:lnSpc>
                <a:spcPct val="100000"/>
              </a:lnSpc>
            </a:pPr>
            <a:r>
              <a:rPr sz="4400" b="1">
                <a:solidFill>
                  <a:srgbClr val="FFFFFF"/>
                </a:solidFill>
                <a:latin typeface="DM Sans"/>
                <a:cs typeface="DM Sans"/>
              </a:rPr>
              <a:t>Demos el primer paso</a:t>
            </a:r>
          </a:p>
          <a:p>
            <a:pPr algn="l">
              <a:lnSpc>
                <a:spcPct val="100000"/>
              </a:lnSpc>
            </a:pPr>
            <a:r>
              <a:rPr sz="4400" b="1">
                <a:solidFill>
                  <a:srgbClr val="FFFFFF"/>
                </a:solidFill>
                <a:latin typeface="DM Sans"/>
                <a:cs typeface="DM Sans"/>
              </a:rPr>
              <a:t>hacia una prevención al día.</a:t>
            </a:r>
          </a:p>
        </p:txBody>
      </p:sp>
      <p:sp>
        <p:nvSpPr>
          <p:cNvPr id="4" name="TextBox 3"/>
          <p:cNvSpPr txBox="1"/>
          <p:nvPr/>
        </p:nvSpPr>
        <p:spPr>
          <a:xfrm>
            <a:off x="82296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28.423</a:t>
            </a:r>
          </a:p>
        </p:txBody>
      </p:sp>
      <p:sp>
        <p:nvSpPr>
          <p:cNvPr id="5" name="TextBox 4"/>
          <p:cNvSpPr txBox="1"/>
          <p:nvPr/>
        </p:nvSpPr>
        <p:spPr>
          <a:xfrm>
            <a:off x="84124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horas hombre devueltas a terreno</a:t>
            </a:r>
          </a:p>
        </p:txBody>
      </p:sp>
      <p:sp>
        <p:nvSpPr>
          <p:cNvPr id="6" name="TextBox 5"/>
          <p:cNvSpPr txBox="1"/>
          <p:nvPr/>
        </p:nvSpPr>
        <p:spPr>
          <a:xfrm>
            <a:off x="443484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210.393</a:t>
            </a:r>
          </a:p>
        </p:txBody>
      </p:sp>
      <p:sp>
        <p:nvSpPr>
          <p:cNvPr id="7" name="TextBox 6"/>
          <p:cNvSpPr txBox="1"/>
          <p:nvPr/>
        </p:nvSpPr>
        <p:spPr>
          <a:xfrm>
            <a:off x="445312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EPP entregados con firma digital</a:t>
            </a:r>
          </a:p>
        </p:txBody>
      </p:sp>
      <p:sp>
        <p:nvSpPr>
          <p:cNvPr id="8" name="TextBox 7"/>
          <p:cNvSpPr txBox="1"/>
          <p:nvPr/>
        </p:nvSpPr>
        <p:spPr>
          <a:xfrm>
            <a:off x="804672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+150</a:t>
            </a:r>
          </a:p>
        </p:txBody>
      </p:sp>
      <p:sp>
        <p:nvSpPr>
          <p:cNvPr id="9" name="TextBox 8"/>
          <p:cNvSpPr txBox="1"/>
          <p:nvPr/>
        </p:nvSpPr>
        <p:spPr>
          <a:xfrm>
            <a:off x="806500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empresas confían en Tazki</a:t>
            </a:r>
          </a:p>
        </p:txBody>
      </p:sp>
      <p:sp>
        <p:nvSpPr>
          <p:cNvPr id="10" name="Rounded Rectangle 9"/>
          <p:cNvSpPr/>
          <p:nvPr/>
        </p:nvSpPr>
        <p:spPr>
          <a:xfrm>
            <a:off x="822960" y="5577840"/>
            <a:ext cx="2286000" cy="713232"/>
          </a:xfrm>
          <a:prstGeom prst="roundRect">
            <a:avLst>
              <a:gd name="adj" fmla="val 50000"/>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577840"/>
            <a:ext cx="2286000" cy="713232"/>
          </a:xfrm>
          <a:prstGeom prst="rect">
            <a:avLst/>
          </a:prstGeom>
          <a:noFill/>
        </p:spPr>
        <p:txBody>
          <a:bodyPr wrap="square" anchor="ctr" lIns="0" rIns="0" tIns="0" bIns="0">
            <a:spAutoFit/>
          </a:bodyPr>
          <a:lstStyle/>
          <a:p>
            <a:pPr algn="ctr">
              <a:lnSpc>
                <a:spcPct val="106000"/>
              </a:lnSpc>
            </a:pPr>
            <a:r>
              <a:rPr sz="1600" b="1">
                <a:solidFill>
                  <a:srgbClr val="FFFFFF"/>
                </a:solidFill>
                <a:latin typeface="DM Sans"/>
                <a:cs typeface="DM Sans"/>
              </a:rPr>
              <a:t>Conversemos</a:t>
            </a:r>
          </a:p>
        </p:txBody>
      </p:sp>
      <p:sp>
        <p:nvSpPr>
          <p:cNvPr id="12" name="TextBox 11"/>
          <p:cNvSpPr txBox="1"/>
          <p:nvPr/>
        </p:nvSpPr>
        <p:spPr>
          <a:xfrm>
            <a:off x="3291840" y="5577840"/>
            <a:ext cx="5486400" cy="713232"/>
          </a:xfrm>
          <a:prstGeom prst="rect">
            <a:avLst/>
          </a:prstGeom>
          <a:noFill/>
        </p:spPr>
        <p:txBody>
          <a:bodyPr wrap="square" anchor="ctr" lIns="0" rIns="0" tIns="0" bIns="0">
            <a:spAutoFit/>
          </a:bodyPr>
          <a:lstStyle/>
          <a:p>
            <a:pPr algn="l">
              <a:lnSpc>
                <a:spcPct val="106000"/>
              </a:lnSpc>
            </a:pPr>
            <a:r>
              <a:rPr sz="1700" b="0">
                <a:solidFill>
                  <a:srgbClr val="A2D6F9"/>
                </a:solidFill>
                <a:latin typeface="DM Sans"/>
                <a:cs typeface="DM Sans"/>
              </a:rPr>
              <a:t>tazki.cl/contactanos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