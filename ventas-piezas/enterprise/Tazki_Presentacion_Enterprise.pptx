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77" r:id="rId29"/>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Portada · ICP ENTERPRISE CONTROLADO. Foco: Centralizar la red y blindar Ley Karin. Hero reemplazable.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Prueba social al inicio: logos reales de clientes de este ICP. Editable.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Tres dolores principales (situaciones frecuentes, no diagnóstico cerrado). Imagen y copy editables.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Ventajas: cómo ayuda el software. La 4a card se adapta al foco del ICP.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Transición a los módulos.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Módulo: Inducciones. [Captura del software] Reemplazable. Reordenable.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Módulo: Hallazgos. [Clave para este ICP] [Flujo animado del software] Reemplazable. Reordenable.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Módulo: Capacitaciones. [Captura del software] Reemplazable. Reordenable.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Módulo: Inspecciones. [Clave para este ICP] [Flujo animado del software] Reemplazable. Reordenable.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Módulo: Contratistas. [Flujo animado del software] Reemplazable. Reordenable.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Módulo: EPP. [Flujo animado del software] Reemplazable. Reordenable.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Módulo: ART / AST. [Flujo animado del software] Reemplazable. Reordenable.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Módulo: MIPER. [Flujo animado del software] Reemplazable. Reordenable.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Módulo: Investigación de accidentes. [Flujo animado del software] Reemplazable. Reordenable.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Módulo: Programa de gestión. [Clave para este ICP] [Flujo animado del software] Reemplazable. Reordenable.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Módulo: Comité Paritario. [Clave para este ICP] [Captura del software] Reemplazable. Reordenable.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Módulo: Insumos y Maquinaria. [Flujo animado del software] Reemplazable. Reordenable.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Banco Falabella — contexto y desafío.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Banco Falabella — solución.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 Banco Falabella — resultados.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Cierre/CTA.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20.png"/><Relationship Id="rId11" Type="http://schemas.openxmlformats.org/officeDocument/2006/relationships/image" Target="../media/image21.png"/><Relationship Id="rId12" Type="http://schemas.openxmlformats.org/officeDocument/2006/relationships/image" Target="../media/image22.png"/><Relationship Id="rId13" Type="http://schemas.openxmlformats.org/officeDocument/2006/relationships/image" Target="../media/image23.png"/><Relationship Id="rId14" Type="http://schemas.openxmlformats.org/officeDocument/2006/relationships/image" Target="../media/image24.png"/><Relationship Id="rId1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gif"/><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gif"/><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gif"/><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gif"/><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gif"/><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0.gif"/><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gif"/><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4.gif"/><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gif"/><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E50"/>
        </a:solidFill>
        <a:effectLst/>
      </p:bgPr>
    </p:bg>
    <p:spTree>
      <p:nvGrpSpPr>
        <p:cNvPr id="1" name=""/>
        <p:cNvGrpSpPr/>
        <p:nvPr/>
      </p:nvGrpSpPr>
      <p:grpSpPr/>
      <p:pic>
        <p:nvPicPr>
          <p:cNvPr id="2" name="Picture 1" descr="cover_enterprise.jpg"/>
          <p:cNvPicPr>
            <a:picLocks noChangeAspect="1"/>
          </p:cNvPicPr>
          <p:nvPr/>
        </p:nvPicPr>
        <p:blipFill>
          <a:blip r:embed="rId2"/>
          <a:stretch>
            <a:fillRect/>
          </a:stretch>
        </p:blipFill>
        <p:spPr>
          <a:xfrm>
            <a:off x="0" y="0"/>
            <a:ext cx="12191695" cy="6858000"/>
          </a:xfrm>
          <a:prstGeom prst="rect">
            <a:avLst/>
          </a:prstGeom>
        </p:spPr>
      </p:pic>
      <p:pic>
        <p:nvPicPr>
          <p:cNvPr id="3" name="Picture 2" descr="tazki-wordmark-blanco.png"/>
          <p:cNvPicPr>
            <a:picLocks noChangeAspect="1"/>
          </p:cNvPicPr>
          <p:nvPr/>
        </p:nvPicPr>
        <p:blipFill>
          <a:blip r:embed="rId3"/>
          <a:stretch>
            <a:fillRect/>
          </a:stretch>
        </p:blipFill>
        <p:spPr>
          <a:xfrm>
            <a:off x="822960" y="640080"/>
            <a:ext cx="2377440" cy="874558"/>
          </a:xfrm>
          <a:prstGeom prst="rect">
            <a:avLst/>
          </a:prstGeom>
        </p:spPr>
      </p:pic>
      <p:sp>
        <p:nvSpPr>
          <p:cNvPr id="4" name="TextBox 3"/>
          <p:cNvSpPr txBox="1"/>
          <p:nvPr/>
        </p:nvSpPr>
        <p:spPr>
          <a:xfrm>
            <a:off x="822960" y="2697480"/>
            <a:ext cx="7589520" cy="1828800"/>
          </a:xfrm>
          <a:prstGeom prst="rect">
            <a:avLst/>
          </a:prstGeom>
          <a:noFill/>
        </p:spPr>
        <p:txBody>
          <a:bodyPr wrap="square" anchor="t" lIns="0" rIns="0" tIns="0" bIns="0">
            <a:spAutoFit/>
          </a:bodyPr>
          <a:lstStyle/>
          <a:p>
            <a:pPr algn="l">
              <a:lnSpc>
                <a:spcPct val="102000"/>
              </a:lnSpc>
            </a:pPr>
            <a:r>
              <a:rPr sz="3700" b="1">
                <a:solidFill>
                  <a:srgbClr val="FFFFFF"/>
                </a:solidFill>
                <a:latin typeface="DM Sans"/>
                <a:cs typeface="DM Sans"/>
              </a:rPr>
              <a:t>Centraliza la prevención</a:t>
            </a:r>
          </a:p>
          <a:p>
            <a:pPr algn="l">
              <a:lnSpc>
                <a:spcPct val="102000"/>
              </a:lnSpc>
            </a:pPr>
            <a:r>
              <a:rPr sz="3700" b="1">
                <a:solidFill>
                  <a:srgbClr val="FFFFFF"/>
                </a:solidFill>
                <a:latin typeface="DM Sans"/>
                <a:cs typeface="DM Sans"/>
              </a:rPr>
              <a:t>de toda tu red.</a:t>
            </a:r>
          </a:p>
        </p:txBody>
      </p:sp>
      <p:sp>
        <p:nvSpPr>
          <p:cNvPr id="5" name="TextBox 4"/>
          <p:cNvSpPr txBox="1"/>
          <p:nvPr/>
        </p:nvSpPr>
        <p:spPr>
          <a:xfrm>
            <a:off x="841248" y="4160520"/>
            <a:ext cx="7040880" cy="914400"/>
          </a:xfrm>
          <a:prstGeom prst="rect">
            <a:avLst/>
          </a:prstGeom>
          <a:noFill/>
        </p:spPr>
        <p:txBody>
          <a:bodyPr wrap="square" anchor="t" lIns="0" rIns="0" tIns="0" bIns="0">
            <a:spAutoFit/>
          </a:bodyPr>
          <a:lstStyle/>
          <a:p>
            <a:pPr algn="l">
              <a:lnSpc>
                <a:spcPct val="116000"/>
              </a:lnSpc>
            </a:pPr>
            <a:r>
              <a:rPr sz="1500" b="0">
                <a:solidFill>
                  <a:srgbClr val="DDE6F5"/>
                </a:solidFill>
                <a:latin typeface="DM Sans"/>
                <a:cs typeface="DM Sans"/>
              </a:rPr>
              <a:t>Control en tiempo real sobre una red distribuida: inspecciones, hallazgos y normativa administrativa, todo en una sola plataforma.</a:t>
            </a:r>
          </a:p>
        </p:txBody>
      </p:sp>
      <p:sp>
        <p:nvSpPr>
          <p:cNvPr id="6" name="Rectangle 5"/>
          <p:cNvSpPr/>
          <p:nvPr/>
        </p:nvSpPr>
        <p:spPr>
          <a:xfrm>
            <a:off x="0" y="6245352"/>
            <a:ext cx="12191695" cy="612648"/>
          </a:xfrm>
          <a:prstGeom prst="rect">
            <a:avLst/>
          </a:prstGeom>
          <a:solidFill>
            <a:srgbClr val="153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6245352"/>
            <a:ext cx="7315200" cy="612648"/>
          </a:xfrm>
          <a:prstGeom prst="rect">
            <a:avLst/>
          </a:prstGeom>
          <a:noFill/>
        </p:spPr>
        <p:txBody>
          <a:bodyPr wrap="square" anchor="ctr" lIns="0" rIns="0" tIns="0" bIns="0">
            <a:spAutoFit/>
          </a:bodyPr>
          <a:lstStyle/>
          <a:p>
            <a:pPr algn="l">
              <a:lnSpc>
                <a:spcPct val="106000"/>
              </a:lnSpc>
            </a:pPr>
            <a:r>
              <a:rPr sz="1500" b="1">
                <a:solidFill>
                  <a:srgbClr val="FFFFFF"/>
                </a:solidFill>
                <a:latin typeface="DM Sans"/>
                <a:cs typeface="DM Sans"/>
              </a:rPr>
              <a:t>+150 empresas confían en Tazki</a:t>
            </a:r>
          </a:p>
        </p:txBody>
      </p:sp>
      <p:sp>
        <p:nvSpPr>
          <p:cNvPr id="8" name="TextBox 7"/>
          <p:cNvSpPr txBox="1"/>
          <p:nvPr/>
        </p:nvSpPr>
        <p:spPr>
          <a:xfrm>
            <a:off x="7680960" y="6245352"/>
            <a:ext cx="3703320" cy="612648"/>
          </a:xfrm>
          <a:prstGeom prst="rect">
            <a:avLst/>
          </a:prstGeom>
          <a:noFill/>
        </p:spPr>
        <p:txBody>
          <a:bodyPr wrap="square" anchor="ctr" lIns="0" rIns="0" tIns="0" bIns="0">
            <a:spAutoFit/>
          </a:bodyPr>
          <a:lstStyle/>
          <a:p>
            <a:pPr algn="r">
              <a:lnSpc>
                <a:spcPct val="106000"/>
              </a:lnSpc>
            </a:pPr>
            <a:r>
              <a:rPr sz="1200" b="0">
                <a:solidFill>
                  <a:srgbClr val="CFE0FA"/>
                </a:solidFill>
                <a:latin typeface="DM Sans"/>
                <a:cs typeface="DM Sans"/>
              </a:rPr>
              <a:t>Retail · Banca · Servicios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15600" cy="548640"/>
          </a:xfrm>
          <a:prstGeom prst="rect">
            <a:avLst/>
          </a:prstGeom>
          <a:noFill/>
        </p:spPr>
        <p:txBody>
          <a:bodyPr wrap="square" anchor="t" lIns="0" rIns="0" tIns="0" bIns="0">
            <a:spAutoFit/>
          </a:bodyPr>
          <a:lstStyle/>
          <a:p>
            <a:pPr algn="l">
              <a:lnSpc>
                <a:spcPct val="106000"/>
              </a:lnSpc>
            </a:pPr>
            <a:r>
              <a:rPr sz="3000" b="1">
                <a:solidFill>
                  <a:srgbClr val="0C1E50"/>
                </a:solidFill>
                <a:latin typeface="DM Sans"/>
                <a:cs typeface="DM Sans"/>
              </a:rPr>
              <a:t>Empresas que ya confían en Tazki</a:t>
            </a:r>
          </a:p>
        </p:txBody>
      </p:sp>
      <p:sp>
        <p:nvSpPr>
          <p:cNvPr id="3" name="TextBox 2"/>
          <p:cNvSpPr txBox="1"/>
          <p:nvPr/>
        </p:nvSpPr>
        <p:spPr>
          <a:xfrm>
            <a:off x="841248" y="1371600"/>
            <a:ext cx="10058400" cy="457200"/>
          </a:xfrm>
          <a:prstGeom prst="rect">
            <a:avLst/>
          </a:prstGeom>
          <a:noFill/>
        </p:spPr>
        <p:txBody>
          <a:bodyPr wrap="square" anchor="t" lIns="0" rIns="0" tIns="0" bIns="0">
            <a:spAutoFit/>
          </a:bodyPr>
          <a:lstStyle/>
          <a:p>
            <a:pPr algn="l">
              <a:lnSpc>
                <a:spcPct val="106000"/>
              </a:lnSpc>
            </a:pPr>
            <a:r>
              <a:rPr sz="1450" b="0">
                <a:solidFill>
                  <a:srgbClr val="5B6472"/>
                </a:solidFill>
                <a:latin typeface="DM Sans"/>
                <a:cs typeface="DM Sans"/>
              </a:rPr>
              <a:t>Operaciones de retail · banca · servicios que ya digitalizaron su prevención con nosotros.</a:t>
            </a:r>
          </a:p>
        </p:txBody>
      </p:sp>
      <p:pic>
        <p:nvPicPr>
          <p:cNvPr id="4" name="Picture 3" descr="wall_enterprise.png"/>
          <p:cNvPicPr>
            <a:picLocks noChangeAspect="1"/>
          </p:cNvPicPr>
          <p:nvPr/>
        </p:nvPicPr>
        <p:blipFill>
          <a:blip r:embed="rId2"/>
          <a:stretch>
            <a:fillRect/>
          </a:stretch>
        </p:blipFill>
        <p:spPr>
          <a:xfrm>
            <a:off x="1097280" y="3143586"/>
            <a:ext cx="9966960" cy="2125307"/>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_scov_25434.jpg"/>
          <p:cNvPicPr>
            <a:picLocks noChangeAspect="1"/>
          </p:cNvPicPr>
          <p:nvPr/>
        </p:nvPicPr>
        <p:blipFill>
          <a:blip r:embed="rId2"/>
          <a:stretch>
            <a:fillRect/>
          </a:stretch>
        </p:blipFill>
        <p:spPr>
          <a:xfrm>
            <a:off x="0" y="0"/>
            <a:ext cx="12191695" cy="2148840"/>
          </a:xfrm>
          <a:prstGeom prst="rect">
            <a:avLst/>
          </a:prstGeom>
        </p:spPr>
      </p:pic>
      <p:sp>
        <p:nvSpPr>
          <p:cNvPr id="3" name="TextBox 2"/>
          <p:cNvSpPr txBox="1"/>
          <p:nvPr/>
        </p:nvSpPr>
        <p:spPr>
          <a:xfrm>
            <a:off x="822960" y="1005840"/>
            <a:ext cx="8229600" cy="365760"/>
          </a:xfrm>
          <a:prstGeom prst="rect">
            <a:avLst/>
          </a:prstGeom>
          <a:noFill/>
        </p:spPr>
        <p:txBody>
          <a:bodyPr wrap="square" anchor="t" lIns="0" rIns="0" tIns="0" bIns="0">
            <a:spAutoFit/>
          </a:bodyPr>
          <a:lstStyle/>
          <a:p>
            <a:pPr algn="l">
              <a:lnSpc>
                <a:spcPct val="106000"/>
              </a:lnSpc>
            </a:pPr>
            <a:r>
              <a:rPr sz="1250" b="1">
                <a:solidFill>
                  <a:srgbClr val="CFE0FA"/>
                </a:solidFill>
                <a:latin typeface="DM Sans"/>
                <a:cs typeface="DM Sans"/>
              </a:rPr>
              <a:t>LO QUE HOY TE COMPLICA</a:t>
            </a:r>
          </a:p>
        </p:txBody>
      </p:sp>
      <p:sp>
        <p:nvSpPr>
          <p:cNvPr id="4" name="TextBox 3"/>
          <p:cNvSpPr txBox="1"/>
          <p:nvPr/>
        </p:nvSpPr>
        <p:spPr>
          <a:xfrm>
            <a:off x="822960" y="1325880"/>
            <a:ext cx="9601200" cy="640080"/>
          </a:xfrm>
          <a:prstGeom prst="rect">
            <a:avLst/>
          </a:prstGeom>
          <a:noFill/>
        </p:spPr>
        <p:txBody>
          <a:bodyPr wrap="square" anchor="t" lIns="0" rIns="0" tIns="0" bIns="0">
            <a:spAutoFit/>
          </a:bodyPr>
          <a:lstStyle/>
          <a:p>
            <a:pPr algn="l">
              <a:lnSpc>
                <a:spcPct val="106000"/>
              </a:lnSpc>
            </a:pPr>
            <a:r>
              <a:rPr sz="2600" b="1">
                <a:solidFill>
                  <a:srgbClr val="FFFFFF"/>
                </a:solidFill>
                <a:latin typeface="DM Sans"/>
                <a:cs typeface="DM Sans"/>
              </a:rPr>
              <a:t>Tres cosas que le pasan a casi todas las operaciones.</a:t>
            </a:r>
          </a:p>
        </p:txBody>
      </p:sp>
      <p:sp>
        <p:nvSpPr>
          <p:cNvPr id="5" name="Rounded Rectangle 4"/>
          <p:cNvSpPr/>
          <p:nvPr/>
        </p:nvSpPr>
        <p:spPr>
          <a:xfrm>
            <a:off x="822960" y="2514600"/>
            <a:ext cx="3429000" cy="3520440"/>
          </a:xfrm>
          <a:prstGeom prst="roundRect">
            <a:avLst>
              <a:gd name="adj" fmla="val 5000"/>
            </a:avLst>
          </a:prstGeom>
          <a:solidFill>
            <a:srgbClr val="F4F6FB"/>
          </a:solidFill>
          <a:ln w="12700">
            <a:solidFill>
              <a:srgbClr val="E2E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143000" y="2880360"/>
            <a:ext cx="868680" cy="86868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uo-buildings-8F4799-195.png"/>
          <p:cNvPicPr>
            <a:picLocks noChangeAspect="1"/>
          </p:cNvPicPr>
          <p:nvPr/>
        </p:nvPicPr>
        <p:blipFill>
          <a:blip r:embed="rId3"/>
          <a:stretch>
            <a:fillRect/>
          </a:stretch>
        </p:blipFill>
        <p:spPr>
          <a:xfrm>
            <a:off x="1280160" y="3017520"/>
            <a:ext cx="594360" cy="594360"/>
          </a:xfrm>
          <a:prstGeom prst="rect">
            <a:avLst/>
          </a:prstGeom>
        </p:spPr>
      </p:pic>
      <p:sp>
        <p:nvSpPr>
          <p:cNvPr id="8" name="TextBox 7"/>
          <p:cNvSpPr txBox="1"/>
          <p:nvPr/>
        </p:nvSpPr>
        <p:spPr>
          <a:xfrm>
            <a:off x="1143000" y="3931920"/>
            <a:ext cx="2788920" cy="914400"/>
          </a:xfrm>
          <a:prstGeom prst="rect">
            <a:avLst/>
          </a:prstGeom>
          <a:noFill/>
        </p:spPr>
        <p:txBody>
          <a:bodyPr wrap="square" anchor="t" lIns="0" rIns="0" tIns="0" bIns="0">
            <a:spAutoFit/>
          </a:bodyPr>
          <a:lstStyle/>
          <a:p>
            <a:pPr algn="l">
              <a:lnSpc>
                <a:spcPct val="104000"/>
              </a:lnSpc>
            </a:pPr>
            <a:r>
              <a:rPr sz="1550" b="1">
                <a:solidFill>
                  <a:srgbClr val="0C1E50"/>
                </a:solidFill>
                <a:latin typeface="DM Sans"/>
                <a:cs typeface="DM Sans"/>
              </a:rPr>
              <a:t>Cada sucursal es un mundo aparte</a:t>
            </a:r>
          </a:p>
        </p:txBody>
      </p:sp>
      <p:sp>
        <p:nvSpPr>
          <p:cNvPr id="9" name="TextBox 8"/>
          <p:cNvSpPr txBox="1"/>
          <p:nvPr/>
        </p:nvSpPr>
        <p:spPr>
          <a:xfrm>
            <a:off x="1161288" y="4910328"/>
            <a:ext cx="2770632" cy="1005840"/>
          </a:xfrm>
          <a:prstGeom prst="rect">
            <a:avLst/>
          </a:prstGeom>
          <a:noFill/>
        </p:spPr>
        <p:txBody>
          <a:bodyPr wrap="square" anchor="t" lIns="0" rIns="0" tIns="0" bIns="0">
            <a:spAutoFit/>
          </a:bodyPr>
          <a:lstStyle/>
          <a:p>
            <a:pPr algn="l">
              <a:lnSpc>
                <a:spcPct val="124000"/>
              </a:lnSpc>
            </a:pPr>
            <a:r>
              <a:rPr sz="1150" b="0">
                <a:solidFill>
                  <a:srgbClr val="5B6472"/>
                </a:solidFill>
                <a:latin typeface="DM Sans"/>
                <a:cs typeface="DM Sans"/>
              </a:rPr>
              <a:t>Con la red repartida en muchos locales, saber qué está al día en cada punto, en el momento, se hace difícil.</a:t>
            </a:r>
          </a:p>
        </p:txBody>
      </p:sp>
      <p:sp>
        <p:nvSpPr>
          <p:cNvPr id="10" name="Rounded Rectangle 9"/>
          <p:cNvSpPr/>
          <p:nvPr/>
        </p:nvSpPr>
        <p:spPr>
          <a:xfrm>
            <a:off x="4434840" y="2514600"/>
            <a:ext cx="3429000" cy="3520440"/>
          </a:xfrm>
          <a:prstGeom prst="roundRect">
            <a:avLst>
              <a:gd name="adj" fmla="val 5000"/>
            </a:avLst>
          </a:prstGeom>
          <a:solidFill>
            <a:srgbClr val="F4F6FB"/>
          </a:solidFill>
          <a:ln w="12700">
            <a:solidFill>
              <a:srgbClr val="E2E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754880" y="2880360"/>
            <a:ext cx="868680" cy="86868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uo-shield-check-8F4799-195.png"/>
          <p:cNvPicPr>
            <a:picLocks noChangeAspect="1"/>
          </p:cNvPicPr>
          <p:nvPr/>
        </p:nvPicPr>
        <p:blipFill>
          <a:blip r:embed="rId4"/>
          <a:stretch>
            <a:fillRect/>
          </a:stretch>
        </p:blipFill>
        <p:spPr>
          <a:xfrm>
            <a:off x="4892040" y="3017520"/>
            <a:ext cx="594360" cy="594360"/>
          </a:xfrm>
          <a:prstGeom prst="rect">
            <a:avLst/>
          </a:prstGeom>
        </p:spPr>
      </p:pic>
      <p:sp>
        <p:nvSpPr>
          <p:cNvPr id="13" name="TextBox 12"/>
          <p:cNvSpPr txBox="1"/>
          <p:nvPr/>
        </p:nvSpPr>
        <p:spPr>
          <a:xfrm>
            <a:off x="4754880" y="3931920"/>
            <a:ext cx="2788920" cy="914400"/>
          </a:xfrm>
          <a:prstGeom prst="rect">
            <a:avLst/>
          </a:prstGeom>
          <a:noFill/>
        </p:spPr>
        <p:txBody>
          <a:bodyPr wrap="square" anchor="t" lIns="0" rIns="0" tIns="0" bIns="0">
            <a:spAutoFit/>
          </a:bodyPr>
          <a:lstStyle/>
          <a:p>
            <a:pPr algn="l">
              <a:lnSpc>
                <a:spcPct val="104000"/>
              </a:lnSpc>
            </a:pPr>
            <a:r>
              <a:rPr sz="1550" b="1">
                <a:solidFill>
                  <a:srgbClr val="0C1E50"/>
                </a:solidFill>
                <a:latin typeface="DM Sans"/>
                <a:cs typeface="DM Sans"/>
              </a:rPr>
              <a:t>La normativa administrativa no da respiro</a:t>
            </a:r>
          </a:p>
        </p:txBody>
      </p:sp>
      <p:sp>
        <p:nvSpPr>
          <p:cNvPr id="14" name="TextBox 13"/>
          <p:cNvSpPr txBox="1"/>
          <p:nvPr/>
        </p:nvSpPr>
        <p:spPr>
          <a:xfrm>
            <a:off x="4773168" y="4910328"/>
            <a:ext cx="2770632" cy="1005840"/>
          </a:xfrm>
          <a:prstGeom prst="rect">
            <a:avLst/>
          </a:prstGeom>
          <a:noFill/>
        </p:spPr>
        <p:txBody>
          <a:bodyPr wrap="square" anchor="t" lIns="0" rIns="0" tIns="0" bIns="0">
            <a:spAutoFit/>
          </a:bodyPr>
          <a:lstStyle/>
          <a:p>
            <a:pPr algn="l">
              <a:lnSpc>
                <a:spcPct val="124000"/>
              </a:lnSpc>
            </a:pPr>
            <a:r>
              <a:rPr sz="1150" b="0">
                <a:solidFill>
                  <a:srgbClr val="5B6472"/>
                </a:solidFill>
                <a:latin typeface="DM Sans"/>
                <a:cs typeface="DM Sans"/>
              </a:rPr>
              <a:t>Ley Karin, RIOHS y protocolos piden registro y trazabilidad. Sin un respaldo ordenado, cada requerimiento es una carrera.</a:t>
            </a:r>
          </a:p>
        </p:txBody>
      </p:sp>
      <p:sp>
        <p:nvSpPr>
          <p:cNvPr id="15" name="Rounded Rectangle 14"/>
          <p:cNvSpPr/>
          <p:nvPr/>
        </p:nvSpPr>
        <p:spPr>
          <a:xfrm>
            <a:off x="8046720" y="2514600"/>
            <a:ext cx="3429000" cy="3520440"/>
          </a:xfrm>
          <a:prstGeom prst="roundRect">
            <a:avLst>
              <a:gd name="adj" fmla="val 5000"/>
            </a:avLst>
          </a:prstGeom>
          <a:solidFill>
            <a:srgbClr val="F4F6FB"/>
          </a:solidFill>
          <a:ln w="12700">
            <a:solidFill>
              <a:srgbClr val="E2E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366760" y="2880360"/>
            <a:ext cx="868680" cy="86868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duo-eye-slash-8F4799-195.png"/>
          <p:cNvPicPr>
            <a:picLocks noChangeAspect="1"/>
          </p:cNvPicPr>
          <p:nvPr/>
        </p:nvPicPr>
        <p:blipFill>
          <a:blip r:embed="rId5"/>
          <a:stretch>
            <a:fillRect/>
          </a:stretch>
        </p:blipFill>
        <p:spPr>
          <a:xfrm>
            <a:off x="8503920" y="3017520"/>
            <a:ext cx="594360" cy="594360"/>
          </a:xfrm>
          <a:prstGeom prst="rect">
            <a:avLst/>
          </a:prstGeom>
        </p:spPr>
      </p:pic>
      <p:sp>
        <p:nvSpPr>
          <p:cNvPr id="18" name="TextBox 17"/>
          <p:cNvSpPr txBox="1"/>
          <p:nvPr/>
        </p:nvSpPr>
        <p:spPr>
          <a:xfrm>
            <a:off x="8366760" y="3931920"/>
            <a:ext cx="2788920" cy="914400"/>
          </a:xfrm>
          <a:prstGeom prst="rect">
            <a:avLst/>
          </a:prstGeom>
          <a:noFill/>
        </p:spPr>
        <p:txBody>
          <a:bodyPr wrap="square" anchor="t" lIns="0" rIns="0" tIns="0" bIns="0">
            <a:spAutoFit/>
          </a:bodyPr>
          <a:lstStyle/>
          <a:p>
            <a:pPr algn="l">
              <a:lnSpc>
                <a:spcPct val="104000"/>
              </a:lnSpc>
            </a:pPr>
            <a:r>
              <a:rPr sz="1550" b="1">
                <a:solidFill>
                  <a:srgbClr val="0C1E50"/>
                </a:solidFill>
                <a:latin typeface="DM Sans"/>
                <a:cs typeface="DM Sans"/>
              </a:rPr>
              <a:t>Auditan y la evidencia está repartida</a:t>
            </a:r>
          </a:p>
        </p:txBody>
      </p:sp>
      <p:sp>
        <p:nvSpPr>
          <p:cNvPr id="19" name="TextBox 18"/>
          <p:cNvSpPr txBox="1"/>
          <p:nvPr/>
        </p:nvSpPr>
        <p:spPr>
          <a:xfrm>
            <a:off x="8385048" y="4910328"/>
            <a:ext cx="2770632" cy="1005840"/>
          </a:xfrm>
          <a:prstGeom prst="rect">
            <a:avLst/>
          </a:prstGeom>
          <a:noFill/>
        </p:spPr>
        <p:txBody>
          <a:bodyPr wrap="square" anchor="t" lIns="0" rIns="0" tIns="0" bIns="0">
            <a:spAutoFit/>
          </a:bodyPr>
          <a:lstStyle/>
          <a:p>
            <a:pPr algn="l">
              <a:lnSpc>
                <a:spcPct val="124000"/>
              </a:lnSpc>
            </a:pPr>
            <a:r>
              <a:rPr sz="1150" b="0">
                <a:solidFill>
                  <a:srgbClr val="5B6472"/>
                </a:solidFill>
                <a:latin typeface="DM Sans"/>
                <a:cs typeface="DM Sans"/>
              </a:rPr>
              <a:t>Cuando corporativo audita, juntar lo de toda la red a mano toma tiempo y siempre falta algo.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_scov_93884.jpg"/>
          <p:cNvPicPr>
            <a:picLocks noChangeAspect="1"/>
          </p:cNvPicPr>
          <p:nvPr/>
        </p:nvPicPr>
        <p:blipFill>
          <a:blip r:embed="rId2"/>
          <a:stretch>
            <a:fillRect/>
          </a:stretch>
        </p:blipFill>
        <p:spPr>
          <a:xfrm>
            <a:off x="0" y="0"/>
            <a:ext cx="12191695" cy="2148840"/>
          </a:xfrm>
          <a:prstGeom prst="rect">
            <a:avLst/>
          </a:prstGeom>
        </p:spPr>
      </p:pic>
      <p:sp>
        <p:nvSpPr>
          <p:cNvPr id="3" name="TextBox 2"/>
          <p:cNvSpPr txBox="1"/>
          <p:nvPr/>
        </p:nvSpPr>
        <p:spPr>
          <a:xfrm>
            <a:off x="822960" y="1005840"/>
            <a:ext cx="8229600" cy="365760"/>
          </a:xfrm>
          <a:prstGeom prst="rect">
            <a:avLst/>
          </a:prstGeom>
          <a:noFill/>
        </p:spPr>
        <p:txBody>
          <a:bodyPr wrap="square" anchor="t" lIns="0" rIns="0" tIns="0" bIns="0">
            <a:spAutoFit/>
          </a:bodyPr>
          <a:lstStyle/>
          <a:p>
            <a:pPr algn="l">
              <a:lnSpc>
                <a:spcPct val="106000"/>
              </a:lnSpc>
            </a:pPr>
            <a:r>
              <a:rPr sz="1250" b="1">
                <a:solidFill>
                  <a:srgbClr val="CFE0FA"/>
                </a:solidFill>
                <a:latin typeface="DM Sans"/>
                <a:cs typeface="DM Sans"/>
              </a:rPr>
              <a:t>ASÍ TE AYUDA TAZKI</a:t>
            </a:r>
          </a:p>
        </p:txBody>
      </p:sp>
      <p:sp>
        <p:nvSpPr>
          <p:cNvPr id="4" name="TextBox 3"/>
          <p:cNvSpPr txBox="1"/>
          <p:nvPr/>
        </p:nvSpPr>
        <p:spPr>
          <a:xfrm>
            <a:off x="822960" y="1325880"/>
            <a:ext cx="9601200" cy="640080"/>
          </a:xfrm>
          <a:prstGeom prst="rect">
            <a:avLst/>
          </a:prstGeom>
          <a:noFill/>
        </p:spPr>
        <p:txBody>
          <a:bodyPr wrap="square" anchor="t" lIns="0" rIns="0" tIns="0" bIns="0">
            <a:spAutoFit/>
          </a:bodyPr>
          <a:lstStyle/>
          <a:p>
            <a:pPr algn="l">
              <a:lnSpc>
                <a:spcPct val="106000"/>
              </a:lnSpc>
            </a:pPr>
            <a:r>
              <a:rPr sz="2600" b="1">
                <a:solidFill>
                  <a:srgbClr val="FFFFFF"/>
                </a:solidFill>
                <a:latin typeface="DM Sans"/>
                <a:cs typeface="DM Sans"/>
              </a:rPr>
              <a:t>De la planilla al control real de tu prevención.</a:t>
            </a:r>
          </a:p>
        </p:txBody>
      </p:sp>
      <p:sp>
        <p:nvSpPr>
          <p:cNvPr id="5" name="Rounded Rectangle 4"/>
          <p:cNvSpPr/>
          <p:nvPr/>
        </p:nvSpPr>
        <p:spPr>
          <a:xfrm>
            <a:off x="658368" y="2468880"/>
            <a:ext cx="2651760" cy="3657600"/>
          </a:xfrm>
          <a:prstGeom prst="roundRect">
            <a:avLst>
              <a:gd name="adj" fmla="val 5000"/>
            </a:avLst>
          </a:prstGeom>
          <a:solidFill>
            <a:srgbClr val="FFFFFF"/>
          </a:solidFill>
          <a:ln w="12700">
            <a:solidFill>
              <a:srgbClr val="E2E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32688" y="2788920"/>
            <a:ext cx="777240" cy="777240"/>
          </a:xfrm>
          <a:prstGeom prst="roundRect">
            <a:avLst>
              <a:gd name="adj" fmla="val 18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uo-stack-1537D1-180.png"/>
          <p:cNvPicPr>
            <a:picLocks noChangeAspect="1"/>
          </p:cNvPicPr>
          <p:nvPr/>
        </p:nvPicPr>
        <p:blipFill>
          <a:blip r:embed="rId3"/>
          <a:stretch>
            <a:fillRect/>
          </a:stretch>
        </p:blipFill>
        <p:spPr>
          <a:xfrm>
            <a:off x="1051560" y="2907792"/>
            <a:ext cx="548640" cy="548640"/>
          </a:xfrm>
          <a:prstGeom prst="rect">
            <a:avLst/>
          </a:prstGeom>
        </p:spPr>
      </p:pic>
      <p:sp>
        <p:nvSpPr>
          <p:cNvPr id="8" name="TextBox 7"/>
          <p:cNvSpPr txBox="1"/>
          <p:nvPr/>
        </p:nvSpPr>
        <p:spPr>
          <a:xfrm>
            <a:off x="932688" y="3749039"/>
            <a:ext cx="2103120" cy="1005840"/>
          </a:xfrm>
          <a:prstGeom prst="rect">
            <a:avLst/>
          </a:prstGeom>
          <a:noFill/>
        </p:spPr>
        <p:txBody>
          <a:bodyPr wrap="square" anchor="t" lIns="0" rIns="0" tIns="0" bIns="0">
            <a:spAutoFit/>
          </a:bodyPr>
          <a:lstStyle/>
          <a:p>
            <a:pPr algn="l">
              <a:lnSpc>
                <a:spcPct val="102000"/>
              </a:lnSpc>
            </a:pPr>
            <a:r>
              <a:rPr sz="1350" b="1">
                <a:solidFill>
                  <a:srgbClr val="0C1E50"/>
                </a:solidFill>
                <a:latin typeface="DM Sans"/>
                <a:cs typeface="DM Sans"/>
              </a:rPr>
              <a:t>Todo en un solo lugar</a:t>
            </a:r>
          </a:p>
        </p:txBody>
      </p:sp>
      <p:sp>
        <p:nvSpPr>
          <p:cNvPr id="9" name="TextBox 8"/>
          <p:cNvSpPr txBox="1"/>
          <p:nvPr/>
        </p:nvSpPr>
        <p:spPr>
          <a:xfrm>
            <a:off x="950976" y="4754880"/>
            <a:ext cx="2084831" cy="1280160"/>
          </a:xfrm>
          <a:prstGeom prst="rect">
            <a:avLst/>
          </a:prstGeom>
          <a:noFill/>
        </p:spPr>
        <p:txBody>
          <a:bodyPr wrap="square" anchor="t" lIns="0" rIns="0" tIns="0" bIns="0">
            <a:spAutoFit/>
          </a:bodyPr>
          <a:lstStyle/>
          <a:p>
            <a:pPr algn="l">
              <a:lnSpc>
                <a:spcPct val="122000"/>
              </a:lnSpc>
            </a:pPr>
            <a:r>
              <a:rPr sz="1000" b="0">
                <a:solidFill>
                  <a:srgbClr val="5B6472"/>
                </a:solidFill>
                <a:latin typeface="DM Sans"/>
                <a:cs typeface="DM Sans"/>
              </a:rPr>
              <a:t>Reúne documentos, firmas y registros de tu prevención en una plataforma. Se acabó buscar en carpetas y correos.</a:t>
            </a:r>
          </a:p>
        </p:txBody>
      </p:sp>
      <p:sp>
        <p:nvSpPr>
          <p:cNvPr id="10" name="Rounded Rectangle 9"/>
          <p:cNvSpPr/>
          <p:nvPr/>
        </p:nvSpPr>
        <p:spPr>
          <a:xfrm>
            <a:off x="3429000" y="2468880"/>
            <a:ext cx="2651760" cy="3657600"/>
          </a:xfrm>
          <a:prstGeom prst="roundRect">
            <a:avLst>
              <a:gd name="adj" fmla="val 5000"/>
            </a:avLst>
          </a:prstGeom>
          <a:solidFill>
            <a:srgbClr val="FFFFFF"/>
          </a:solidFill>
          <a:ln w="12700">
            <a:solidFill>
              <a:srgbClr val="E2E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03320" y="2788920"/>
            <a:ext cx="777240" cy="777240"/>
          </a:xfrm>
          <a:prstGeom prst="roundRect">
            <a:avLst>
              <a:gd name="adj" fmla="val 18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uo-seal-check-1537D1-180.png"/>
          <p:cNvPicPr>
            <a:picLocks noChangeAspect="1"/>
          </p:cNvPicPr>
          <p:nvPr/>
        </p:nvPicPr>
        <p:blipFill>
          <a:blip r:embed="rId4"/>
          <a:stretch>
            <a:fillRect/>
          </a:stretch>
        </p:blipFill>
        <p:spPr>
          <a:xfrm>
            <a:off x="3822191" y="2907792"/>
            <a:ext cx="548640" cy="548640"/>
          </a:xfrm>
          <a:prstGeom prst="rect">
            <a:avLst/>
          </a:prstGeom>
        </p:spPr>
      </p:pic>
      <p:sp>
        <p:nvSpPr>
          <p:cNvPr id="13" name="TextBox 12"/>
          <p:cNvSpPr txBox="1"/>
          <p:nvPr/>
        </p:nvSpPr>
        <p:spPr>
          <a:xfrm>
            <a:off x="3703320" y="3749039"/>
            <a:ext cx="2103120" cy="1005840"/>
          </a:xfrm>
          <a:prstGeom prst="rect">
            <a:avLst/>
          </a:prstGeom>
          <a:noFill/>
        </p:spPr>
        <p:txBody>
          <a:bodyPr wrap="square" anchor="t" lIns="0" rIns="0" tIns="0" bIns="0">
            <a:spAutoFit/>
          </a:bodyPr>
          <a:lstStyle/>
          <a:p>
            <a:pPr algn="l">
              <a:lnSpc>
                <a:spcPct val="102000"/>
              </a:lnSpc>
            </a:pPr>
            <a:r>
              <a:rPr sz="1350" b="1">
                <a:solidFill>
                  <a:srgbClr val="0C1E50"/>
                </a:solidFill>
                <a:latin typeface="DM Sans"/>
                <a:cs typeface="DM Sans"/>
              </a:rPr>
              <a:t>Respaldo cuando lo necesitas</a:t>
            </a:r>
          </a:p>
        </p:txBody>
      </p:sp>
      <p:sp>
        <p:nvSpPr>
          <p:cNvPr id="14" name="TextBox 13"/>
          <p:cNvSpPr txBox="1"/>
          <p:nvPr/>
        </p:nvSpPr>
        <p:spPr>
          <a:xfrm>
            <a:off x="3721608" y="4754880"/>
            <a:ext cx="2084831" cy="1280160"/>
          </a:xfrm>
          <a:prstGeom prst="rect">
            <a:avLst/>
          </a:prstGeom>
          <a:noFill/>
        </p:spPr>
        <p:txBody>
          <a:bodyPr wrap="square" anchor="t" lIns="0" rIns="0" tIns="0" bIns="0">
            <a:spAutoFit/>
          </a:bodyPr>
          <a:lstStyle/>
          <a:p>
            <a:pPr algn="l">
              <a:lnSpc>
                <a:spcPct val="122000"/>
              </a:lnSpc>
            </a:pPr>
            <a:r>
              <a:rPr sz="1000" b="0">
                <a:solidFill>
                  <a:srgbClr val="5B6472"/>
                </a:solidFill>
                <a:latin typeface="DM Sans"/>
                <a:cs typeface="DM Sans"/>
              </a:rPr>
              <a:t>Cada registro queda con firma electrónica y trazabilidad, con el respaldo de la Resolución 908 de la Dirección del Trabajo.</a:t>
            </a:r>
          </a:p>
        </p:txBody>
      </p:sp>
      <p:sp>
        <p:nvSpPr>
          <p:cNvPr id="15" name="Rounded Rectangle 14"/>
          <p:cNvSpPr/>
          <p:nvPr/>
        </p:nvSpPr>
        <p:spPr>
          <a:xfrm>
            <a:off x="6199631" y="2468880"/>
            <a:ext cx="2651760" cy="3657600"/>
          </a:xfrm>
          <a:prstGeom prst="roundRect">
            <a:avLst>
              <a:gd name="adj" fmla="val 5000"/>
            </a:avLst>
          </a:prstGeom>
          <a:solidFill>
            <a:srgbClr val="FFFFFF"/>
          </a:solidFill>
          <a:ln w="12700">
            <a:solidFill>
              <a:srgbClr val="E2E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73951" y="2788920"/>
            <a:ext cx="777240" cy="777240"/>
          </a:xfrm>
          <a:prstGeom prst="roundRect">
            <a:avLst>
              <a:gd name="adj" fmla="val 18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duo-device-mobile-1537D1-180.png"/>
          <p:cNvPicPr>
            <a:picLocks noChangeAspect="1"/>
          </p:cNvPicPr>
          <p:nvPr/>
        </p:nvPicPr>
        <p:blipFill>
          <a:blip r:embed="rId5"/>
          <a:stretch>
            <a:fillRect/>
          </a:stretch>
        </p:blipFill>
        <p:spPr>
          <a:xfrm>
            <a:off x="6592823" y="2907792"/>
            <a:ext cx="548640" cy="548640"/>
          </a:xfrm>
          <a:prstGeom prst="rect">
            <a:avLst/>
          </a:prstGeom>
        </p:spPr>
      </p:pic>
      <p:sp>
        <p:nvSpPr>
          <p:cNvPr id="18" name="TextBox 17"/>
          <p:cNvSpPr txBox="1"/>
          <p:nvPr/>
        </p:nvSpPr>
        <p:spPr>
          <a:xfrm>
            <a:off x="6473951" y="3749039"/>
            <a:ext cx="2103120" cy="1005840"/>
          </a:xfrm>
          <a:prstGeom prst="rect">
            <a:avLst/>
          </a:prstGeom>
          <a:noFill/>
        </p:spPr>
        <p:txBody>
          <a:bodyPr wrap="square" anchor="t" lIns="0" rIns="0" tIns="0" bIns="0">
            <a:spAutoFit/>
          </a:bodyPr>
          <a:lstStyle/>
          <a:p>
            <a:pPr algn="l">
              <a:lnSpc>
                <a:spcPct val="102000"/>
              </a:lnSpc>
            </a:pPr>
            <a:r>
              <a:rPr sz="1350" b="1">
                <a:solidFill>
                  <a:srgbClr val="0C1E50"/>
                </a:solidFill>
                <a:latin typeface="DM Sans"/>
                <a:cs typeface="DM Sans"/>
              </a:rPr>
              <a:t>Prevención en terreno, desde el celular</a:t>
            </a:r>
          </a:p>
        </p:txBody>
      </p:sp>
      <p:sp>
        <p:nvSpPr>
          <p:cNvPr id="19" name="TextBox 18"/>
          <p:cNvSpPr txBox="1"/>
          <p:nvPr/>
        </p:nvSpPr>
        <p:spPr>
          <a:xfrm>
            <a:off x="6492240" y="4754880"/>
            <a:ext cx="2084831" cy="1280160"/>
          </a:xfrm>
          <a:prstGeom prst="rect">
            <a:avLst/>
          </a:prstGeom>
          <a:noFill/>
        </p:spPr>
        <p:txBody>
          <a:bodyPr wrap="square" anchor="t" lIns="0" rIns="0" tIns="0" bIns="0">
            <a:spAutoFit/>
          </a:bodyPr>
          <a:lstStyle/>
          <a:p>
            <a:pPr algn="l">
              <a:lnSpc>
                <a:spcPct val="122000"/>
              </a:lnSpc>
            </a:pPr>
            <a:r>
              <a:rPr sz="1000" b="0">
                <a:solidFill>
                  <a:srgbClr val="5B6472"/>
                </a:solidFill>
                <a:latin typeface="DM Sans"/>
                <a:cs typeface="DM Sans"/>
              </a:rPr>
              <a:t>Tu equipo levanta hallazgos, inspecciones y firmas donde ocurre el trabajo. Si no hay señal, se sincroniza al recuperar conexión.</a:t>
            </a:r>
          </a:p>
        </p:txBody>
      </p:sp>
      <p:sp>
        <p:nvSpPr>
          <p:cNvPr id="20" name="Rounded Rectangle 19"/>
          <p:cNvSpPr/>
          <p:nvPr/>
        </p:nvSpPr>
        <p:spPr>
          <a:xfrm>
            <a:off x="8970263" y="2468880"/>
            <a:ext cx="2651760" cy="3657600"/>
          </a:xfrm>
          <a:prstGeom prst="roundRect">
            <a:avLst>
              <a:gd name="adj" fmla="val 5000"/>
            </a:avLst>
          </a:prstGeom>
          <a:solidFill>
            <a:srgbClr val="FFFFFF"/>
          </a:solidFill>
          <a:ln w="12700">
            <a:solidFill>
              <a:srgbClr val="E2E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244584" y="2788920"/>
            <a:ext cx="777240" cy="777240"/>
          </a:xfrm>
          <a:prstGeom prst="roundRect">
            <a:avLst>
              <a:gd name="adj" fmla="val 18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duo-buildings-1537D1-180.png"/>
          <p:cNvPicPr>
            <a:picLocks noChangeAspect="1"/>
          </p:cNvPicPr>
          <p:nvPr/>
        </p:nvPicPr>
        <p:blipFill>
          <a:blip r:embed="rId6"/>
          <a:stretch>
            <a:fillRect/>
          </a:stretch>
        </p:blipFill>
        <p:spPr>
          <a:xfrm>
            <a:off x="9363455" y="2907792"/>
            <a:ext cx="548640" cy="548640"/>
          </a:xfrm>
          <a:prstGeom prst="rect">
            <a:avLst/>
          </a:prstGeom>
        </p:spPr>
      </p:pic>
      <p:sp>
        <p:nvSpPr>
          <p:cNvPr id="23" name="TextBox 22"/>
          <p:cNvSpPr txBox="1"/>
          <p:nvPr/>
        </p:nvSpPr>
        <p:spPr>
          <a:xfrm>
            <a:off x="9244584" y="3749039"/>
            <a:ext cx="2103120" cy="1005840"/>
          </a:xfrm>
          <a:prstGeom prst="rect">
            <a:avLst/>
          </a:prstGeom>
          <a:noFill/>
        </p:spPr>
        <p:txBody>
          <a:bodyPr wrap="square" anchor="t" lIns="0" rIns="0" tIns="0" bIns="0">
            <a:spAutoFit/>
          </a:bodyPr>
          <a:lstStyle/>
          <a:p>
            <a:pPr algn="l">
              <a:lnSpc>
                <a:spcPct val="102000"/>
              </a:lnSpc>
            </a:pPr>
            <a:r>
              <a:rPr sz="1350" b="1">
                <a:solidFill>
                  <a:srgbClr val="0C1E50"/>
                </a:solidFill>
                <a:latin typeface="DM Sans"/>
                <a:cs typeface="DM Sans"/>
              </a:rPr>
              <a:t>Toda la red bajo control</a:t>
            </a:r>
          </a:p>
        </p:txBody>
      </p:sp>
      <p:sp>
        <p:nvSpPr>
          <p:cNvPr id="24" name="TextBox 23"/>
          <p:cNvSpPr txBox="1"/>
          <p:nvPr/>
        </p:nvSpPr>
        <p:spPr>
          <a:xfrm>
            <a:off x="9262872" y="4754880"/>
            <a:ext cx="2084831" cy="1280160"/>
          </a:xfrm>
          <a:prstGeom prst="rect">
            <a:avLst/>
          </a:prstGeom>
          <a:noFill/>
        </p:spPr>
        <p:txBody>
          <a:bodyPr wrap="square" anchor="t" lIns="0" rIns="0" tIns="0" bIns="0">
            <a:spAutoFit/>
          </a:bodyPr>
          <a:lstStyle/>
          <a:p>
            <a:pPr algn="l">
              <a:lnSpc>
                <a:spcPct val="122000"/>
              </a:lnSpc>
            </a:pPr>
            <a:r>
              <a:rPr sz="1000" b="0">
                <a:solidFill>
                  <a:srgbClr val="5B6472"/>
                </a:solidFill>
                <a:latin typeface="DM Sans"/>
                <a:cs typeface="DM Sans"/>
              </a:rPr>
              <a:t>Ves en tiempo real qué está al día en cada sucursal, desde un solo panel.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E50"/>
        </a:solidFill>
        <a:effectLst/>
      </p:bgPr>
    </p:bg>
    <p:spTree>
      <p:nvGrpSpPr>
        <p:cNvPr id="1" name=""/>
        <p:cNvGrpSpPr/>
        <p:nvPr/>
      </p:nvGrpSpPr>
      <p:grpSpPr/>
      <p:pic>
        <p:nvPicPr>
          <p:cNvPr id="2" name="Picture 1" descr="tazki-wordmark-blanco.png"/>
          <p:cNvPicPr>
            <a:picLocks noChangeAspect="1"/>
          </p:cNvPicPr>
          <p:nvPr/>
        </p:nvPicPr>
        <p:blipFill>
          <a:blip r:embed="rId2"/>
          <a:stretch>
            <a:fillRect/>
          </a:stretch>
        </p:blipFill>
        <p:spPr>
          <a:xfrm>
            <a:off x="4937760" y="1234440"/>
            <a:ext cx="2286000" cy="840921"/>
          </a:xfrm>
          <a:prstGeom prst="rect">
            <a:avLst/>
          </a:prstGeom>
        </p:spPr>
      </p:pic>
      <p:sp>
        <p:nvSpPr>
          <p:cNvPr id="3" name="TextBox 2"/>
          <p:cNvSpPr txBox="1"/>
          <p:nvPr/>
        </p:nvSpPr>
        <p:spPr>
          <a:xfrm>
            <a:off x="1097280" y="2651760"/>
            <a:ext cx="9966960" cy="1280160"/>
          </a:xfrm>
          <a:prstGeom prst="rect">
            <a:avLst/>
          </a:prstGeom>
          <a:noFill/>
        </p:spPr>
        <p:txBody>
          <a:bodyPr wrap="square" anchor="t" lIns="0" rIns="0" tIns="0" bIns="0">
            <a:spAutoFit/>
          </a:bodyPr>
          <a:lstStyle/>
          <a:p>
            <a:pPr algn="ctr">
              <a:lnSpc>
                <a:spcPct val="105000"/>
              </a:lnSpc>
            </a:pPr>
            <a:r>
              <a:rPr sz="3400" b="1">
                <a:solidFill>
                  <a:srgbClr val="FFFFFF"/>
                </a:solidFill>
                <a:latin typeface="DM Sans"/>
                <a:cs typeface="DM Sans"/>
              </a:rPr>
              <a:t>Un software modular, para cada proceso de tu prevención.</a:t>
            </a:r>
          </a:p>
        </p:txBody>
      </p:sp>
      <p:sp>
        <p:nvSpPr>
          <p:cNvPr id="4" name="TextBox 3"/>
          <p:cNvSpPr txBox="1"/>
          <p:nvPr/>
        </p:nvSpPr>
        <p:spPr>
          <a:xfrm>
            <a:off x="1097280" y="4160520"/>
            <a:ext cx="9966960" cy="640080"/>
          </a:xfrm>
          <a:prstGeom prst="rect">
            <a:avLst/>
          </a:prstGeom>
          <a:noFill/>
        </p:spPr>
        <p:txBody>
          <a:bodyPr wrap="square" anchor="t" lIns="0" rIns="0" tIns="0" bIns="0">
            <a:spAutoFit/>
          </a:bodyPr>
          <a:lstStyle/>
          <a:p>
            <a:pPr algn="ctr">
              <a:lnSpc>
                <a:spcPct val="106000"/>
              </a:lnSpc>
            </a:pPr>
            <a:r>
              <a:rPr sz="1700" b="0">
                <a:solidFill>
                  <a:srgbClr val="A2D6F9"/>
                </a:solidFill>
                <a:latin typeface="DM Sans"/>
                <a:cs typeface="DM Sans"/>
              </a:rPr>
              <a:t>Activa lo que tu operación necesita. Todo comparte datos, trazabilidad y firma.</a:t>
            </a:r>
          </a:p>
        </p:txBody>
      </p:sp>
      <p:pic>
        <p:nvPicPr>
          <p:cNvPr id="5" name="Picture 4" descr="duo-identification-card-B865C1-186.png"/>
          <p:cNvPicPr>
            <a:picLocks noChangeAspect="1"/>
          </p:cNvPicPr>
          <p:nvPr/>
        </p:nvPicPr>
        <p:blipFill>
          <a:blip r:embed="rId3"/>
          <a:stretch>
            <a:fillRect/>
          </a:stretch>
        </p:blipFill>
        <p:spPr>
          <a:xfrm>
            <a:off x="914400" y="5212080"/>
            <a:ext cx="566928" cy="566928"/>
          </a:xfrm>
          <a:prstGeom prst="rect">
            <a:avLst/>
          </a:prstGeom>
        </p:spPr>
      </p:pic>
      <p:pic>
        <p:nvPicPr>
          <p:cNvPr id="6" name="Picture 5" descr="duo-warning-B865C1-186.png"/>
          <p:cNvPicPr>
            <a:picLocks noChangeAspect="1"/>
          </p:cNvPicPr>
          <p:nvPr/>
        </p:nvPicPr>
        <p:blipFill>
          <a:blip r:embed="rId4"/>
          <a:stretch>
            <a:fillRect/>
          </a:stretch>
        </p:blipFill>
        <p:spPr>
          <a:xfrm>
            <a:off x="1802199" y="5212080"/>
            <a:ext cx="566928" cy="566928"/>
          </a:xfrm>
          <a:prstGeom prst="rect">
            <a:avLst/>
          </a:prstGeom>
        </p:spPr>
      </p:pic>
      <p:pic>
        <p:nvPicPr>
          <p:cNvPr id="7" name="Picture 6" descr="duo-chalkboard-teacher-B865C1-186.png"/>
          <p:cNvPicPr>
            <a:picLocks noChangeAspect="1"/>
          </p:cNvPicPr>
          <p:nvPr/>
        </p:nvPicPr>
        <p:blipFill>
          <a:blip r:embed="rId5"/>
          <a:stretch>
            <a:fillRect/>
          </a:stretch>
        </p:blipFill>
        <p:spPr>
          <a:xfrm>
            <a:off x="2689998" y="5212080"/>
            <a:ext cx="566928" cy="566928"/>
          </a:xfrm>
          <a:prstGeom prst="rect">
            <a:avLst/>
          </a:prstGeom>
        </p:spPr>
      </p:pic>
      <p:pic>
        <p:nvPicPr>
          <p:cNvPr id="8" name="Picture 7" descr="duo-clipboard-text-B865C1-186.png"/>
          <p:cNvPicPr>
            <a:picLocks noChangeAspect="1"/>
          </p:cNvPicPr>
          <p:nvPr/>
        </p:nvPicPr>
        <p:blipFill>
          <a:blip r:embed="rId6"/>
          <a:stretch>
            <a:fillRect/>
          </a:stretch>
        </p:blipFill>
        <p:spPr>
          <a:xfrm>
            <a:off x="3577797" y="5212080"/>
            <a:ext cx="566928" cy="566928"/>
          </a:xfrm>
          <a:prstGeom prst="rect">
            <a:avLst/>
          </a:prstGeom>
        </p:spPr>
      </p:pic>
      <p:pic>
        <p:nvPicPr>
          <p:cNvPr id="9" name="Picture 8" descr="duo-buildings-B865C1-186.png"/>
          <p:cNvPicPr>
            <a:picLocks noChangeAspect="1"/>
          </p:cNvPicPr>
          <p:nvPr/>
        </p:nvPicPr>
        <p:blipFill>
          <a:blip r:embed="rId7"/>
          <a:stretch>
            <a:fillRect/>
          </a:stretch>
        </p:blipFill>
        <p:spPr>
          <a:xfrm>
            <a:off x="4465597" y="5212080"/>
            <a:ext cx="566928" cy="566928"/>
          </a:xfrm>
          <a:prstGeom prst="rect">
            <a:avLst/>
          </a:prstGeom>
        </p:spPr>
      </p:pic>
      <p:pic>
        <p:nvPicPr>
          <p:cNvPr id="10" name="Picture 9" descr="duo-hard-hat-B865C1-186.png"/>
          <p:cNvPicPr>
            <a:picLocks noChangeAspect="1"/>
          </p:cNvPicPr>
          <p:nvPr/>
        </p:nvPicPr>
        <p:blipFill>
          <a:blip r:embed="rId8"/>
          <a:stretch>
            <a:fillRect/>
          </a:stretch>
        </p:blipFill>
        <p:spPr>
          <a:xfrm>
            <a:off x="5353396" y="5212080"/>
            <a:ext cx="566928" cy="566928"/>
          </a:xfrm>
          <a:prstGeom prst="rect">
            <a:avLst/>
          </a:prstGeom>
        </p:spPr>
      </p:pic>
      <p:pic>
        <p:nvPicPr>
          <p:cNvPr id="11" name="Picture 10" descr="duo-shield-check-B865C1-186.png"/>
          <p:cNvPicPr>
            <a:picLocks noChangeAspect="1"/>
          </p:cNvPicPr>
          <p:nvPr/>
        </p:nvPicPr>
        <p:blipFill>
          <a:blip r:embed="rId9"/>
          <a:stretch>
            <a:fillRect/>
          </a:stretch>
        </p:blipFill>
        <p:spPr>
          <a:xfrm>
            <a:off x="6241195" y="5212080"/>
            <a:ext cx="566928" cy="566928"/>
          </a:xfrm>
          <a:prstGeom prst="rect">
            <a:avLst/>
          </a:prstGeom>
        </p:spPr>
      </p:pic>
      <p:pic>
        <p:nvPicPr>
          <p:cNvPr id="12" name="Picture 11" descr="duo-grid-four-B865C1-186.png"/>
          <p:cNvPicPr>
            <a:picLocks noChangeAspect="1"/>
          </p:cNvPicPr>
          <p:nvPr/>
        </p:nvPicPr>
        <p:blipFill>
          <a:blip r:embed="rId10"/>
          <a:stretch>
            <a:fillRect/>
          </a:stretch>
        </p:blipFill>
        <p:spPr>
          <a:xfrm>
            <a:off x="7128994" y="5212080"/>
            <a:ext cx="566928" cy="566928"/>
          </a:xfrm>
          <a:prstGeom prst="rect">
            <a:avLst/>
          </a:prstGeom>
        </p:spPr>
      </p:pic>
      <p:pic>
        <p:nvPicPr>
          <p:cNvPr id="13" name="Picture 12" descr="duo-magnifying-glass-B865C1-186.png"/>
          <p:cNvPicPr>
            <a:picLocks noChangeAspect="1"/>
          </p:cNvPicPr>
          <p:nvPr/>
        </p:nvPicPr>
        <p:blipFill>
          <a:blip r:embed="rId11"/>
          <a:stretch>
            <a:fillRect/>
          </a:stretch>
        </p:blipFill>
        <p:spPr>
          <a:xfrm>
            <a:off x="8016794" y="5212080"/>
            <a:ext cx="566928" cy="566928"/>
          </a:xfrm>
          <a:prstGeom prst="rect">
            <a:avLst/>
          </a:prstGeom>
        </p:spPr>
      </p:pic>
      <p:pic>
        <p:nvPicPr>
          <p:cNvPr id="14" name="Picture 13" descr="duo-calendar-check-B865C1-186.png"/>
          <p:cNvPicPr>
            <a:picLocks noChangeAspect="1"/>
          </p:cNvPicPr>
          <p:nvPr/>
        </p:nvPicPr>
        <p:blipFill>
          <a:blip r:embed="rId12"/>
          <a:stretch>
            <a:fillRect/>
          </a:stretch>
        </p:blipFill>
        <p:spPr>
          <a:xfrm>
            <a:off x="8904593" y="5212080"/>
            <a:ext cx="566928" cy="566928"/>
          </a:xfrm>
          <a:prstGeom prst="rect">
            <a:avLst/>
          </a:prstGeom>
        </p:spPr>
      </p:pic>
      <p:pic>
        <p:nvPicPr>
          <p:cNvPr id="15" name="Picture 14" descr="duo-users-three-B865C1-186.png"/>
          <p:cNvPicPr>
            <a:picLocks noChangeAspect="1"/>
          </p:cNvPicPr>
          <p:nvPr/>
        </p:nvPicPr>
        <p:blipFill>
          <a:blip r:embed="rId13"/>
          <a:stretch>
            <a:fillRect/>
          </a:stretch>
        </p:blipFill>
        <p:spPr>
          <a:xfrm>
            <a:off x="9792392" y="5212080"/>
            <a:ext cx="566928" cy="566928"/>
          </a:xfrm>
          <a:prstGeom prst="rect">
            <a:avLst/>
          </a:prstGeom>
        </p:spPr>
      </p:pic>
      <p:pic>
        <p:nvPicPr>
          <p:cNvPr id="16" name="Picture 15" descr="duo-wrench-B865C1-186.png"/>
          <p:cNvPicPr>
            <a:picLocks noChangeAspect="1"/>
          </p:cNvPicPr>
          <p:nvPr/>
        </p:nvPicPr>
        <p:blipFill>
          <a:blip r:embed="rId14"/>
          <a:stretch>
            <a:fillRect/>
          </a:stretch>
        </p:blipFill>
        <p:spPr>
          <a:xfrm>
            <a:off x="10680192" y="5212080"/>
            <a:ext cx="566928" cy="56692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22960" y="1371600"/>
            <a:ext cx="1280160" cy="1280160"/>
          </a:xfrm>
          <a:prstGeom prst="roundRect">
            <a:avLst>
              <a:gd name="adj" fmla="val 16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uo-identification-card-1537D1-240.png"/>
          <p:cNvPicPr>
            <a:picLocks noChangeAspect="1"/>
          </p:cNvPicPr>
          <p:nvPr/>
        </p:nvPicPr>
        <p:blipFill>
          <a:blip r:embed="rId2"/>
          <a:stretch>
            <a:fillRect/>
          </a:stretch>
        </p:blipFill>
        <p:spPr>
          <a:xfrm>
            <a:off x="1097280" y="1645920"/>
            <a:ext cx="731520" cy="731520"/>
          </a:xfrm>
          <a:prstGeom prst="rect">
            <a:avLst/>
          </a:prstGeom>
        </p:spPr>
      </p:pic>
      <p:sp>
        <p:nvSpPr>
          <p:cNvPr id="4" name="TextBox 3"/>
          <p:cNvSpPr txBox="1"/>
          <p:nvPr/>
        </p:nvSpPr>
        <p:spPr>
          <a:xfrm>
            <a:off x="822960" y="2880360"/>
            <a:ext cx="4297680" cy="1005840"/>
          </a:xfrm>
          <a:prstGeom prst="rect">
            <a:avLst/>
          </a:prstGeom>
          <a:noFill/>
        </p:spPr>
        <p:txBody>
          <a:bodyPr wrap="square" anchor="t" lIns="0" rIns="0" tIns="0" bIns="0">
            <a:spAutoFit/>
          </a:bodyPr>
          <a:lstStyle/>
          <a:p>
            <a:pPr algn="l">
              <a:lnSpc>
                <a:spcPct val="100000"/>
              </a:lnSpc>
            </a:pPr>
            <a:r>
              <a:rPr sz="2900" b="1">
                <a:solidFill>
                  <a:srgbClr val="0C1E50"/>
                </a:solidFill>
                <a:latin typeface="DM Sans"/>
                <a:cs typeface="DM Sans"/>
              </a:rPr>
              <a:t>Inducciones</a:t>
            </a:r>
          </a:p>
        </p:txBody>
      </p:sp>
      <p:sp>
        <p:nvSpPr>
          <p:cNvPr id="5" name="TextBox 4"/>
          <p:cNvSpPr txBox="1"/>
          <p:nvPr/>
        </p:nvSpPr>
        <p:spPr>
          <a:xfrm>
            <a:off x="841248" y="3931920"/>
            <a:ext cx="4206240" cy="2011680"/>
          </a:xfrm>
          <a:prstGeom prst="rect">
            <a:avLst/>
          </a:prstGeom>
          <a:noFill/>
        </p:spPr>
        <p:txBody>
          <a:bodyPr wrap="square" anchor="t" lIns="0" rIns="0" tIns="0" bIns="0">
            <a:spAutoFit/>
          </a:bodyPr>
          <a:lstStyle/>
          <a:p>
            <a:pPr algn="l">
              <a:lnSpc>
                <a:spcPct val="130000"/>
              </a:lnSpc>
            </a:pPr>
            <a:r>
              <a:rPr sz="1650" b="0">
                <a:solidFill>
                  <a:srgbClr val="5B6472"/>
                </a:solidFill>
                <a:latin typeface="DM Sans"/>
                <a:cs typeface="DM Sans"/>
              </a:rPr>
              <a:t>Documentación obligatoria firmada digitalmente y centralizada por colaborador.</a:t>
            </a:r>
          </a:p>
        </p:txBody>
      </p:sp>
      <p:sp>
        <p:nvSpPr>
          <p:cNvPr id="6" name="Rounded Rectangle 5"/>
          <p:cNvSpPr/>
          <p:nvPr/>
        </p:nvSpPr>
        <p:spPr>
          <a:xfrm>
            <a:off x="5486400" y="1051560"/>
            <a:ext cx="5989320" cy="4754880"/>
          </a:xfrm>
          <a:prstGeom prst="roundRect">
            <a:avLst>
              <a:gd name="adj" fmla="val 4000"/>
            </a:avLst>
          </a:prstGeom>
          <a:solidFill>
            <a:srgbClr val="F4F6FB"/>
          </a:solidFill>
          <a:ln w="12700">
            <a:solidFill>
              <a:srgbClr val="E2E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EVESTIDO_evaluaciones.png"/>
          <p:cNvPicPr>
            <a:picLocks noChangeAspect="1"/>
          </p:cNvPicPr>
          <p:nvPr/>
        </p:nvPicPr>
        <p:blipFill>
          <a:blip r:embed="rId3"/>
          <a:stretch>
            <a:fillRect/>
          </a:stretch>
        </p:blipFill>
        <p:spPr>
          <a:xfrm>
            <a:off x="5650992" y="1837086"/>
            <a:ext cx="5660136" cy="318382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22960" y="1371600"/>
            <a:ext cx="1280160" cy="1280160"/>
          </a:xfrm>
          <a:prstGeom prst="roundRect">
            <a:avLst>
              <a:gd name="adj" fmla="val 16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uo-warning-1537D1-240.png"/>
          <p:cNvPicPr>
            <a:picLocks noChangeAspect="1"/>
          </p:cNvPicPr>
          <p:nvPr/>
        </p:nvPicPr>
        <p:blipFill>
          <a:blip r:embed="rId2"/>
          <a:stretch>
            <a:fillRect/>
          </a:stretch>
        </p:blipFill>
        <p:spPr>
          <a:xfrm>
            <a:off x="1097280" y="1645920"/>
            <a:ext cx="731520" cy="731520"/>
          </a:xfrm>
          <a:prstGeom prst="rect">
            <a:avLst/>
          </a:prstGeom>
        </p:spPr>
      </p:pic>
      <p:sp>
        <p:nvSpPr>
          <p:cNvPr id="4" name="TextBox 3"/>
          <p:cNvSpPr txBox="1"/>
          <p:nvPr/>
        </p:nvSpPr>
        <p:spPr>
          <a:xfrm>
            <a:off x="822960" y="2880360"/>
            <a:ext cx="4297680" cy="1005840"/>
          </a:xfrm>
          <a:prstGeom prst="rect">
            <a:avLst/>
          </a:prstGeom>
          <a:noFill/>
        </p:spPr>
        <p:txBody>
          <a:bodyPr wrap="square" anchor="t" lIns="0" rIns="0" tIns="0" bIns="0">
            <a:spAutoFit/>
          </a:bodyPr>
          <a:lstStyle/>
          <a:p>
            <a:pPr algn="l">
              <a:lnSpc>
                <a:spcPct val="100000"/>
              </a:lnSpc>
            </a:pPr>
            <a:r>
              <a:rPr sz="2900" b="1">
                <a:solidFill>
                  <a:srgbClr val="0C1E50"/>
                </a:solidFill>
                <a:latin typeface="DM Sans"/>
                <a:cs typeface="DM Sans"/>
              </a:rPr>
              <a:t>Hallazgos</a:t>
            </a:r>
          </a:p>
        </p:txBody>
      </p:sp>
      <p:sp>
        <p:nvSpPr>
          <p:cNvPr id="5" name="Rounded Rectangle 4"/>
          <p:cNvSpPr/>
          <p:nvPr/>
        </p:nvSpPr>
        <p:spPr>
          <a:xfrm>
            <a:off x="822960" y="3913632"/>
            <a:ext cx="2514600" cy="384048"/>
          </a:xfrm>
          <a:prstGeom prst="roundRect">
            <a:avLst>
              <a:gd name="adj" fmla="val 50000"/>
            </a:avLst>
          </a:prstGeom>
          <a:solidFill>
            <a:srgbClr val="8F47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913632"/>
            <a:ext cx="2514600" cy="384048"/>
          </a:xfrm>
          <a:prstGeom prst="rect">
            <a:avLst/>
          </a:prstGeom>
          <a:noFill/>
        </p:spPr>
        <p:txBody>
          <a:bodyPr wrap="square" anchor="ctr" lIns="0" rIns="0" tIns="0" bIns="0">
            <a:spAutoFit/>
          </a:bodyPr>
          <a:lstStyle/>
          <a:p>
            <a:pPr algn="ctr">
              <a:lnSpc>
                <a:spcPct val="106000"/>
              </a:lnSpc>
            </a:pPr>
            <a:r>
              <a:rPr sz="1050" b="1">
                <a:solidFill>
                  <a:srgbClr val="FFFFFF"/>
                </a:solidFill>
                <a:latin typeface="DM Sans"/>
                <a:cs typeface="DM Sans"/>
              </a:rPr>
              <a:t>CLAVE PARA TU OPERACIÓN</a:t>
            </a:r>
          </a:p>
        </p:txBody>
      </p:sp>
      <p:sp>
        <p:nvSpPr>
          <p:cNvPr id="7" name="TextBox 6"/>
          <p:cNvSpPr txBox="1"/>
          <p:nvPr/>
        </p:nvSpPr>
        <p:spPr>
          <a:xfrm>
            <a:off x="841248" y="4526280"/>
            <a:ext cx="4206240" cy="2011680"/>
          </a:xfrm>
          <a:prstGeom prst="rect">
            <a:avLst/>
          </a:prstGeom>
          <a:noFill/>
        </p:spPr>
        <p:txBody>
          <a:bodyPr wrap="square" anchor="t" lIns="0" rIns="0" tIns="0" bIns="0">
            <a:spAutoFit/>
          </a:bodyPr>
          <a:lstStyle/>
          <a:p>
            <a:pPr algn="l">
              <a:lnSpc>
                <a:spcPct val="130000"/>
              </a:lnSpc>
            </a:pPr>
            <a:r>
              <a:rPr sz="1650" b="0">
                <a:solidFill>
                  <a:srgbClr val="5B6472"/>
                </a:solidFill>
                <a:latin typeface="DM Sans"/>
                <a:cs typeface="DM Sans"/>
              </a:rPr>
              <a:t>Gestiona el ciclo de acciones y condiciones inseguras hasta su cierre.</a:t>
            </a:r>
          </a:p>
        </p:txBody>
      </p:sp>
      <p:sp>
        <p:nvSpPr>
          <p:cNvPr id="8" name="Rounded Rectangle 7"/>
          <p:cNvSpPr/>
          <p:nvPr/>
        </p:nvSpPr>
        <p:spPr>
          <a:xfrm>
            <a:off x="5486400" y="1051560"/>
            <a:ext cx="5989320" cy="4754880"/>
          </a:xfrm>
          <a:prstGeom prst="roundRect">
            <a:avLst>
              <a:gd name="adj" fmla="val 4000"/>
            </a:avLst>
          </a:prstGeom>
          <a:solidFill>
            <a:srgbClr val="F4F6FB"/>
          </a:solidFill>
          <a:ln w="12700">
            <a:solidFill>
              <a:srgbClr val="E2E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low_hallazgos.gif"/>
          <p:cNvPicPr>
            <a:picLocks noChangeAspect="1"/>
          </p:cNvPicPr>
          <p:nvPr/>
        </p:nvPicPr>
        <p:blipFill>
          <a:blip r:embed="rId3"/>
          <a:stretch>
            <a:fillRect/>
          </a:stretch>
        </p:blipFill>
        <p:spPr>
          <a:xfrm>
            <a:off x="5650992" y="1543384"/>
            <a:ext cx="5660136" cy="377123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22960" y="1371600"/>
            <a:ext cx="1280160" cy="1280160"/>
          </a:xfrm>
          <a:prstGeom prst="roundRect">
            <a:avLst>
              <a:gd name="adj" fmla="val 16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uo-chalkboard-teacher-1537D1-240.png"/>
          <p:cNvPicPr>
            <a:picLocks noChangeAspect="1"/>
          </p:cNvPicPr>
          <p:nvPr/>
        </p:nvPicPr>
        <p:blipFill>
          <a:blip r:embed="rId2"/>
          <a:stretch>
            <a:fillRect/>
          </a:stretch>
        </p:blipFill>
        <p:spPr>
          <a:xfrm>
            <a:off x="1097280" y="1645920"/>
            <a:ext cx="731520" cy="731520"/>
          </a:xfrm>
          <a:prstGeom prst="rect">
            <a:avLst/>
          </a:prstGeom>
        </p:spPr>
      </p:pic>
      <p:sp>
        <p:nvSpPr>
          <p:cNvPr id="4" name="TextBox 3"/>
          <p:cNvSpPr txBox="1"/>
          <p:nvPr/>
        </p:nvSpPr>
        <p:spPr>
          <a:xfrm>
            <a:off x="822960" y="2880360"/>
            <a:ext cx="4297680" cy="1005840"/>
          </a:xfrm>
          <a:prstGeom prst="rect">
            <a:avLst/>
          </a:prstGeom>
          <a:noFill/>
        </p:spPr>
        <p:txBody>
          <a:bodyPr wrap="square" anchor="t" lIns="0" rIns="0" tIns="0" bIns="0">
            <a:spAutoFit/>
          </a:bodyPr>
          <a:lstStyle/>
          <a:p>
            <a:pPr algn="l">
              <a:lnSpc>
                <a:spcPct val="100000"/>
              </a:lnSpc>
            </a:pPr>
            <a:r>
              <a:rPr sz="2900" b="1">
                <a:solidFill>
                  <a:srgbClr val="0C1E50"/>
                </a:solidFill>
                <a:latin typeface="DM Sans"/>
                <a:cs typeface="DM Sans"/>
              </a:rPr>
              <a:t>Capacitaciones</a:t>
            </a:r>
          </a:p>
        </p:txBody>
      </p:sp>
      <p:sp>
        <p:nvSpPr>
          <p:cNvPr id="5" name="TextBox 4"/>
          <p:cNvSpPr txBox="1"/>
          <p:nvPr/>
        </p:nvSpPr>
        <p:spPr>
          <a:xfrm>
            <a:off x="841248" y="3931920"/>
            <a:ext cx="4206240" cy="2011680"/>
          </a:xfrm>
          <a:prstGeom prst="rect">
            <a:avLst/>
          </a:prstGeom>
          <a:noFill/>
        </p:spPr>
        <p:txBody>
          <a:bodyPr wrap="square" anchor="t" lIns="0" rIns="0" tIns="0" bIns="0">
            <a:spAutoFit/>
          </a:bodyPr>
          <a:lstStyle/>
          <a:p>
            <a:pPr algn="l">
              <a:lnSpc>
                <a:spcPct val="130000"/>
              </a:lnSpc>
            </a:pPr>
            <a:r>
              <a:rPr sz="1650" b="0">
                <a:solidFill>
                  <a:srgbClr val="5B6472"/>
                </a:solidFill>
                <a:latin typeface="DM Sans"/>
                <a:cs typeface="DM Sans"/>
              </a:rPr>
              <a:t>Calendariza charlas, registra asistencia y respalda la firma de cada participante.</a:t>
            </a:r>
          </a:p>
        </p:txBody>
      </p:sp>
      <p:sp>
        <p:nvSpPr>
          <p:cNvPr id="6" name="Rounded Rectangle 5"/>
          <p:cNvSpPr/>
          <p:nvPr/>
        </p:nvSpPr>
        <p:spPr>
          <a:xfrm>
            <a:off x="5486400" y="1051560"/>
            <a:ext cx="5989320" cy="4754880"/>
          </a:xfrm>
          <a:prstGeom prst="roundRect">
            <a:avLst>
              <a:gd name="adj" fmla="val 4000"/>
            </a:avLst>
          </a:prstGeom>
          <a:solidFill>
            <a:srgbClr val="F4F6FB"/>
          </a:solidFill>
          <a:ln w="12700">
            <a:solidFill>
              <a:srgbClr val="E2E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EVESTIDO_capacitaciones.png"/>
          <p:cNvPicPr>
            <a:picLocks noChangeAspect="1"/>
          </p:cNvPicPr>
          <p:nvPr/>
        </p:nvPicPr>
        <p:blipFill>
          <a:blip r:embed="rId3"/>
          <a:stretch>
            <a:fillRect/>
          </a:stretch>
        </p:blipFill>
        <p:spPr>
          <a:xfrm>
            <a:off x="5650992" y="1837086"/>
            <a:ext cx="5660136" cy="318382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22960" y="1371600"/>
            <a:ext cx="1280160" cy="1280160"/>
          </a:xfrm>
          <a:prstGeom prst="roundRect">
            <a:avLst>
              <a:gd name="adj" fmla="val 16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uo-clipboard-text-1537D1-240.png"/>
          <p:cNvPicPr>
            <a:picLocks noChangeAspect="1"/>
          </p:cNvPicPr>
          <p:nvPr/>
        </p:nvPicPr>
        <p:blipFill>
          <a:blip r:embed="rId2"/>
          <a:stretch>
            <a:fillRect/>
          </a:stretch>
        </p:blipFill>
        <p:spPr>
          <a:xfrm>
            <a:off x="1097280" y="1645920"/>
            <a:ext cx="731520" cy="731520"/>
          </a:xfrm>
          <a:prstGeom prst="rect">
            <a:avLst/>
          </a:prstGeom>
        </p:spPr>
      </p:pic>
      <p:sp>
        <p:nvSpPr>
          <p:cNvPr id="4" name="TextBox 3"/>
          <p:cNvSpPr txBox="1"/>
          <p:nvPr/>
        </p:nvSpPr>
        <p:spPr>
          <a:xfrm>
            <a:off x="822960" y="2880360"/>
            <a:ext cx="4297680" cy="1005840"/>
          </a:xfrm>
          <a:prstGeom prst="rect">
            <a:avLst/>
          </a:prstGeom>
          <a:noFill/>
        </p:spPr>
        <p:txBody>
          <a:bodyPr wrap="square" anchor="t" lIns="0" rIns="0" tIns="0" bIns="0">
            <a:spAutoFit/>
          </a:bodyPr>
          <a:lstStyle/>
          <a:p>
            <a:pPr algn="l">
              <a:lnSpc>
                <a:spcPct val="100000"/>
              </a:lnSpc>
            </a:pPr>
            <a:r>
              <a:rPr sz="2900" b="1">
                <a:solidFill>
                  <a:srgbClr val="0C1E50"/>
                </a:solidFill>
                <a:latin typeface="DM Sans"/>
                <a:cs typeface="DM Sans"/>
              </a:rPr>
              <a:t>Inspecciones</a:t>
            </a:r>
          </a:p>
        </p:txBody>
      </p:sp>
      <p:sp>
        <p:nvSpPr>
          <p:cNvPr id="5" name="Rounded Rectangle 4"/>
          <p:cNvSpPr/>
          <p:nvPr/>
        </p:nvSpPr>
        <p:spPr>
          <a:xfrm>
            <a:off x="822960" y="3913632"/>
            <a:ext cx="2514600" cy="384048"/>
          </a:xfrm>
          <a:prstGeom prst="roundRect">
            <a:avLst>
              <a:gd name="adj" fmla="val 50000"/>
            </a:avLst>
          </a:prstGeom>
          <a:solidFill>
            <a:srgbClr val="8F47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913632"/>
            <a:ext cx="2514600" cy="384048"/>
          </a:xfrm>
          <a:prstGeom prst="rect">
            <a:avLst/>
          </a:prstGeom>
          <a:noFill/>
        </p:spPr>
        <p:txBody>
          <a:bodyPr wrap="square" anchor="ctr" lIns="0" rIns="0" tIns="0" bIns="0">
            <a:spAutoFit/>
          </a:bodyPr>
          <a:lstStyle/>
          <a:p>
            <a:pPr algn="ctr">
              <a:lnSpc>
                <a:spcPct val="106000"/>
              </a:lnSpc>
            </a:pPr>
            <a:r>
              <a:rPr sz="1050" b="1">
                <a:solidFill>
                  <a:srgbClr val="FFFFFF"/>
                </a:solidFill>
                <a:latin typeface="DM Sans"/>
                <a:cs typeface="DM Sans"/>
              </a:rPr>
              <a:t>CLAVE PARA TU OPERACIÓN</a:t>
            </a:r>
          </a:p>
        </p:txBody>
      </p:sp>
      <p:sp>
        <p:nvSpPr>
          <p:cNvPr id="7" name="TextBox 6"/>
          <p:cNvSpPr txBox="1"/>
          <p:nvPr/>
        </p:nvSpPr>
        <p:spPr>
          <a:xfrm>
            <a:off x="841248" y="4526280"/>
            <a:ext cx="4206240" cy="2011680"/>
          </a:xfrm>
          <a:prstGeom prst="rect">
            <a:avLst/>
          </a:prstGeom>
          <a:noFill/>
        </p:spPr>
        <p:txBody>
          <a:bodyPr wrap="square" anchor="t" lIns="0" rIns="0" tIns="0" bIns="0">
            <a:spAutoFit/>
          </a:bodyPr>
          <a:lstStyle/>
          <a:p>
            <a:pPr algn="l">
              <a:lnSpc>
                <a:spcPct val="130000"/>
              </a:lnSpc>
            </a:pPr>
            <a:r>
              <a:rPr sz="1650" b="0">
                <a:solidFill>
                  <a:srgbClr val="5B6472"/>
                </a:solidFill>
                <a:latin typeface="DM Sans"/>
                <a:cs typeface="DM Sans"/>
              </a:rPr>
              <a:t>Identifica y corrige riesgos en terreno, desde el celular del supervisor.</a:t>
            </a:r>
          </a:p>
        </p:txBody>
      </p:sp>
      <p:sp>
        <p:nvSpPr>
          <p:cNvPr id="8" name="Rounded Rectangle 7"/>
          <p:cNvSpPr/>
          <p:nvPr/>
        </p:nvSpPr>
        <p:spPr>
          <a:xfrm>
            <a:off x="5486400" y="1051560"/>
            <a:ext cx="5989320" cy="4754880"/>
          </a:xfrm>
          <a:prstGeom prst="roundRect">
            <a:avLst>
              <a:gd name="adj" fmla="val 4000"/>
            </a:avLst>
          </a:prstGeom>
          <a:solidFill>
            <a:srgbClr val="F4F6FB"/>
          </a:solidFill>
          <a:ln w="12700">
            <a:solidFill>
              <a:srgbClr val="E2E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low_inspecciones.gif"/>
          <p:cNvPicPr>
            <a:picLocks noChangeAspect="1"/>
          </p:cNvPicPr>
          <p:nvPr/>
        </p:nvPicPr>
        <p:blipFill>
          <a:blip r:embed="rId3"/>
          <a:stretch>
            <a:fillRect/>
          </a:stretch>
        </p:blipFill>
        <p:spPr>
          <a:xfrm>
            <a:off x="5650992" y="1543384"/>
            <a:ext cx="5660136" cy="377123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22960" y="1371600"/>
            <a:ext cx="1280160" cy="1280160"/>
          </a:xfrm>
          <a:prstGeom prst="roundRect">
            <a:avLst>
              <a:gd name="adj" fmla="val 16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uo-buildings-1537D1-240.png"/>
          <p:cNvPicPr>
            <a:picLocks noChangeAspect="1"/>
          </p:cNvPicPr>
          <p:nvPr/>
        </p:nvPicPr>
        <p:blipFill>
          <a:blip r:embed="rId2"/>
          <a:stretch>
            <a:fillRect/>
          </a:stretch>
        </p:blipFill>
        <p:spPr>
          <a:xfrm>
            <a:off x="1097280" y="1645920"/>
            <a:ext cx="731520" cy="731520"/>
          </a:xfrm>
          <a:prstGeom prst="rect">
            <a:avLst/>
          </a:prstGeom>
        </p:spPr>
      </p:pic>
      <p:sp>
        <p:nvSpPr>
          <p:cNvPr id="4" name="TextBox 3"/>
          <p:cNvSpPr txBox="1"/>
          <p:nvPr/>
        </p:nvSpPr>
        <p:spPr>
          <a:xfrm>
            <a:off x="822960" y="2880360"/>
            <a:ext cx="4297680" cy="1005840"/>
          </a:xfrm>
          <a:prstGeom prst="rect">
            <a:avLst/>
          </a:prstGeom>
          <a:noFill/>
        </p:spPr>
        <p:txBody>
          <a:bodyPr wrap="square" anchor="t" lIns="0" rIns="0" tIns="0" bIns="0">
            <a:spAutoFit/>
          </a:bodyPr>
          <a:lstStyle/>
          <a:p>
            <a:pPr algn="l">
              <a:lnSpc>
                <a:spcPct val="100000"/>
              </a:lnSpc>
            </a:pPr>
            <a:r>
              <a:rPr sz="2900" b="1">
                <a:solidFill>
                  <a:srgbClr val="0C1E50"/>
                </a:solidFill>
                <a:latin typeface="DM Sans"/>
                <a:cs typeface="DM Sans"/>
              </a:rPr>
              <a:t>Contratistas</a:t>
            </a:r>
          </a:p>
        </p:txBody>
      </p:sp>
      <p:sp>
        <p:nvSpPr>
          <p:cNvPr id="5" name="TextBox 4"/>
          <p:cNvSpPr txBox="1"/>
          <p:nvPr/>
        </p:nvSpPr>
        <p:spPr>
          <a:xfrm>
            <a:off x="841248" y="3931920"/>
            <a:ext cx="4206240" cy="2011680"/>
          </a:xfrm>
          <a:prstGeom prst="rect">
            <a:avLst/>
          </a:prstGeom>
          <a:noFill/>
        </p:spPr>
        <p:txBody>
          <a:bodyPr wrap="square" anchor="t" lIns="0" rIns="0" tIns="0" bIns="0">
            <a:spAutoFit/>
          </a:bodyPr>
          <a:lstStyle/>
          <a:p>
            <a:pPr algn="l">
              <a:lnSpc>
                <a:spcPct val="130000"/>
              </a:lnSpc>
            </a:pPr>
            <a:r>
              <a:rPr sz="1650" b="0">
                <a:solidFill>
                  <a:srgbClr val="5B6472"/>
                </a:solidFill>
                <a:latin typeface="DM Sans"/>
                <a:cs typeface="DM Sans"/>
              </a:rPr>
              <a:t>Documentación vigente de empresas y trabajadores, con control de acceso y subcontratos.</a:t>
            </a:r>
          </a:p>
        </p:txBody>
      </p:sp>
      <p:sp>
        <p:nvSpPr>
          <p:cNvPr id="6" name="Rounded Rectangle 5"/>
          <p:cNvSpPr/>
          <p:nvPr/>
        </p:nvSpPr>
        <p:spPr>
          <a:xfrm>
            <a:off x="5486400" y="1051560"/>
            <a:ext cx="5989320" cy="4754880"/>
          </a:xfrm>
          <a:prstGeom prst="roundRect">
            <a:avLst>
              <a:gd name="adj" fmla="val 4000"/>
            </a:avLst>
          </a:prstGeom>
          <a:solidFill>
            <a:srgbClr val="F4F6FB"/>
          </a:solidFill>
          <a:ln w="12700">
            <a:solidFill>
              <a:srgbClr val="E2E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_contratistas.gif"/>
          <p:cNvPicPr>
            <a:picLocks noChangeAspect="1"/>
          </p:cNvPicPr>
          <p:nvPr/>
        </p:nvPicPr>
        <p:blipFill>
          <a:blip r:embed="rId3"/>
          <a:stretch>
            <a:fillRect/>
          </a:stretch>
        </p:blipFill>
        <p:spPr>
          <a:xfrm>
            <a:off x="5650992" y="1543384"/>
            <a:ext cx="5660136" cy="377123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22960" y="1371600"/>
            <a:ext cx="1280160" cy="1280160"/>
          </a:xfrm>
          <a:prstGeom prst="roundRect">
            <a:avLst>
              <a:gd name="adj" fmla="val 16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uo-hard-hat-1537D1-240.png"/>
          <p:cNvPicPr>
            <a:picLocks noChangeAspect="1"/>
          </p:cNvPicPr>
          <p:nvPr/>
        </p:nvPicPr>
        <p:blipFill>
          <a:blip r:embed="rId2"/>
          <a:stretch>
            <a:fillRect/>
          </a:stretch>
        </p:blipFill>
        <p:spPr>
          <a:xfrm>
            <a:off x="1097280" y="1645920"/>
            <a:ext cx="731520" cy="731520"/>
          </a:xfrm>
          <a:prstGeom prst="rect">
            <a:avLst/>
          </a:prstGeom>
        </p:spPr>
      </p:pic>
      <p:sp>
        <p:nvSpPr>
          <p:cNvPr id="4" name="TextBox 3"/>
          <p:cNvSpPr txBox="1"/>
          <p:nvPr/>
        </p:nvSpPr>
        <p:spPr>
          <a:xfrm>
            <a:off x="822960" y="2880360"/>
            <a:ext cx="4297680" cy="1005840"/>
          </a:xfrm>
          <a:prstGeom prst="rect">
            <a:avLst/>
          </a:prstGeom>
          <a:noFill/>
        </p:spPr>
        <p:txBody>
          <a:bodyPr wrap="square" anchor="t" lIns="0" rIns="0" tIns="0" bIns="0">
            <a:spAutoFit/>
          </a:bodyPr>
          <a:lstStyle/>
          <a:p>
            <a:pPr algn="l">
              <a:lnSpc>
                <a:spcPct val="100000"/>
              </a:lnSpc>
            </a:pPr>
            <a:r>
              <a:rPr sz="2900" b="1">
                <a:solidFill>
                  <a:srgbClr val="0C1E50"/>
                </a:solidFill>
                <a:latin typeface="DM Sans"/>
                <a:cs typeface="DM Sans"/>
              </a:rPr>
              <a:t>EPP</a:t>
            </a:r>
          </a:p>
        </p:txBody>
      </p:sp>
      <p:sp>
        <p:nvSpPr>
          <p:cNvPr id="5" name="TextBox 4"/>
          <p:cNvSpPr txBox="1"/>
          <p:nvPr/>
        </p:nvSpPr>
        <p:spPr>
          <a:xfrm>
            <a:off x="841248" y="3931920"/>
            <a:ext cx="4206240" cy="2011680"/>
          </a:xfrm>
          <a:prstGeom prst="rect">
            <a:avLst/>
          </a:prstGeom>
          <a:noFill/>
        </p:spPr>
        <p:txBody>
          <a:bodyPr wrap="square" anchor="t" lIns="0" rIns="0" tIns="0" bIns="0">
            <a:spAutoFit/>
          </a:bodyPr>
          <a:lstStyle/>
          <a:p>
            <a:pPr algn="l">
              <a:lnSpc>
                <a:spcPct val="130000"/>
              </a:lnSpc>
            </a:pPr>
            <a:r>
              <a:rPr sz="1650" b="0">
                <a:solidFill>
                  <a:srgbClr val="5B6472"/>
                </a:solidFill>
                <a:latin typeface="DM Sans"/>
                <a:cs typeface="DM Sans"/>
              </a:rPr>
              <a:t>Controla el inventario y las entregas de EPP con firma y trazabilidad por trabajador.</a:t>
            </a:r>
          </a:p>
        </p:txBody>
      </p:sp>
      <p:sp>
        <p:nvSpPr>
          <p:cNvPr id="6" name="Rounded Rectangle 5"/>
          <p:cNvSpPr/>
          <p:nvPr/>
        </p:nvSpPr>
        <p:spPr>
          <a:xfrm>
            <a:off x="5486400" y="1051560"/>
            <a:ext cx="5989320" cy="4754880"/>
          </a:xfrm>
          <a:prstGeom prst="roundRect">
            <a:avLst>
              <a:gd name="adj" fmla="val 4000"/>
            </a:avLst>
          </a:prstGeom>
          <a:solidFill>
            <a:srgbClr val="F4F6FB"/>
          </a:solidFill>
          <a:ln w="12700">
            <a:solidFill>
              <a:srgbClr val="E2E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_epp.gif"/>
          <p:cNvPicPr>
            <a:picLocks noChangeAspect="1"/>
          </p:cNvPicPr>
          <p:nvPr/>
        </p:nvPicPr>
        <p:blipFill>
          <a:blip r:embed="rId3"/>
          <a:stretch>
            <a:fillRect/>
          </a:stretch>
        </p:blipFill>
        <p:spPr>
          <a:xfrm>
            <a:off x="5650992" y="1543384"/>
            <a:ext cx="5660136" cy="377123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22960" y="1371600"/>
            <a:ext cx="1280160" cy="1280160"/>
          </a:xfrm>
          <a:prstGeom prst="roundRect">
            <a:avLst>
              <a:gd name="adj" fmla="val 16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uo-shield-check-1537D1-240.png"/>
          <p:cNvPicPr>
            <a:picLocks noChangeAspect="1"/>
          </p:cNvPicPr>
          <p:nvPr/>
        </p:nvPicPr>
        <p:blipFill>
          <a:blip r:embed="rId2"/>
          <a:stretch>
            <a:fillRect/>
          </a:stretch>
        </p:blipFill>
        <p:spPr>
          <a:xfrm>
            <a:off x="1097280" y="1645920"/>
            <a:ext cx="731520" cy="731520"/>
          </a:xfrm>
          <a:prstGeom prst="rect">
            <a:avLst/>
          </a:prstGeom>
        </p:spPr>
      </p:pic>
      <p:sp>
        <p:nvSpPr>
          <p:cNvPr id="4" name="TextBox 3"/>
          <p:cNvSpPr txBox="1"/>
          <p:nvPr/>
        </p:nvSpPr>
        <p:spPr>
          <a:xfrm>
            <a:off x="822960" y="2880360"/>
            <a:ext cx="4297680" cy="1005840"/>
          </a:xfrm>
          <a:prstGeom prst="rect">
            <a:avLst/>
          </a:prstGeom>
          <a:noFill/>
        </p:spPr>
        <p:txBody>
          <a:bodyPr wrap="square" anchor="t" lIns="0" rIns="0" tIns="0" bIns="0">
            <a:spAutoFit/>
          </a:bodyPr>
          <a:lstStyle/>
          <a:p>
            <a:pPr algn="l">
              <a:lnSpc>
                <a:spcPct val="100000"/>
              </a:lnSpc>
            </a:pPr>
            <a:r>
              <a:rPr sz="2900" b="1">
                <a:solidFill>
                  <a:srgbClr val="0C1E50"/>
                </a:solidFill>
                <a:latin typeface="DM Sans"/>
                <a:cs typeface="DM Sans"/>
              </a:rPr>
              <a:t>ART / AST</a:t>
            </a:r>
          </a:p>
        </p:txBody>
      </p:sp>
      <p:sp>
        <p:nvSpPr>
          <p:cNvPr id="5" name="TextBox 4"/>
          <p:cNvSpPr txBox="1"/>
          <p:nvPr/>
        </p:nvSpPr>
        <p:spPr>
          <a:xfrm>
            <a:off x="841248" y="3931920"/>
            <a:ext cx="4206240" cy="2011680"/>
          </a:xfrm>
          <a:prstGeom prst="rect">
            <a:avLst/>
          </a:prstGeom>
          <a:noFill/>
        </p:spPr>
        <p:txBody>
          <a:bodyPr wrap="square" anchor="t" lIns="0" rIns="0" tIns="0" bIns="0">
            <a:spAutoFit/>
          </a:bodyPr>
          <a:lstStyle/>
          <a:p>
            <a:pPr algn="l">
              <a:lnSpc>
                <a:spcPct val="130000"/>
              </a:lnSpc>
            </a:pPr>
            <a:r>
              <a:rPr sz="1650" b="0">
                <a:solidFill>
                  <a:srgbClr val="5B6472"/>
                </a:solidFill>
                <a:latin typeface="DM Sans"/>
                <a:cs typeface="DM Sans"/>
              </a:rPr>
              <a:t>Análisis de riesgo digital con firma de todos los participantes en terreno.</a:t>
            </a:r>
          </a:p>
        </p:txBody>
      </p:sp>
      <p:sp>
        <p:nvSpPr>
          <p:cNvPr id="6" name="Rounded Rectangle 5"/>
          <p:cNvSpPr/>
          <p:nvPr/>
        </p:nvSpPr>
        <p:spPr>
          <a:xfrm>
            <a:off x="5486400" y="1051560"/>
            <a:ext cx="5989320" cy="4754880"/>
          </a:xfrm>
          <a:prstGeom prst="roundRect">
            <a:avLst>
              <a:gd name="adj" fmla="val 4000"/>
            </a:avLst>
          </a:prstGeom>
          <a:solidFill>
            <a:srgbClr val="F4F6FB"/>
          </a:solidFill>
          <a:ln w="12700">
            <a:solidFill>
              <a:srgbClr val="E2E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_art-ast.gif"/>
          <p:cNvPicPr>
            <a:picLocks noChangeAspect="1"/>
          </p:cNvPicPr>
          <p:nvPr/>
        </p:nvPicPr>
        <p:blipFill>
          <a:blip r:embed="rId3"/>
          <a:stretch>
            <a:fillRect/>
          </a:stretch>
        </p:blipFill>
        <p:spPr>
          <a:xfrm>
            <a:off x="5650992" y="1543384"/>
            <a:ext cx="5660136" cy="377123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22960" y="1371600"/>
            <a:ext cx="1280160" cy="1280160"/>
          </a:xfrm>
          <a:prstGeom prst="roundRect">
            <a:avLst>
              <a:gd name="adj" fmla="val 16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uo-grid-four-1537D1-240.png"/>
          <p:cNvPicPr>
            <a:picLocks noChangeAspect="1"/>
          </p:cNvPicPr>
          <p:nvPr/>
        </p:nvPicPr>
        <p:blipFill>
          <a:blip r:embed="rId2"/>
          <a:stretch>
            <a:fillRect/>
          </a:stretch>
        </p:blipFill>
        <p:spPr>
          <a:xfrm>
            <a:off x="1097280" y="1645920"/>
            <a:ext cx="731520" cy="731520"/>
          </a:xfrm>
          <a:prstGeom prst="rect">
            <a:avLst/>
          </a:prstGeom>
        </p:spPr>
      </p:pic>
      <p:sp>
        <p:nvSpPr>
          <p:cNvPr id="4" name="TextBox 3"/>
          <p:cNvSpPr txBox="1"/>
          <p:nvPr/>
        </p:nvSpPr>
        <p:spPr>
          <a:xfrm>
            <a:off x="822960" y="2880360"/>
            <a:ext cx="4297680" cy="1005840"/>
          </a:xfrm>
          <a:prstGeom prst="rect">
            <a:avLst/>
          </a:prstGeom>
          <a:noFill/>
        </p:spPr>
        <p:txBody>
          <a:bodyPr wrap="square" anchor="t" lIns="0" rIns="0" tIns="0" bIns="0">
            <a:spAutoFit/>
          </a:bodyPr>
          <a:lstStyle/>
          <a:p>
            <a:pPr algn="l">
              <a:lnSpc>
                <a:spcPct val="100000"/>
              </a:lnSpc>
            </a:pPr>
            <a:r>
              <a:rPr sz="2900" b="1">
                <a:solidFill>
                  <a:srgbClr val="0C1E50"/>
                </a:solidFill>
                <a:latin typeface="DM Sans"/>
                <a:cs typeface="DM Sans"/>
              </a:rPr>
              <a:t>MIPER</a:t>
            </a:r>
          </a:p>
        </p:txBody>
      </p:sp>
      <p:sp>
        <p:nvSpPr>
          <p:cNvPr id="5" name="TextBox 4"/>
          <p:cNvSpPr txBox="1"/>
          <p:nvPr/>
        </p:nvSpPr>
        <p:spPr>
          <a:xfrm>
            <a:off x="841248" y="3931920"/>
            <a:ext cx="4206240" cy="2011680"/>
          </a:xfrm>
          <a:prstGeom prst="rect">
            <a:avLst/>
          </a:prstGeom>
          <a:noFill/>
        </p:spPr>
        <p:txBody>
          <a:bodyPr wrap="square" anchor="t" lIns="0" rIns="0" tIns="0" bIns="0">
            <a:spAutoFit/>
          </a:bodyPr>
          <a:lstStyle/>
          <a:p>
            <a:pPr algn="l">
              <a:lnSpc>
                <a:spcPct val="130000"/>
              </a:lnSpc>
            </a:pPr>
            <a:r>
              <a:rPr sz="1650" b="0">
                <a:solidFill>
                  <a:srgbClr val="5B6472"/>
                </a:solidFill>
                <a:latin typeface="DM Sans"/>
                <a:cs typeface="DM Sans"/>
              </a:rPr>
              <a:t>Matriz de identificación de peligros y evaluación de riesgos, digitalizada y siempre actualizada.</a:t>
            </a:r>
          </a:p>
        </p:txBody>
      </p:sp>
      <p:sp>
        <p:nvSpPr>
          <p:cNvPr id="6" name="Rounded Rectangle 5"/>
          <p:cNvSpPr/>
          <p:nvPr/>
        </p:nvSpPr>
        <p:spPr>
          <a:xfrm>
            <a:off x="5486400" y="1051560"/>
            <a:ext cx="5989320" cy="4754880"/>
          </a:xfrm>
          <a:prstGeom prst="roundRect">
            <a:avLst>
              <a:gd name="adj" fmla="val 4000"/>
            </a:avLst>
          </a:prstGeom>
          <a:solidFill>
            <a:srgbClr val="F4F6FB"/>
          </a:solidFill>
          <a:ln w="12700">
            <a:solidFill>
              <a:srgbClr val="E2E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_miper.gif"/>
          <p:cNvPicPr>
            <a:picLocks noChangeAspect="1"/>
          </p:cNvPicPr>
          <p:nvPr/>
        </p:nvPicPr>
        <p:blipFill>
          <a:blip r:embed="rId3"/>
          <a:stretch>
            <a:fillRect/>
          </a:stretch>
        </p:blipFill>
        <p:spPr>
          <a:xfrm>
            <a:off x="5650992" y="1543384"/>
            <a:ext cx="5660136" cy="377123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22960" y="1371600"/>
            <a:ext cx="1280160" cy="1280160"/>
          </a:xfrm>
          <a:prstGeom prst="roundRect">
            <a:avLst>
              <a:gd name="adj" fmla="val 16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uo-magnifying-glass-1537D1-240.png"/>
          <p:cNvPicPr>
            <a:picLocks noChangeAspect="1"/>
          </p:cNvPicPr>
          <p:nvPr/>
        </p:nvPicPr>
        <p:blipFill>
          <a:blip r:embed="rId2"/>
          <a:stretch>
            <a:fillRect/>
          </a:stretch>
        </p:blipFill>
        <p:spPr>
          <a:xfrm>
            <a:off x="1097280" y="1645920"/>
            <a:ext cx="731520" cy="731520"/>
          </a:xfrm>
          <a:prstGeom prst="rect">
            <a:avLst/>
          </a:prstGeom>
        </p:spPr>
      </p:pic>
      <p:sp>
        <p:nvSpPr>
          <p:cNvPr id="4" name="TextBox 3"/>
          <p:cNvSpPr txBox="1"/>
          <p:nvPr/>
        </p:nvSpPr>
        <p:spPr>
          <a:xfrm>
            <a:off x="822960" y="2880360"/>
            <a:ext cx="4297680" cy="1005840"/>
          </a:xfrm>
          <a:prstGeom prst="rect">
            <a:avLst/>
          </a:prstGeom>
          <a:noFill/>
        </p:spPr>
        <p:txBody>
          <a:bodyPr wrap="square" anchor="t" lIns="0" rIns="0" tIns="0" bIns="0">
            <a:spAutoFit/>
          </a:bodyPr>
          <a:lstStyle/>
          <a:p>
            <a:pPr algn="l">
              <a:lnSpc>
                <a:spcPct val="100000"/>
              </a:lnSpc>
            </a:pPr>
            <a:r>
              <a:rPr sz="2900" b="1">
                <a:solidFill>
                  <a:srgbClr val="0C1E50"/>
                </a:solidFill>
                <a:latin typeface="DM Sans"/>
                <a:cs typeface="DM Sans"/>
              </a:rPr>
              <a:t>Investigación de accidentes</a:t>
            </a:r>
          </a:p>
        </p:txBody>
      </p:sp>
      <p:sp>
        <p:nvSpPr>
          <p:cNvPr id="5" name="TextBox 4"/>
          <p:cNvSpPr txBox="1"/>
          <p:nvPr/>
        </p:nvSpPr>
        <p:spPr>
          <a:xfrm>
            <a:off x="841248" y="3931920"/>
            <a:ext cx="4206240" cy="2011680"/>
          </a:xfrm>
          <a:prstGeom prst="rect">
            <a:avLst/>
          </a:prstGeom>
          <a:noFill/>
        </p:spPr>
        <p:txBody>
          <a:bodyPr wrap="square" anchor="t" lIns="0" rIns="0" tIns="0" bIns="0">
            <a:spAutoFit/>
          </a:bodyPr>
          <a:lstStyle/>
          <a:p>
            <a:pPr algn="l">
              <a:lnSpc>
                <a:spcPct val="130000"/>
              </a:lnSpc>
            </a:pPr>
            <a:r>
              <a:rPr sz="1650" b="0">
                <a:solidFill>
                  <a:srgbClr val="5B6472"/>
                </a:solidFill>
                <a:latin typeface="DM Sans"/>
                <a:cs typeface="DM Sans"/>
              </a:rPr>
              <a:t>Registra el accidente, documenta las causas y genera el reporte con respaldo.</a:t>
            </a:r>
          </a:p>
        </p:txBody>
      </p:sp>
      <p:sp>
        <p:nvSpPr>
          <p:cNvPr id="6" name="Rounded Rectangle 5"/>
          <p:cNvSpPr/>
          <p:nvPr/>
        </p:nvSpPr>
        <p:spPr>
          <a:xfrm>
            <a:off x="5486400" y="1051560"/>
            <a:ext cx="5989320" cy="4754880"/>
          </a:xfrm>
          <a:prstGeom prst="roundRect">
            <a:avLst>
              <a:gd name="adj" fmla="val 4000"/>
            </a:avLst>
          </a:prstGeom>
          <a:solidFill>
            <a:srgbClr val="F4F6FB"/>
          </a:solidFill>
          <a:ln w="12700">
            <a:solidFill>
              <a:srgbClr val="E2E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_accidentes.gif"/>
          <p:cNvPicPr>
            <a:picLocks noChangeAspect="1"/>
          </p:cNvPicPr>
          <p:nvPr/>
        </p:nvPicPr>
        <p:blipFill>
          <a:blip r:embed="rId3"/>
          <a:stretch>
            <a:fillRect/>
          </a:stretch>
        </p:blipFill>
        <p:spPr>
          <a:xfrm>
            <a:off x="5650992" y="1543384"/>
            <a:ext cx="5660136" cy="377123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22960" y="1371600"/>
            <a:ext cx="1280160" cy="1280160"/>
          </a:xfrm>
          <a:prstGeom prst="roundRect">
            <a:avLst>
              <a:gd name="adj" fmla="val 16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uo-calendar-check-1537D1-240.png"/>
          <p:cNvPicPr>
            <a:picLocks noChangeAspect="1"/>
          </p:cNvPicPr>
          <p:nvPr/>
        </p:nvPicPr>
        <p:blipFill>
          <a:blip r:embed="rId2"/>
          <a:stretch>
            <a:fillRect/>
          </a:stretch>
        </p:blipFill>
        <p:spPr>
          <a:xfrm>
            <a:off x="1097280" y="1645920"/>
            <a:ext cx="731520" cy="731520"/>
          </a:xfrm>
          <a:prstGeom prst="rect">
            <a:avLst/>
          </a:prstGeom>
        </p:spPr>
      </p:pic>
      <p:sp>
        <p:nvSpPr>
          <p:cNvPr id="4" name="TextBox 3"/>
          <p:cNvSpPr txBox="1"/>
          <p:nvPr/>
        </p:nvSpPr>
        <p:spPr>
          <a:xfrm>
            <a:off x="822960" y="2880360"/>
            <a:ext cx="4297680" cy="1005840"/>
          </a:xfrm>
          <a:prstGeom prst="rect">
            <a:avLst/>
          </a:prstGeom>
          <a:noFill/>
        </p:spPr>
        <p:txBody>
          <a:bodyPr wrap="square" anchor="t" lIns="0" rIns="0" tIns="0" bIns="0">
            <a:spAutoFit/>
          </a:bodyPr>
          <a:lstStyle/>
          <a:p>
            <a:pPr algn="l">
              <a:lnSpc>
                <a:spcPct val="100000"/>
              </a:lnSpc>
            </a:pPr>
            <a:r>
              <a:rPr sz="2900" b="1">
                <a:solidFill>
                  <a:srgbClr val="0C1E50"/>
                </a:solidFill>
                <a:latin typeface="DM Sans"/>
                <a:cs typeface="DM Sans"/>
              </a:rPr>
              <a:t>Programa de gestión</a:t>
            </a:r>
          </a:p>
        </p:txBody>
      </p:sp>
      <p:sp>
        <p:nvSpPr>
          <p:cNvPr id="5" name="Rounded Rectangle 4"/>
          <p:cNvSpPr/>
          <p:nvPr/>
        </p:nvSpPr>
        <p:spPr>
          <a:xfrm>
            <a:off x="822960" y="3913632"/>
            <a:ext cx="2514600" cy="384048"/>
          </a:xfrm>
          <a:prstGeom prst="roundRect">
            <a:avLst>
              <a:gd name="adj" fmla="val 50000"/>
            </a:avLst>
          </a:prstGeom>
          <a:solidFill>
            <a:srgbClr val="8F47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913632"/>
            <a:ext cx="2514600" cy="384048"/>
          </a:xfrm>
          <a:prstGeom prst="rect">
            <a:avLst/>
          </a:prstGeom>
          <a:noFill/>
        </p:spPr>
        <p:txBody>
          <a:bodyPr wrap="square" anchor="ctr" lIns="0" rIns="0" tIns="0" bIns="0">
            <a:spAutoFit/>
          </a:bodyPr>
          <a:lstStyle/>
          <a:p>
            <a:pPr algn="ctr">
              <a:lnSpc>
                <a:spcPct val="106000"/>
              </a:lnSpc>
            </a:pPr>
            <a:r>
              <a:rPr sz="1050" b="1">
                <a:solidFill>
                  <a:srgbClr val="FFFFFF"/>
                </a:solidFill>
                <a:latin typeface="DM Sans"/>
                <a:cs typeface="DM Sans"/>
              </a:rPr>
              <a:t>CLAVE PARA TU OPERACIÓN</a:t>
            </a:r>
          </a:p>
        </p:txBody>
      </p:sp>
      <p:sp>
        <p:nvSpPr>
          <p:cNvPr id="7" name="TextBox 6"/>
          <p:cNvSpPr txBox="1"/>
          <p:nvPr/>
        </p:nvSpPr>
        <p:spPr>
          <a:xfrm>
            <a:off x="841248" y="4526280"/>
            <a:ext cx="4206240" cy="2011680"/>
          </a:xfrm>
          <a:prstGeom prst="rect">
            <a:avLst/>
          </a:prstGeom>
          <a:noFill/>
        </p:spPr>
        <p:txBody>
          <a:bodyPr wrap="square" anchor="t" lIns="0" rIns="0" tIns="0" bIns="0">
            <a:spAutoFit/>
          </a:bodyPr>
          <a:lstStyle/>
          <a:p>
            <a:pPr algn="l">
              <a:lnSpc>
                <a:spcPct val="130000"/>
              </a:lnSpc>
            </a:pPr>
            <a:r>
              <a:rPr sz="1650" b="0">
                <a:solidFill>
                  <a:srgbClr val="5B6472"/>
                </a:solidFill>
                <a:latin typeface="DM Sans"/>
                <a:cs typeface="DM Sans"/>
              </a:rPr>
              <a:t>Planifica las actividades preventivas del período y controla su cumplimiento.</a:t>
            </a:r>
          </a:p>
        </p:txBody>
      </p:sp>
      <p:sp>
        <p:nvSpPr>
          <p:cNvPr id="8" name="Rounded Rectangle 7"/>
          <p:cNvSpPr/>
          <p:nvPr/>
        </p:nvSpPr>
        <p:spPr>
          <a:xfrm>
            <a:off x="5486400" y="1051560"/>
            <a:ext cx="5989320" cy="4754880"/>
          </a:xfrm>
          <a:prstGeom prst="roundRect">
            <a:avLst>
              <a:gd name="adj" fmla="val 4000"/>
            </a:avLst>
          </a:prstGeom>
          <a:solidFill>
            <a:srgbClr val="F4F6FB"/>
          </a:solidFill>
          <a:ln w="12700">
            <a:solidFill>
              <a:srgbClr val="E2E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low_programa.gif"/>
          <p:cNvPicPr>
            <a:picLocks noChangeAspect="1"/>
          </p:cNvPicPr>
          <p:nvPr/>
        </p:nvPicPr>
        <p:blipFill>
          <a:blip r:embed="rId3"/>
          <a:stretch>
            <a:fillRect/>
          </a:stretch>
        </p:blipFill>
        <p:spPr>
          <a:xfrm>
            <a:off x="5650992" y="1543384"/>
            <a:ext cx="5660136" cy="377123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22960" y="1371600"/>
            <a:ext cx="1280160" cy="1280160"/>
          </a:xfrm>
          <a:prstGeom prst="roundRect">
            <a:avLst>
              <a:gd name="adj" fmla="val 16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uo-users-three-1537D1-240.png"/>
          <p:cNvPicPr>
            <a:picLocks noChangeAspect="1"/>
          </p:cNvPicPr>
          <p:nvPr/>
        </p:nvPicPr>
        <p:blipFill>
          <a:blip r:embed="rId2"/>
          <a:stretch>
            <a:fillRect/>
          </a:stretch>
        </p:blipFill>
        <p:spPr>
          <a:xfrm>
            <a:off x="1097280" y="1645920"/>
            <a:ext cx="731520" cy="731520"/>
          </a:xfrm>
          <a:prstGeom prst="rect">
            <a:avLst/>
          </a:prstGeom>
        </p:spPr>
      </p:pic>
      <p:sp>
        <p:nvSpPr>
          <p:cNvPr id="4" name="TextBox 3"/>
          <p:cNvSpPr txBox="1"/>
          <p:nvPr/>
        </p:nvSpPr>
        <p:spPr>
          <a:xfrm>
            <a:off x="822960" y="2880360"/>
            <a:ext cx="4297680" cy="1005840"/>
          </a:xfrm>
          <a:prstGeom prst="rect">
            <a:avLst/>
          </a:prstGeom>
          <a:noFill/>
        </p:spPr>
        <p:txBody>
          <a:bodyPr wrap="square" anchor="t" lIns="0" rIns="0" tIns="0" bIns="0">
            <a:spAutoFit/>
          </a:bodyPr>
          <a:lstStyle/>
          <a:p>
            <a:pPr algn="l">
              <a:lnSpc>
                <a:spcPct val="100000"/>
              </a:lnSpc>
            </a:pPr>
            <a:r>
              <a:rPr sz="2900" b="1">
                <a:solidFill>
                  <a:srgbClr val="0C1E50"/>
                </a:solidFill>
                <a:latin typeface="DM Sans"/>
                <a:cs typeface="DM Sans"/>
              </a:rPr>
              <a:t>Comité Paritario</a:t>
            </a:r>
          </a:p>
        </p:txBody>
      </p:sp>
      <p:sp>
        <p:nvSpPr>
          <p:cNvPr id="5" name="Rounded Rectangle 4"/>
          <p:cNvSpPr/>
          <p:nvPr/>
        </p:nvSpPr>
        <p:spPr>
          <a:xfrm>
            <a:off x="822960" y="3913632"/>
            <a:ext cx="2514600" cy="384048"/>
          </a:xfrm>
          <a:prstGeom prst="roundRect">
            <a:avLst>
              <a:gd name="adj" fmla="val 50000"/>
            </a:avLst>
          </a:prstGeom>
          <a:solidFill>
            <a:srgbClr val="8F47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913632"/>
            <a:ext cx="2514600" cy="384048"/>
          </a:xfrm>
          <a:prstGeom prst="rect">
            <a:avLst/>
          </a:prstGeom>
          <a:noFill/>
        </p:spPr>
        <p:txBody>
          <a:bodyPr wrap="square" anchor="ctr" lIns="0" rIns="0" tIns="0" bIns="0">
            <a:spAutoFit/>
          </a:bodyPr>
          <a:lstStyle/>
          <a:p>
            <a:pPr algn="ctr">
              <a:lnSpc>
                <a:spcPct val="106000"/>
              </a:lnSpc>
            </a:pPr>
            <a:r>
              <a:rPr sz="1050" b="1">
                <a:solidFill>
                  <a:srgbClr val="FFFFFF"/>
                </a:solidFill>
                <a:latin typeface="DM Sans"/>
                <a:cs typeface="DM Sans"/>
              </a:rPr>
              <a:t>CLAVE PARA TU OPERACIÓN</a:t>
            </a:r>
          </a:p>
        </p:txBody>
      </p:sp>
      <p:sp>
        <p:nvSpPr>
          <p:cNvPr id="7" name="TextBox 6"/>
          <p:cNvSpPr txBox="1"/>
          <p:nvPr/>
        </p:nvSpPr>
        <p:spPr>
          <a:xfrm>
            <a:off x="841248" y="4526280"/>
            <a:ext cx="4206240" cy="2011680"/>
          </a:xfrm>
          <a:prstGeom prst="rect">
            <a:avLst/>
          </a:prstGeom>
          <a:noFill/>
        </p:spPr>
        <p:txBody>
          <a:bodyPr wrap="square" anchor="t" lIns="0" rIns="0" tIns="0" bIns="0">
            <a:spAutoFit/>
          </a:bodyPr>
          <a:lstStyle/>
          <a:p>
            <a:pPr algn="l">
              <a:lnSpc>
                <a:spcPct val="130000"/>
              </a:lnSpc>
            </a:pPr>
            <a:r>
              <a:rPr sz="1650" b="0">
                <a:solidFill>
                  <a:srgbClr val="5B6472"/>
                </a:solidFill>
                <a:latin typeface="DM Sans"/>
                <a:cs typeface="DM Sans"/>
              </a:rPr>
              <a:t>Digitaliza actas, reuniones y acuerdos del comité paritario, con respaldo.</a:t>
            </a:r>
          </a:p>
        </p:txBody>
      </p:sp>
      <p:sp>
        <p:nvSpPr>
          <p:cNvPr id="8" name="Rounded Rectangle 7"/>
          <p:cNvSpPr/>
          <p:nvPr/>
        </p:nvSpPr>
        <p:spPr>
          <a:xfrm>
            <a:off x="5486400" y="1051560"/>
            <a:ext cx="5989320" cy="4754880"/>
          </a:xfrm>
          <a:prstGeom prst="roundRect">
            <a:avLst>
              <a:gd name="adj" fmla="val 4000"/>
            </a:avLst>
          </a:prstGeom>
          <a:solidFill>
            <a:srgbClr val="F4F6FB"/>
          </a:solidFill>
          <a:ln w="12700">
            <a:solidFill>
              <a:srgbClr val="E2E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VESTIDO_documentos.png"/>
          <p:cNvPicPr>
            <a:picLocks noChangeAspect="1"/>
          </p:cNvPicPr>
          <p:nvPr/>
        </p:nvPicPr>
        <p:blipFill>
          <a:blip r:embed="rId3"/>
          <a:stretch>
            <a:fillRect/>
          </a:stretch>
        </p:blipFill>
        <p:spPr>
          <a:xfrm>
            <a:off x="5650992" y="1837086"/>
            <a:ext cx="5660136" cy="318382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822960" y="1371600"/>
            <a:ext cx="1280160" cy="1280160"/>
          </a:xfrm>
          <a:prstGeom prst="roundRect">
            <a:avLst>
              <a:gd name="adj" fmla="val 16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uo-wrench-1537D1-240.png"/>
          <p:cNvPicPr>
            <a:picLocks noChangeAspect="1"/>
          </p:cNvPicPr>
          <p:nvPr/>
        </p:nvPicPr>
        <p:blipFill>
          <a:blip r:embed="rId2"/>
          <a:stretch>
            <a:fillRect/>
          </a:stretch>
        </p:blipFill>
        <p:spPr>
          <a:xfrm>
            <a:off x="1097280" y="1645920"/>
            <a:ext cx="731520" cy="731520"/>
          </a:xfrm>
          <a:prstGeom prst="rect">
            <a:avLst/>
          </a:prstGeom>
        </p:spPr>
      </p:pic>
      <p:sp>
        <p:nvSpPr>
          <p:cNvPr id="4" name="TextBox 3"/>
          <p:cNvSpPr txBox="1"/>
          <p:nvPr/>
        </p:nvSpPr>
        <p:spPr>
          <a:xfrm>
            <a:off x="822960" y="2880360"/>
            <a:ext cx="4297680" cy="1005840"/>
          </a:xfrm>
          <a:prstGeom prst="rect">
            <a:avLst/>
          </a:prstGeom>
          <a:noFill/>
        </p:spPr>
        <p:txBody>
          <a:bodyPr wrap="square" anchor="t" lIns="0" rIns="0" tIns="0" bIns="0">
            <a:spAutoFit/>
          </a:bodyPr>
          <a:lstStyle/>
          <a:p>
            <a:pPr algn="l">
              <a:lnSpc>
                <a:spcPct val="100000"/>
              </a:lnSpc>
            </a:pPr>
            <a:r>
              <a:rPr sz="2900" b="1">
                <a:solidFill>
                  <a:srgbClr val="0C1E50"/>
                </a:solidFill>
                <a:latin typeface="DM Sans"/>
                <a:cs typeface="DM Sans"/>
              </a:rPr>
              <a:t>Insumos y Maquinaria</a:t>
            </a:r>
          </a:p>
        </p:txBody>
      </p:sp>
      <p:sp>
        <p:nvSpPr>
          <p:cNvPr id="5" name="TextBox 4"/>
          <p:cNvSpPr txBox="1"/>
          <p:nvPr/>
        </p:nvSpPr>
        <p:spPr>
          <a:xfrm>
            <a:off x="841248" y="3931920"/>
            <a:ext cx="4206240" cy="2011680"/>
          </a:xfrm>
          <a:prstGeom prst="rect">
            <a:avLst/>
          </a:prstGeom>
          <a:noFill/>
        </p:spPr>
        <p:txBody>
          <a:bodyPr wrap="square" anchor="t" lIns="0" rIns="0" tIns="0" bIns="0">
            <a:spAutoFit/>
          </a:bodyPr>
          <a:lstStyle/>
          <a:p>
            <a:pPr algn="l">
              <a:lnSpc>
                <a:spcPct val="130000"/>
              </a:lnSpc>
            </a:pPr>
            <a:r>
              <a:rPr sz="1650" b="0">
                <a:solidFill>
                  <a:srgbClr val="5B6472"/>
                </a:solidFill>
                <a:latin typeface="DM Sans"/>
                <a:cs typeface="DM Sans"/>
              </a:rPr>
              <a:t>Controla el inventario de insumos y el historial documental de maquinarias.</a:t>
            </a:r>
          </a:p>
        </p:txBody>
      </p:sp>
      <p:sp>
        <p:nvSpPr>
          <p:cNvPr id="6" name="Rounded Rectangle 5"/>
          <p:cNvSpPr/>
          <p:nvPr/>
        </p:nvSpPr>
        <p:spPr>
          <a:xfrm>
            <a:off x="5486400" y="1051560"/>
            <a:ext cx="5989320" cy="4754880"/>
          </a:xfrm>
          <a:prstGeom prst="roundRect">
            <a:avLst>
              <a:gd name="adj" fmla="val 4000"/>
            </a:avLst>
          </a:prstGeom>
          <a:solidFill>
            <a:srgbClr val="F4F6FB"/>
          </a:solidFill>
          <a:ln w="12700">
            <a:solidFill>
              <a:srgbClr val="E2E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low_insumos.gif"/>
          <p:cNvPicPr>
            <a:picLocks noChangeAspect="1"/>
          </p:cNvPicPr>
          <p:nvPr/>
        </p:nvPicPr>
        <p:blipFill>
          <a:blip r:embed="rId3"/>
          <a:stretch>
            <a:fillRect/>
          </a:stretch>
        </p:blipFill>
        <p:spPr>
          <a:xfrm>
            <a:off x="5650992" y="1543384"/>
            <a:ext cx="5660136" cy="377123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874519"/>
          </a:xfrm>
          <a:prstGeom prst="rect">
            <a:avLst/>
          </a:prstGeom>
          <a:solidFill>
            <a:srgbClr val="0C1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549640" y="457200"/>
            <a:ext cx="2834640" cy="9601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anco-falabella.png"/>
          <p:cNvPicPr>
            <a:picLocks noChangeAspect="1"/>
          </p:cNvPicPr>
          <p:nvPr/>
        </p:nvPicPr>
        <p:blipFill>
          <a:blip r:embed="rId2"/>
          <a:stretch>
            <a:fillRect/>
          </a:stretch>
        </p:blipFill>
        <p:spPr>
          <a:xfrm>
            <a:off x="8789166" y="566928"/>
            <a:ext cx="2355586" cy="731520"/>
          </a:xfrm>
          <a:prstGeom prst="rect">
            <a:avLst/>
          </a:prstGeom>
        </p:spPr>
      </p:pic>
      <p:sp>
        <p:nvSpPr>
          <p:cNvPr id="5" name="TextBox 4"/>
          <p:cNvSpPr txBox="1"/>
          <p:nvPr/>
        </p:nvSpPr>
        <p:spPr>
          <a:xfrm>
            <a:off x="822960" y="457200"/>
            <a:ext cx="7498079" cy="822960"/>
          </a:xfrm>
          <a:prstGeom prst="rect">
            <a:avLst/>
          </a:prstGeom>
          <a:noFill/>
        </p:spPr>
        <p:txBody>
          <a:bodyPr wrap="square" anchor="t" lIns="0" rIns="0" tIns="0" bIns="0">
            <a:spAutoFit/>
          </a:bodyPr>
          <a:lstStyle/>
          <a:p>
            <a:pPr algn="l">
              <a:lnSpc>
                <a:spcPct val="106000"/>
              </a:lnSpc>
            </a:pPr>
            <a:r>
              <a:rPr sz="2800" b="1">
                <a:solidFill>
                  <a:srgbClr val="FFFFFF"/>
                </a:solidFill>
                <a:latin typeface="DM Sans"/>
                <a:cs typeface="DM Sans"/>
              </a:rPr>
              <a:t>Caso de éxito: Banco Falabella</a:t>
            </a:r>
          </a:p>
        </p:txBody>
      </p:sp>
      <p:sp>
        <p:nvSpPr>
          <p:cNvPr id="6" name="TextBox 5"/>
          <p:cNvSpPr txBox="1"/>
          <p:nvPr/>
        </p:nvSpPr>
        <p:spPr>
          <a:xfrm>
            <a:off x="841248" y="1207008"/>
            <a:ext cx="7498079" cy="548640"/>
          </a:xfrm>
          <a:prstGeom prst="rect">
            <a:avLst/>
          </a:prstGeom>
          <a:noFill/>
        </p:spPr>
        <p:txBody>
          <a:bodyPr wrap="square" anchor="t" lIns="0" rIns="0" tIns="0" bIns="0">
            <a:spAutoFit/>
          </a:bodyPr>
          <a:lstStyle/>
          <a:p>
            <a:pPr algn="l">
              <a:lnSpc>
                <a:spcPct val="106000"/>
              </a:lnSpc>
            </a:pPr>
            <a:r>
              <a:rPr sz="1550" b="0">
                <a:solidFill>
                  <a:srgbClr val="BFD0EA"/>
                </a:solidFill>
                <a:latin typeface="DM Sans"/>
                <a:cs typeface="DM Sans"/>
              </a:rPr>
              <a:t>Una red distribuida que exigía más control, sin fricción operativa.</a:t>
            </a:r>
          </a:p>
        </p:txBody>
      </p:sp>
      <p:sp>
        <p:nvSpPr>
          <p:cNvPr id="7" name="TextBox 6"/>
          <p:cNvSpPr txBox="1"/>
          <p:nvPr/>
        </p:nvSpPr>
        <p:spPr>
          <a:xfrm>
            <a:off x="822960" y="2194560"/>
            <a:ext cx="6400800" cy="3566160"/>
          </a:xfrm>
          <a:prstGeom prst="rect">
            <a:avLst/>
          </a:prstGeom>
          <a:noFill/>
        </p:spPr>
        <p:txBody>
          <a:bodyPr wrap="square" anchor="t" lIns="0" rIns="0" tIns="0" bIns="0">
            <a:spAutoFit/>
          </a:bodyPr>
          <a:lstStyle/>
          <a:p>
            <a:pPr algn="l">
              <a:lnSpc>
                <a:spcPct val="130000"/>
              </a:lnSpc>
            </a:pPr>
            <a:r>
              <a:rPr sz="1350" b="0">
                <a:solidFill>
                  <a:srgbClr val="5B6472"/>
                </a:solidFill>
                <a:latin typeface="DM Sans"/>
                <a:cs typeface="DM Sans"/>
              </a:rPr>
              <a:t>Banco Falabella, con una red de 80 sucursales en las principales ciudades de Chile, enfrentaba el desafío de fortalecer su gestión de prevención de riesgos sin afectar la continuidad operacional ni la atención al cliente. El equipo de Prevención de Riesgos, liderado por Carlos Villegas, trabajaba con inspecciones en terreno, levantamiento de hallazgos, derivación a las áreas responsables y seguimiento posterior: un proceso sólido que necesitaba una herramienta a la medida de su dinámica y con mejor visibilidad y control en tiempo real.</a:t>
            </a:r>
          </a:p>
        </p:txBody>
      </p:sp>
      <p:sp>
        <p:nvSpPr>
          <p:cNvPr id="8" name="Rounded Rectangle 7"/>
          <p:cNvSpPr/>
          <p:nvPr/>
        </p:nvSpPr>
        <p:spPr>
          <a:xfrm>
            <a:off x="7452360" y="2194560"/>
            <a:ext cx="3931920" cy="4114800"/>
          </a:xfrm>
          <a:prstGeom prst="roundRect">
            <a:avLst>
              <a:gd name="adj" fmla="val 5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423160"/>
            <a:ext cx="3383280" cy="457200"/>
          </a:xfrm>
          <a:prstGeom prst="rect">
            <a:avLst/>
          </a:prstGeom>
          <a:noFill/>
        </p:spPr>
        <p:txBody>
          <a:bodyPr wrap="square" anchor="t" lIns="0" rIns="0" tIns="0" bIns="0">
            <a:spAutoFit/>
          </a:bodyPr>
          <a:lstStyle/>
          <a:p>
            <a:pPr algn="l">
              <a:lnSpc>
                <a:spcPct val="106000"/>
              </a:lnSpc>
            </a:pPr>
            <a:r>
              <a:rPr sz="1600" b="1">
                <a:solidFill>
                  <a:srgbClr val="0C1E50"/>
                </a:solidFill>
                <a:latin typeface="DM Sans"/>
                <a:cs typeface="DM Sans"/>
              </a:rPr>
              <a:t>El desafío</a:t>
            </a:r>
          </a:p>
        </p:txBody>
      </p:sp>
      <p:sp>
        <p:nvSpPr>
          <p:cNvPr id="10" name="TextBox 9"/>
          <p:cNvSpPr txBox="1"/>
          <p:nvPr/>
        </p:nvSpPr>
        <p:spPr>
          <a:xfrm>
            <a:off x="7726679" y="2971800"/>
            <a:ext cx="3429000" cy="2011680"/>
          </a:xfrm>
          <a:prstGeom prst="rect">
            <a:avLst/>
          </a:prstGeom>
          <a:noFill/>
        </p:spPr>
        <p:txBody>
          <a:bodyPr wrap="square" anchor="t" lIns="0" rIns="0" tIns="0" bIns="0">
            <a:spAutoFit/>
          </a:bodyPr>
          <a:lstStyle/>
          <a:p>
            <a:pPr algn="l">
              <a:lnSpc>
                <a:spcPct val="122000"/>
              </a:lnSpc>
              <a:spcAft>
                <a:spcPts val="600"/>
              </a:spcAft>
            </a:pPr>
            <a:r>
              <a:rPr sz="1250" b="0">
                <a:solidFill>
                  <a:srgbClr val="5B6472"/>
                </a:solidFill>
                <a:latin typeface="DM Sans"/>
                <a:cs typeface="DM Sans"/>
              </a:rPr>
              <a:t>•  Visibilidad centralizada limitada de las condiciones en cada sucursal de la red.</a:t>
            </a:r>
          </a:p>
          <a:p>
            <a:pPr algn="l">
              <a:lnSpc>
                <a:spcPct val="122000"/>
              </a:lnSpc>
              <a:spcAft>
                <a:spcPts val="600"/>
              </a:spcAft>
            </a:pPr>
            <a:r>
              <a:rPr sz="1250" b="0">
                <a:solidFill>
                  <a:srgbClr val="5B6472"/>
                </a:solidFill>
                <a:latin typeface="DM Sans"/>
                <a:cs typeface="DM Sans"/>
              </a:rPr>
              <a:t>•  Procesos manuales con baja trazabilidad, que dificultaban el seguimiento de hallazgos y la consolidación de información.</a:t>
            </a:r>
          </a:p>
          <a:p>
            <a:pPr algn="l">
              <a:lnSpc>
                <a:spcPct val="122000"/>
              </a:lnSpc>
              <a:spcAft>
                <a:spcPts val="600"/>
              </a:spcAft>
            </a:pPr>
            <a:r>
              <a:rPr sz="1250" b="0">
                <a:solidFill>
                  <a:srgbClr val="5B6472"/>
                </a:solidFill>
                <a:latin typeface="DM Sans"/>
                <a:cs typeface="DM Sans"/>
              </a:rPr>
              <a:t>•  Dependencia de soporte externo para ajustar los controles de inspección.</a:t>
            </a:r>
          </a:p>
        </p:txBody>
      </p:sp>
      <p:sp>
        <p:nvSpPr>
          <p:cNvPr id="11" name="TextBox 10"/>
          <p:cNvSpPr txBox="1"/>
          <p:nvPr/>
        </p:nvSpPr>
        <p:spPr>
          <a:xfrm>
            <a:off x="7726679" y="5166360"/>
            <a:ext cx="3429000" cy="1051560"/>
          </a:xfrm>
          <a:prstGeom prst="rect">
            <a:avLst/>
          </a:prstGeom>
          <a:noFill/>
        </p:spPr>
        <p:txBody>
          <a:bodyPr wrap="square" anchor="t" lIns="0" rIns="0" tIns="0" bIns="0">
            <a:spAutoFit/>
          </a:bodyPr>
          <a:lstStyle/>
          <a:p>
            <a:pPr algn="l">
              <a:lnSpc>
                <a:spcPct val="122000"/>
              </a:lnSpc>
            </a:pPr>
            <a:r>
              <a:rPr sz="1250" b="1">
                <a:solidFill>
                  <a:srgbClr val="8F4799"/>
                </a:solidFill>
                <a:latin typeface="DM Sans"/>
                <a:cs typeface="DM Sans"/>
              </a:rPr>
              <a:t>Objetivo.  </a:t>
            </a:r>
            <a:r>
              <a:rPr sz="1250" b="0">
                <a:solidFill>
                  <a:srgbClr val="5B6472"/>
                </a:solidFill>
                <a:latin typeface="DM Sans"/>
                <a:cs typeface="DM Sans"/>
              </a:rPr>
              <a:t>Dotar al área de una plataforma flexible y segura, con control en tiempo real sobre toda la red, manteniendo la autonomía del equipo y los estándares de seguridad del sector financiero.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85800"/>
            <a:ext cx="10515600" cy="457200"/>
          </a:xfrm>
          <a:prstGeom prst="rect">
            <a:avLst/>
          </a:prstGeom>
          <a:noFill/>
        </p:spPr>
        <p:txBody>
          <a:bodyPr wrap="square" anchor="t" lIns="0" rIns="0" tIns="0" bIns="0">
            <a:spAutoFit/>
          </a:bodyPr>
          <a:lstStyle/>
          <a:p>
            <a:pPr algn="l">
              <a:lnSpc>
                <a:spcPct val="106000"/>
              </a:lnSpc>
            </a:pPr>
            <a:r>
              <a:rPr sz="1300" b="1">
                <a:solidFill>
                  <a:srgbClr val="8F4799"/>
                </a:solidFill>
                <a:latin typeface="DM Sans"/>
                <a:cs typeface="DM Sans"/>
              </a:rPr>
              <a:t>CASO DE ÉXITO · BANCO FALABELLA</a:t>
            </a:r>
          </a:p>
        </p:txBody>
      </p:sp>
      <p:sp>
        <p:nvSpPr>
          <p:cNvPr id="3" name="TextBox 2"/>
          <p:cNvSpPr txBox="1"/>
          <p:nvPr/>
        </p:nvSpPr>
        <p:spPr>
          <a:xfrm>
            <a:off x="822960" y="1143000"/>
            <a:ext cx="10515600" cy="914400"/>
          </a:xfrm>
          <a:prstGeom prst="rect">
            <a:avLst/>
          </a:prstGeom>
          <a:noFill/>
        </p:spPr>
        <p:txBody>
          <a:bodyPr wrap="square" anchor="t" lIns="0" rIns="0" tIns="0" bIns="0">
            <a:spAutoFit/>
          </a:bodyPr>
          <a:lstStyle/>
          <a:p>
            <a:pPr algn="l">
              <a:lnSpc>
                <a:spcPct val="105000"/>
              </a:lnSpc>
            </a:pPr>
            <a:r>
              <a:rPr sz="2700" b="1">
                <a:solidFill>
                  <a:srgbClr val="0C1E50"/>
                </a:solidFill>
                <a:latin typeface="DM Sans"/>
                <a:cs typeface="DM Sans"/>
              </a:rPr>
              <a:t>Una implementación ágil, autónoma y validada en ciberseguridad</a:t>
            </a:r>
          </a:p>
        </p:txBody>
      </p:sp>
      <p:sp>
        <p:nvSpPr>
          <p:cNvPr id="4" name="Rounded Rectangle 3"/>
          <p:cNvSpPr/>
          <p:nvPr/>
        </p:nvSpPr>
        <p:spPr>
          <a:xfrm>
            <a:off x="822960" y="2377440"/>
            <a:ext cx="3429000" cy="3703320"/>
          </a:xfrm>
          <a:prstGeom prst="roundRect">
            <a:avLst>
              <a:gd name="adj" fmla="val 5000"/>
            </a:avLst>
          </a:prstGeom>
          <a:solidFill>
            <a:srgbClr val="F4F6FB"/>
          </a:solidFill>
          <a:ln w="12700">
            <a:solidFill>
              <a:srgbClr val="E2E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143000" y="2670048"/>
            <a:ext cx="822960" cy="82296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uo-shield-check-1537D1-192.png"/>
          <p:cNvPicPr>
            <a:picLocks noChangeAspect="1"/>
          </p:cNvPicPr>
          <p:nvPr/>
        </p:nvPicPr>
        <p:blipFill>
          <a:blip r:embed="rId2"/>
          <a:stretch>
            <a:fillRect/>
          </a:stretch>
        </p:blipFill>
        <p:spPr>
          <a:xfrm>
            <a:off x="1261872" y="2788920"/>
            <a:ext cx="585216" cy="585216"/>
          </a:xfrm>
          <a:prstGeom prst="rect">
            <a:avLst/>
          </a:prstGeom>
        </p:spPr>
      </p:pic>
      <p:sp>
        <p:nvSpPr>
          <p:cNvPr id="7" name="TextBox 6"/>
          <p:cNvSpPr txBox="1"/>
          <p:nvPr/>
        </p:nvSpPr>
        <p:spPr>
          <a:xfrm>
            <a:off x="1143000" y="3639312"/>
            <a:ext cx="2788920" cy="731520"/>
          </a:xfrm>
          <a:prstGeom prst="rect">
            <a:avLst/>
          </a:prstGeom>
          <a:noFill/>
        </p:spPr>
        <p:txBody>
          <a:bodyPr wrap="square" anchor="t" lIns="0" rIns="0" tIns="0" bIns="0">
            <a:spAutoFit/>
          </a:bodyPr>
          <a:lstStyle/>
          <a:p>
            <a:pPr algn="l">
              <a:lnSpc>
                <a:spcPct val="102000"/>
              </a:lnSpc>
            </a:pPr>
            <a:r>
              <a:rPr sz="1650" b="1">
                <a:solidFill>
                  <a:srgbClr val="0C1E50"/>
                </a:solidFill>
                <a:latin typeface="DM Sans"/>
                <a:cs typeface="DM Sans"/>
              </a:rPr>
              <a:t>Autonomía operativa</a:t>
            </a:r>
          </a:p>
        </p:txBody>
      </p:sp>
      <p:sp>
        <p:nvSpPr>
          <p:cNvPr id="8" name="TextBox 7"/>
          <p:cNvSpPr txBox="1"/>
          <p:nvPr/>
        </p:nvSpPr>
        <p:spPr>
          <a:xfrm>
            <a:off x="1161288" y="4315968"/>
            <a:ext cx="2770632" cy="1645920"/>
          </a:xfrm>
          <a:prstGeom prst="rect">
            <a:avLst/>
          </a:prstGeom>
          <a:noFill/>
        </p:spPr>
        <p:txBody>
          <a:bodyPr wrap="square" anchor="t" lIns="0" rIns="0" tIns="0" bIns="0">
            <a:spAutoFit/>
          </a:bodyPr>
          <a:lstStyle/>
          <a:p>
            <a:pPr algn="l">
              <a:lnSpc>
                <a:spcPct val="124000"/>
              </a:lnSpc>
            </a:pPr>
            <a:r>
              <a:rPr sz="1150" b="0">
                <a:solidFill>
                  <a:srgbClr val="5B6472"/>
                </a:solidFill>
                <a:latin typeface="DM Sans"/>
                <a:cs typeface="DM Sans"/>
              </a:rPr>
              <a:t>Configurar y adaptar las listas de verificación de forma independiente, sin depender de soporte externo, con controles específicos por tipo de inspección: cumplimiento normativo, inspección de equipos críticos y seguridad física con acceso restringido.</a:t>
            </a:r>
          </a:p>
        </p:txBody>
      </p:sp>
      <p:sp>
        <p:nvSpPr>
          <p:cNvPr id="9" name="Rounded Rectangle 8"/>
          <p:cNvSpPr/>
          <p:nvPr/>
        </p:nvSpPr>
        <p:spPr>
          <a:xfrm>
            <a:off x="4434840" y="2377440"/>
            <a:ext cx="3429000" cy="3703320"/>
          </a:xfrm>
          <a:prstGeom prst="roundRect">
            <a:avLst>
              <a:gd name="adj" fmla="val 5000"/>
            </a:avLst>
          </a:prstGeom>
          <a:solidFill>
            <a:srgbClr val="F4F6FB"/>
          </a:solidFill>
          <a:ln w="12700">
            <a:solidFill>
              <a:srgbClr val="E2E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754880" y="2670048"/>
            <a:ext cx="822960" cy="82296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duo-calendar-check-1537D1-192.png"/>
          <p:cNvPicPr>
            <a:picLocks noChangeAspect="1"/>
          </p:cNvPicPr>
          <p:nvPr/>
        </p:nvPicPr>
        <p:blipFill>
          <a:blip r:embed="rId3"/>
          <a:stretch>
            <a:fillRect/>
          </a:stretch>
        </p:blipFill>
        <p:spPr>
          <a:xfrm>
            <a:off x="4873752" y="2788920"/>
            <a:ext cx="585216" cy="585216"/>
          </a:xfrm>
          <a:prstGeom prst="rect">
            <a:avLst/>
          </a:prstGeom>
        </p:spPr>
      </p:pic>
      <p:sp>
        <p:nvSpPr>
          <p:cNvPr id="12" name="TextBox 11"/>
          <p:cNvSpPr txBox="1"/>
          <p:nvPr/>
        </p:nvSpPr>
        <p:spPr>
          <a:xfrm>
            <a:off x="4754880" y="3639312"/>
            <a:ext cx="2788920" cy="731520"/>
          </a:xfrm>
          <a:prstGeom prst="rect">
            <a:avLst/>
          </a:prstGeom>
          <a:noFill/>
        </p:spPr>
        <p:txBody>
          <a:bodyPr wrap="square" anchor="t" lIns="0" rIns="0" tIns="0" bIns="0">
            <a:spAutoFit/>
          </a:bodyPr>
          <a:lstStyle/>
          <a:p>
            <a:pPr algn="l">
              <a:lnSpc>
                <a:spcPct val="102000"/>
              </a:lnSpc>
            </a:pPr>
            <a:r>
              <a:rPr sz="1650" b="1">
                <a:solidFill>
                  <a:srgbClr val="0C1E50"/>
                </a:solidFill>
                <a:latin typeface="DM Sans"/>
                <a:cs typeface="DM Sans"/>
              </a:rPr>
              <a:t>Implementación ágil</a:t>
            </a:r>
          </a:p>
        </p:txBody>
      </p:sp>
      <p:sp>
        <p:nvSpPr>
          <p:cNvPr id="13" name="TextBox 12"/>
          <p:cNvSpPr txBox="1"/>
          <p:nvPr/>
        </p:nvSpPr>
        <p:spPr>
          <a:xfrm>
            <a:off x="4773168" y="4315968"/>
            <a:ext cx="2770632" cy="1645920"/>
          </a:xfrm>
          <a:prstGeom prst="rect">
            <a:avLst/>
          </a:prstGeom>
          <a:noFill/>
        </p:spPr>
        <p:txBody>
          <a:bodyPr wrap="square" anchor="t" lIns="0" rIns="0" tIns="0" bIns="0">
            <a:spAutoFit/>
          </a:bodyPr>
          <a:lstStyle/>
          <a:p>
            <a:pPr algn="l">
              <a:lnSpc>
                <a:spcPct val="124000"/>
              </a:lnSpc>
            </a:pPr>
            <a:r>
              <a:rPr sz="1150" b="0">
                <a:solidFill>
                  <a:srgbClr val="5B6472"/>
                </a:solidFill>
                <a:latin typeface="DM Sans"/>
                <a:cs typeface="DM Sans"/>
              </a:rPr>
              <a:t>Desplegada en cerca de 2 semanas, incluyendo configuración y capacitación, con rápida adopción sin afectar la operación.</a:t>
            </a:r>
          </a:p>
        </p:txBody>
      </p:sp>
      <p:sp>
        <p:nvSpPr>
          <p:cNvPr id="14" name="Rounded Rectangle 13"/>
          <p:cNvSpPr/>
          <p:nvPr/>
        </p:nvSpPr>
        <p:spPr>
          <a:xfrm>
            <a:off x="8046720" y="2377440"/>
            <a:ext cx="3429000" cy="3703320"/>
          </a:xfrm>
          <a:prstGeom prst="roundRect">
            <a:avLst>
              <a:gd name="adj" fmla="val 5000"/>
            </a:avLst>
          </a:prstGeom>
          <a:solidFill>
            <a:srgbClr val="F4F6FB"/>
          </a:solidFill>
          <a:ln w="12700">
            <a:solidFill>
              <a:srgbClr val="E2E7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366760" y="2670048"/>
            <a:ext cx="822960" cy="82296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duo-seal-check-1537D1-192.png"/>
          <p:cNvPicPr>
            <a:picLocks noChangeAspect="1"/>
          </p:cNvPicPr>
          <p:nvPr/>
        </p:nvPicPr>
        <p:blipFill>
          <a:blip r:embed="rId4"/>
          <a:stretch>
            <a:fillRect/>
          </a:stretch>
        </p:blipFill>
        <p:spPr>
          <a:xfrm>
            <a:off x="8485632" y="2788920"/>
            <a:ext cx="585216" cy="585216"/>
          </a:xfrm>
          <a:prstGeom prst="rect">
            <a:avLst/>
          </a:prstGeom>
        </p:spPr>
      </p:pic>
      <p:sp>
        <p:nvSpPr>
          <p:cNvPr id="17" name="TextBox 16"/>
          <p:cNvSpPr txBox="1"/>
          <p:nvPr/>
        </p:nvSpPr>
        <p:spPr>
          <a:xfrm>
            <a:off x="8366760" y="3639312"/>
            <a:ext cx="2788920" cy="731520"/>
          </a:xfrm>
          <a:prstGeom prst="rect">
            <a:avLst/>
          </a:prstGeom>
          <a:noFill/>
        </p:spPr>
        <p:txBody>
          <a:bodyPr wrap="square" anchor="t" lIns="0" rIns="0" tIns="0" bIns="0">
            <a:spAutoFit/>
          </a:bodyPr>
          <a:lstStyle/>
          <a:p>
            <a:pPr algn="l">
              <a:lnSpc>
                <a:spcPct val="102000"/>
              </a:lnSpc>
            </a:pPr>
            <a:r>
              <a:rPr sz="1650" b="1">
                <a:solidFill>
                  <a:srgbClr val="0C1E50"/>
                </a:solidFill>
                <a:latin typeface="DM Sans"/>
                <a:cs typeface="DM Sans"/>
              </a:rPr>
              <a:t>Validación en ciberseguridad</a:t>
            </a:r>
          </a:p>
        </p:txBody>
      </p:sp>
      <p:sp>
        <p:nvSpPr>
          <p:cNvPr id="18" name="TextBox 17"/>
          <p:cNvSpPr txBox="1"/>
          <p:nvPr/>
        </p:nvSpPr>
        <p:spPr>
          <a:xfrm>
            <a:off x="8385048" y="4315968"/>
            <a:ext cx="2770632" cy="1645920"/>
          </a:xfrm>
          <a:prstGeom prst="rect">
            <a:avLst/>
          </a:prstGeom>
          <a:noFill/>
        </p:spPr>
        <p:txBody>
          <a:bodyPr wrap="square" anchor="t" lIns="0" rIns="0" tIns="0" bIns="0">
            <a:spAutoFit/>
          </a:bodyPr>
          <a:lstStyle/>
          <a:p>
            <a:pPr algn="l">
              <a:lnSpc>
                <a:spcPct val="124000"/>
              </a:lnSpc>
            </a:pPr>
            <a:r>
              <a:rPr sz="1150" b="0">
                <a:solidFill>
                  <a:srgbClr val="5B6472"/>
                </a:solidFill>
                <a:latin typeface="DM Sans"/>
                <a:cs typeface="DM Sans"/>
              </a:rPr>
              <a:t>La solución superó los procesos de validación exigidos por el estándar del sector financiero.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C1E50"/>
        </a:solidFill>
        <a:effectLst/>
      </p:bgPr>
    </p:bg>
    <p:spTree>
      <p:nvGrpSpPr>
        <p:cNvPr id="1" name=""/>
        <p:cNvGrpSpPr/>
        <p:nvPr/>
      </p:nvGrpSpPr>
      <p:grpSpPr/>
      <p:sp>
        <p:nvSpPr>
          <p:cNvPr id="2" name="TextBox 1"/>
          <p:cNvSpPr txBox="1"/>
          <p:nvPr/>
        </p:nvSpPr>
        <p:spPr>
          <a:xfrm>
            <a:off x="822960" y="640080"/>
            <a:ext cx="10515600" cy="457200"/>
          </a:xfrm>
          <a:prstGeom prst="rect">
            <a:avLst/>
          </a:prstGeom>
          <a:noFill/>
        </p:spPr>
        <p:txBody>
          <a:bodyPr wrap="square" anchor="t" lIns="0" rIns="0" tIns="0" bIns="0">
            <a:spAutoFit/>
          </a:bodyPr>
          <a:lstStyle/>
          <a:p>
            <a:pPr algn="l">
              <a:lnSpc>
                <a:spcPct val="106000"/>
              </a:lnSpc>
            </a:pPr>
            <a:r>
              <a:rPr sz="1300" b="1">
                <a:solidFill>
                  <a:srgbClr val="B865C1"/>
                </a:solidFill>
                <a:latin typeface="DM Sans"/>
                <a:cs typeface="DM Sans"/>
              </a:rPr>
              <a:t>CASO DE ÉXITO · BANCO FALABELLA</a:t>
            </a:r>
          </a:p>
        </p:txBody>
      </p:sp>
      <p:sp>
        <p:nvSpPr>
          <p:cNvPr id="3" name="TextBox 2"/>
          <p:cNvSpPr txBox="1"/>
          <p:nvPr/>
        </p:nvSpPr>
        <p:spPr>
          <a:xfrm>
            <a:off x="822960" y="1097280"/>
            <a:ext cx="10515600" cy="822960"/>
          </a:xfrm>
          <a:prstGeom prst="rect">
            <a:avLst/>
          </a:prstGeom>
          <a:noFill/>
        </p:spPr>
        <p:txBody>
          <a:bodyPr wrap="square" anchor="t" lIns="0" rIns="0" tIns="0" bIns="0">
            <a:spAutoFit/>
          </a:bodyPr>
          <a:lstStyle/>
          <a:p>
            <a:pPr algn="l">
              <a:lnSpc>
                <a:spcPct val="105000"/>
              </a:lnSpc>
            </a:pPr>
            <a:r>
              <a:rPr sz="2600" b="1">
                <a:solidFill>
                  <a:srgbClr val="FFFFFF"/>
                </a:solidFill>
                <a:latin typeface="DM Sans"/>
                <a:cs typeface="DM Sans"/>
              </a:rPr>
              <a:t>Más control, mejor trazabilidad y decisiones con respaldo</a:t>
            </a:r>
          </a:p>
        </p:txBody>
      </p:sp>
      <p:sp>
        <p:nvSpPr>
          <p:cNvPr id="4" name="Rounded Rectangle 3"/>
          <p:cNvSpPr/>
          <p:nvPr/>
        </p:nvSpPr>
        <p:spPr>
          <a:xfrm>
            <a:off x="822960" y="2148840"/>
            <a:ext cx="3429000" cy="1600200"/>
          </a:xfrm>
          <a:prstGeom prst="roundRect">
            <a:avLst>
              <a:gd name="adj" fmla="val 6000"/>
            </a:avLst>
          </a:prstGeom>
          <a:solidFill>
            <a:srgbClr val="122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350008"/>
            <a:ext cx="2880360" cy="822960"/>
          </a:xfrm>
          <a:prstGeom prst="rect">
            <a:avLst/>
          </a:prstGeom>
          <a:noFill/>
        </p:spPr>
        <p:txBody>
          <a:bodyPr wrap="square" anchor="t" lIns="0" rIns="0" tIns="0" bIns="0">
            <a:spAutoFit/>
          </a:bodyPr>
          <a:lstStyle/>
          <a:p>
            <a:pPr algn="l">
              <a:lnSpc>
                <a:spcPct val="106000"/>
              </a:lnSpc>
            </a:pPr>
            <a:r>
              <a:rPr sz="4000" b="1">
                <a:solidFill>
                  <a:srgbClr val="A2D6F9"/>
                </a:solidFill>
                <a:latin typeface="DM Sans"/>
                <a:cs typeface="DM Sans"/>
              </a:rPr>
              <a:t>80</a:t>
            </a:r>
          </a:p>
        </p:txBody>
      </p:sp>
      <p:sp>
        <p:nvSpPr>
          <p:cNvPr id="6" name="TextBox 5"/>
          <p:cNvSpPr txBox="1"/>
          <p:nvPr/>
        </p:nvSpPr>
        <p:spPr>
          <a:xfrm>
            <a:off x="1115568" y="3172968"/>
            <a:ext cx="2843784" cy="502920"/>
          </a:xfrm>
          <a:prstGeom prst="rect">
            <a:avLst/>
          </a:prstGeom>
          <a:noFill/>
        </p:spPr>
        <p:txBody>
          <a:bodyPr wrap="square" anchor="t" lIns="0" rIns="0" tIns="0" bIns="0">
            <a:spAutoFit/>
          </a:bodyPr>
          <a:lstStyle/>
          <a:p>
            <a:pPr algn="l">
              <a:lnSpc>
                <a:spcPct val="105000"/>
              </a:lnSpc>
            </a:pPr>
            <a:r>
              <a:rPr sz="1250" b="0">
                <a:solidFill>
                  <a:srgbClr val="CBD6EC"/>
                </a:solidFill>
                <a:latin typeface="DM Sans"/>
                <a:cs typeface="DM Sans"/>
              </a:rPr>
              <a:t>sucursales bajo control centralizado</a:t>
            </a:r>
          </a:p>
        </p:txBody>
      </p:sp>
      <p:sp>
        <p:nvSpPr>
          <p:cNvPr id="7" name="Rounded Rectangle 6"/>
          <p:cNvSpPr/>
          <p:nvPr/>
        </p:nvSpPr>
        <p:spPr>
          <a:xfrm>
            <a:off x="4434840" y="2148840"/>
            <a:ext cx="3429000" cy="1600200"/>
          </a:xfrm>
          <a:prstGeom prst="roundRect">
            <a:avLst>
              <a:gd name="adj" fmla="val 6000"/>
            </a:avLst>
          </a:prstGeom>
          <a:solidFill>
            <a:srgbClr val="122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09160" y="2350008"/>
            <a:ext cx="2880360" cy="822960"/>
          </a:xfrm>
          <a:prstGeom prst="rect">
            <a:avLst/>
          </a:prstGeom>
          <a:noFill/>
        </p:spPr>
        <p:txBody>
          <a:bodyPr wrap="square" anchor="t" lIns="0" rIns="0" tIns="0" bIns="0">
            <a:spAutoFit/>
          </a:bodyPr>
          <a:lstStyle/>
          <a:p>
            <a:pPr algn="l">
              <a:lnSpc>
                <a:spcPct val="106000"/>
              </a:lnSpc>
            </a:pPr>
            <a:r>
              <a:rPr sz="4000" b="1">
                <a:solidFill>
                  <a:srgbClr val="A2D6F9"/>
                </a:solidFill>
                <a:latin typeface="DM Sans"/>
                <a:cs typeface="DM Sans"/>
              </a:rPr>
              <a:t>~2 sem</a:t>
            </a:r>
          </a:p>
        </p:txBody>
      </p:sp>
      <p:sp>
        <p:nvSpPr>
          <p:cNvPr id="9" name="TextBox 8"/>
          <p:cNvSpPr txBox="1"/>
          <p:nvPr/>
        </p:nvSpPr>
        <p:spPr>
          <a:xfrm>
            <a:off x="4727448" y="3172968"/>
            <a:ext cx="2843784" cy="502920"/>
          </a:xfrm>
          <a:prstGeom prst="rect">
            <a:avLst/>
          </a:prstGeom>
          <a:noFill/>
        </p:spPr>
        <p:txBody>
          <a:bodyPr wrap="square" anchor="t" lIns="0" rIns="0" tIns="0" bIns="0">
            <a:spAutoFit/>
          </a:bodyPr>
          <a:lstStyle/>
          <a:p>
            <a:pPr algn="l">
              <a:lnSpc>
                <a:spcPct val="105000"/>
              </a:lnSpc>
            </a:pPr>
            <a:r>
              <a:rPr sz="1250" b="0">
                <a:solidFill>
                  <a:srgbClr val="CBD6EC"/>
                </a:solidFill>
                <a:latin typeface="DM Sans"/>
                <a:cs typeface="DM Sans"/>
              </a:rPr>
              <a:t>de implementación y capacitación</a:t>
            </a:r>
          </a:p>
        </p:txBody>
      </p:sp>
      <p:sp>
        <p:nvSpPr>
          <p:cNvPr id="10" name="Rounded Rectangle 9"/>
          <p:cNvSpPr/>
          <p:nvPr/>
        </p:nvSpPr>
        <p:spPr>
          <a:xfrm>
            <a:off x="8046720" y="2148840"/>
            <a:ext cx="3429000" cy="1600200"/>
          </a:xfrm>
          <a:prstGeom prst="roundRect">
            <a:avLst>
              <a:gd name="adj" fmla="val 6000"/>
            </a:avLst>
          </a:prstGeom>
          <a:solidFill>
            <a:srgbClr val="122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2350008"/>
            <a:ext cx="2880360" cy="822960"/>
          </a:xfrm>
          <a:prstGeom prst="rect">
            <a:avLst/>
          </a:prstGeom>
          <a:noFill/>
        </p:spPr>
        <p:txBody>
          <a:bodyPr wrap="square" anchor="t" lIns="0" rIns="0" tIns="0" bIns="0">
            <a:spAutoFit/>
          </a:bodyPr>
          <a:lstStyle/>
          <a:p>
            <a:pPr algn="l">
              <a:lnSpc>
                <a:spcPct val="106000"/>
              </a:lnSpc>
            </a:pPr>
            <a:r>
              <a:rPr sz="4000" b="1">
                <a:solidFill>
                  <a:srgbClr val="A2D6F9"/>
                </a:solidFill>
                <a:latin typeface="DM Sans"/>
                <a:cs typeface="DM Sans"/>
              </a:rPr>
              <a:t>100%</a:t>
            </a:r>
          </a:p>
        </p:txBody>
      </p:sp>
      <p:sp>
        <p:nvSpPr>
          <p:cNvPr id="12" name="TextBox 11"/>
          <p:cNvSpPr txBox="1"/>
          <p:nvPr/>
        </p:nvSpPr>
        <p:spPr>
          <a:xfrm>
            <a:off x="8339328" y="3172968"/>
            <a:ext cx="2843784" cy="502920"/>
          </a:xfrm>
          <a:prstGeom prst="rect">
            <a:avLst/>
          </a:prstGeom>
          <a:noFill/>
        </p:spPr>
        <p:txBody>
          <a:bodyPr wrap="square" anchor="t" lIns="0" rIns="0" tIns="0" bIns="0">
            <a:spAutoFit/>
          </a:bodyPr>
          <a:lstStyle/>
          <a:p>
            <a:pPr algn="l">
              <a:lnSpc>
                <a:spcPct val="105000"/>
              </a:lnSpc>
            </a:pPr>
            <a:r>
              <a:rPr sz="1250" b="0">
                <a:solidFill>
                  <a:srgbClr val="CBD6EC"/>
                </a:solidFill>
                <a:latin typeface="DM Sans"/>
                <a:cs typeface="DM Sans"/>
              </a:rPr>
              <a:t>validación de ciberseguridad superada</a:t>
            </a:r>
          </a:p>
        </p:txBody>
      </p:sp>
      <p:sp>
        <p:nvSpPr>
          <p:cNvPr id="13" name="TextBox 12"/>
          <p:cNvSpPr txBox="1"/>
          <p:nvPr/>
        </p:nvSpPr>
        <p:spPr>
          <a:xfrm>
            <a:off x="822960" y="4114800"/>
            <a:ext cx="6126480" cy="2103120"/>
          </a:xfrm>
          <a:prstGeom prst="rect">
            <a:avLst/>
          </a:prstGeom>
          <a:noFill/>
        </p:spPr>
        <p:txBody>
          <a:bodyPr wrap="square" anchor="t" lIns="0" rIns="0" tIns="0" bIns="0">
            <a:spAutoFit/>
          </a:bodyPr>
          <a:lstStyle/>
          <a:p>
            <a:pPr algn="l">
              <a:lnSpc>
                <a:spcPct val="130000"/>
              </a:lnSpc>
              <a:spcAft>
                <a:spcPts val="500"/>
              </a:spcAft>
            </a:pPr>
            <a:r>
              <a:rPr sz="1300" b="0">
                <a:solidFill>
                  <a:srgbClr val="E4EAF6"/>
                </a:solidFill>
                <a:latin typeface="DM Sans"/>
                <a:cs typeface="DM Sans"/>
              </a:rPr>
              <a:t>•  Mayor control y visibilidad sobre la operación en sucursales.</a:t>
            </a:r>
          </a:p>
          <a:p>
            <a:pPr algn="l">
              <a:lnSpc>
                <a:spcPct val="130000"/>
              </a:lnSpc>
              <a:spcAft>
                <a:spcPts val="500"/>
              </a:spcAft>
            </a:pPr>
            <a:r>
              <a:rPr sz="1300" b="0">
                <a:solidFill>
                  <a:srgbClr val="E4EAF6"/>
                </a:solidFill>
                <a:latin typeface="DM Sans"/>
                <a:cs typeface="DM Sans"/>
              </a:rPr>
              <a:t>•  Mejor trazabilidad y seguimiento de hallazgos.</a:t>
            </a:r>
          </a:p>
          <a:p>
            <a:pPr algn="l">
              <a:lnSpc>
                <a:spcPct val="130000"/>
              </a:lnSpc>
              <a:spcAft>
                <a:spcPts val="500"/>
              </a:spcAft>
            </a:pPr>
            <a:r>
              <a:rPr sz="1300" b="0">
                <a:solidFill>
                  <a:srgbClr val="E4EAF6"/>
                </a:solidFill>
                <a:latin typeface="DM Sans"/>
                <a:cs typeface="DM Sans"/>
              </a:rPr>
              <a:t>•  Información consolidada para la toma de decisiones.</a:t>
            </a:r>
          </a:p>
          <a:p>
            <a:pPr algn="l">
              <a:lnSpc>
                <a:spcPct val="130000"/>
              </a:lnSpc>
              <a:spcAft>
                <a:spcPts val="500"/>
              </a:spcAft>
            </a:pPr>
            <a:r>
              <a:rPr sz="1300" b="0">
                <a:solidFill>
                  <a:srgbClr val="E4EAF6"/>
                </a:solidFill>
                <a:latin typeface="DM Sans"/>
                <a:cs typeface="DM Sans"/>
              </a:rPr>
              <a:t>•  Fortalecimiento del rol estratégico del área de prevención.</a:t>
            </a:r>
          </a:p>
        </p:txBody>
      </p:sp>
      <p:sp>
        <p:nvSpPr>
          <p:cNvPr id="14" name="Rounded Rectangle 13"/>
          <p:cNvSpPr/>
          <p:nvPr/>
        </p:nvSpPr>
        <p:spPr>
          <a:xfrm>
            <a:off x="7223760" y="4114800"/>
            <a:ext cx="4160520" cy="2148840"/>
          </a:xfrm>
          <a:prstGeom prst="roundRect">
            <a:avLst>
              <a:gd name="adj" fmla="val 5000"/>
            </a:avLst>
          </a:prstGeom>
          <a:solidFill>
            <a:srgbClr val="122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79" y="4343400"/>
            <a:ext cx="3611880" cy="457200"/>
          </a:xfrm>
          <a:prstGeom prst="rect">
            <a:avLst/>
          </a:prstGeom>
          <a:noFill/>
        </p:spPr>
        <p:txBody>
          <a:bodyPr wrap="square" anchor="t" lIns="0" rIns="0" tIns="0" bIns="0">
            <a:spAutoFit/>
          </a:bodyPr>
          <a:lstStyle/>
          <a:p>
            <a:pPr algn="l">
              <a:lnSpc>
                <a:spcPct val="106000"/>
              </a:lnSpc>
            </a:pPr>
            <a:r>
              <a:rPr sz="1400" b="1">
                <a:solidFill>
                  <a:srgbClr val="B865C1"/>
                </a:solidFill>
                <a:latin typeface="DM Sans"/>
                <a:cs typeface="DM Sans"/>
              </a:rPr>
              <a:t>Impacto organizacional</a:t>
            </a:r>
          </a:p>
        </p:txBody>
      </p:sp>
      <p:sp>
        <p:nvSpPr>
          <p:cNvPr id="16" name="TextBox 15"/>
          <p:cNvSpPr txBox="1"/>
          <p:nvPr/>
        </p:nvSpPr>
        <p:spPr>
          <a:xfrm>
            <a:off x="7498079" y="4846320"/>
            <a:ext cx="3611880" cy="1280160"/>
          </a:xfrm>
          <a:prstGeom prst="rect">
            <a:avLst/>
          </a:prstGeom>
          <a:noFill/>
        </p:spPr>
        <p:txBody>
          <a:bodyPr wrap="square" anchor="t" lIns="0" rIns="0" tIns="0" bIns="0">
            <a:spAutoFit/>
          </a:bodyPr>
          <a:lstStyle/>
          <a:p>
            <a:pPr algn="l">
              <a:lnSpc>
                <a:spcPct val="122000"/>
              </a:lnSpc>
            </a:pPr>
            <a:r>
              <a:rPr sz="1200" b="0">
                <a:solidFill>
                  <a:srgbClr val="D7E0F0"/>
                </a:solidFill>
                <a:latin typeface="DM Sans"/>
                <a:cs typeface="DM Sans"/>
              </a:rPr>
              <a:t>El área de prevención evolucionó de una función operativa a un actor relevante en la toma de decisiones, respaldado por información confiable y oportuna.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C1E50"/>
        </a:solidFill>
        <a:effectLst/>
      </p:bgPr>
    </p:bg>
    <p:spTree>
      <p:nvGrpSpPr>
        <p:cNvPr id="1" name=""/>
        <p:cNvGrpSpPr/>
        <p:nvPr/>
      </p:nvGrpSpPr>
      <p:grpSpPr/>
      <p:pic>
        <p:nvPicPr>
          <p:cNvPr id="2" name="Picture 1" descr="tazki-wordmark-blanco.png"/>
          <p:cNvPicPr>
            <a:picLocks noChangeAspect="1"/>
          </p:cNvPicPr>
          <p:nvPr/>
        </p:nvPicPr>
        <p:blipFill>
          <a:blip r:embed="rId2"/>
          <a:stretch>
            <a:fillRect/>
          </a:stretch>
        </p:blipFill>
        <p:spPr>
          <a:xfrm>
            <a:off x="822960" y="731520"/>
            <a:ext cx="2194560" cy="807285"/>
          </a:xfrm>
          <a:prstGeom prst="rect">
            <a:avLst/>
          </a:prstGeom>
        </p:spPr>
      </p:pic>
      <p:sp>
        <p:nvSpPr>
          <p:cNvPr id="3" name="TextBox 2"/>
          <p:cNvSpPr txBox="1"/>
          <p:nvPr/>
        </p:nvSpPr>
        <p:spPr>
          <a:xfrm>
            <a:off x="822960" y="1828800"/>
            <a:ext cx="10515600" cy="1371600"/>
          </a:xfrm>
          <a:prstGeom prst="rect">
            <a:avLst/>
          </a:prstGeom>
          <a:noFill/>
        </p:spPr>
        <p:txBody>
          <a:bodyPr wrap="square" anchor="t" lIns="0" rIns="0" tIns="0" bIns="0">
            <a:spAutoFit/>
          </a:bodyPr>
          <a:lstStyle/>
          <a:p>
            <a:pPr algn="l">
              <a:lnSpc>
                <a:spcPct val="100000"/>
              </a:lnSpc>
            </a:pPr>
            <a:r>
              <a:rPr sz="4400" b="1">
                <a:solidFill>
                  <a:srgbClr val="FFFFFF"/>
                </a:solidFill>
                <a:latin typeface="DM Sans"/>
                <a:cs typeface="DM Sans"/>
              </a:rPr>
              <a:t>Demos el primer paso</a:t>
            </a:r>
          </a:p>
          <a:p>
            <a:pPr algn="l">
              <a:lnSpc>
                <a:spcPct val="100000"/>
              </a:lnSpc>
            </a:pPr>
            <a:r>
              <a:rPr sz="4400" b="1">
                <a:solidFill>
                  <a:srgbClr val="FFFFFF"/>
                </a:solidFill>
                <a:latin typeface="DM Sans"/>
                <a:cs typeface="DM Sans"/>
              </a:rPr>
              <a:t>hacia una prevención al día.</a:t>
            </a:r>
          </a:p>
        </p:txBody>
      </p:sp>
      <p:sp>
        <p:nvSpPr>
          <p:cNvPr id="4" name="TextBox 3"/>
          <p:cNvSpPr txBox="1"/>
          <p:nvPr/>
        </p:nvSpPr>
        <p:spPr>
          <a:xfrm>
            <a:off x="822960" y="3794760"/>
            <a:ext cx="3429000" cy="822960"/>
          </a:xfrm>
          <a:prstGeom prst="rect">
            <a:avLst/>
          </a:prstGeom>
          <a:noFill/>
        </p:spPr>
        <p:txBody>
          <a:bodyPr wrap="square" anchor="t" lIns="0" rIns="0" tIns="0" bIns="0">
            <a:spAutoFit/>
          </a:bodyPr>
          <a:lstStyle/>
          <a:p>
            <a:pPr algn="l">
              <a:lnSpc>
                <a:spcPct val="106000"/>
              </a:lnSpc>
            </a:pPr>
            <a:r>
              <a:rPr sz="3800" b="1">
                <a:solidFill>
                  <a:srgbClr val="A2D6F9"/>
                </a:solidFill>
                <a:latin typeface="DM Sans"/>
                <a:cs typeface="DM Sans"/>
              </a:rPr>
              <a:t>28.423</a:t>
            </a:r>
          </a:p>
        </p:txBody>
      </p:sp>
      <p:sp>
        <p:nvSpPr>
          <p:cNvPr id="5" name="TextBox 4"/>
          <p:cNvSpPr txBox="1"/>
          <p:nvPr/>
        </p:nvSpPr>
        <p:spPr>
          <a:xfrm>
            <a:off x="841248" y="4572000"/>
            <a:ext cx="3337560" cy="640080"/>
          </a:xfrm>
          <a:prstGeom prst="rect">
            <a:avLst/>
          </a:prstGeom>
          <a:noFill/>
        </p:spPr>
        <p:txBody>
          <a:bodyPr wrap="square" anchor="t" lIns="0" rIns="0" tIns="0" bIns="0">
            <a:spAutoFit/>
          </a:bodyPr>
          <a:lstStyle/>
          <a:p>
            <a:pPr algn="l">
              <a:lnSpc>
                <a:spcPct val="108000"/>
              </a:lnSpc>
            </a:pPr>
            <a:r>
              <a:rPr sz="1300" b="0">
                <a:solidFill>
                  <a:srgbClr val="CBD6EC"/>
                </a:solidFill>
                <a:latin typeface="DM Sans"/>
                <a:cs typeface="DM Sans"/>
              </a:rPr>
              <a:t>horas hombre devueltas a terreno</a:t>
            </a:r>
          </a:p>
        </p:txBody>
      </p:sp>
      <p:sp>
        <p:nvSpPr>
          <p:cNvPr id="6" name="TextBox 5"/>
          <p:cNvSpPr txBox="1"/>
          <p:nvPr/>
        </p:nvSpPr>
        <p:spPr>
          <a:xfrm>
            <a:off x="4434840" y="3794760"/>
            <a:ext cx="3429000" cy="822960"/>
          </a:xfrm>
          <a:prstGeom prst="rect">
            <a:avLst/>
          </a:prstGeom>
          <a:noFill/>
        </p:spPr>
        <p:txBody>
          <a:bodyPr wrap="square" anchor="t" lIns="0" rIns="0" tIns="0" bIns="0">
            <a:spAutoFit/>
          </a:bodyPr>
          <a:lstStyle/>
          <a:p>
            <a:pPr algn="l">
              <a:lnSpc>
                <a:spcPct val="106000"/>
              </a:lnSpc>
            </a:pPr>
            <a:r>
              <a:rPr sz="3800" b="1">
                <a:solidFill>
                  <a:srgbClr val="A2D6F9"/>
                </a:solidFill>
                <a:latin typeface="DM Sans"/>
                <a:cs typeface="DM Sans"/>
              </a:rPr>
              <a:t>210.393</a:t>
            </a:r>
          </a:p>
        </p:txBody>
      </p:sp>
      <p:sp>
        <p:nvSpPr>
          <p:cNvPr id="7" name="TextBox 6"/>
          <p:cNvSpPr txBox="1"/>
          <p:nvPr/>
        </p:nvSpPr>
        <p:spPr>
          <a:xfrm>
            <a:off x="4453128" y="4572000"/>
            <a:ext cx="3337560" cy="640080"/>
          </a:xfrm>
          <a:prstGeom prst="rect">
            <a:avLst/>
          </a:prstGeom>
          <a:noFill/>
        </p:spPr>
        <p:txBody>
          <a:bodyPr wrap="square" anchor="t" lIns="0" rIns="0" tIns="0" bIns="0">
            <a:spAutoFit/>
          </a:bodyPr>
          <a:lstStyle/>
          <a:p>
            <a:pPr algn="l">
              <a:lnSpc>
                <a:spcPct val="108000"/>
              </a:lnSpc>
            </a:pPr>
            <a:r>
              <a:rPr sz="1300" b="0">
                <a:solidFill>
                  <a:srgbClr val="CBD6EC"/>
                </a:solidFill>
                <a:latin typeface="DM Sans"/>
                <a:cs typeface="DM Sans"/>
              </a:rPr>
              <a:t>EPP entregados con firma digital</a:t>
            </a:r>
          </a:p>
        </p:txBody>
      </p:sp>
      <p:sp>
        <p:nvSpPr>
          <p:cNvPr id="8" name="TextBox 7"/>
          <p:cNvSpPr txBox="1"/>
          <p:nvPr/>
        </p:nvSpPr>
        <p:spPr>
          <a:xfrm>
            <a:off x="8046720" y="3794760"/>
            <a:ext cx="3429000" cy="822960"/>
          </a:xfrm>
          <a:prstGeom prst="rect">
            <a:avLst/>
          </a:prstGeom>
          <a:noFill/>
        </p:spPr>
        <p:txBody>
          <a:bodyPr wrap="square" anchor="t" lIns="0" rIns="0" tIns="0" bIns="0">
            <a:spAutoFit/>
          </a:bodyPr>
          <a:lstStyle/>
          <a:p>
            <a:pPr algn="l">
              <a:lnSpc>
                <a:spcPct val="106000"/>
              </a:lnSpc>
            </a:pPr>
            <a:r>
              <a:rPr sz="3800" b="1">
                <a:solidFill>
                  <a:srgbClr val="A2D6F9"/>
                </a:solidFill>
                <a:latin typeface="DM Sans"/>
                <a:cs typeface="DM Sans"/>
              </a:rPr>
              <a:t>+150</a:t>
            </a:r>
          </a:p>
        </p:txBody>
      </p:sp>
      <p:sp>
        <p:nvSpPr>
          <p:cNvPr id="9" name="TextBox 8"/>
          <p:cNvSpPr txBox="1"/>
          <p:nvPr/>
        </p:nvSpPr>
        <p:spPr>
          <a:xfrm>
            <a:off x="8065008" y="4572000"/>
            <a:ext cx="3337560" cy="640080"/>
          </a:xfrm>
          <a:prstGeom prst="rect">
            <a:avLst/>
          </a:prstGeom>
          <a:noFill/>
        </p:spPr>
        <p:txBody>
          <a:bodyPr wrap="square" anchor="t" lIns="0" rIns="0" tIns="0" bIns="0">
            <a:spAutoFit/>
          </a:bodyPr>
          <a:lstStyle/>
          <a:p>
            <a:pPr algn="l">
              <a:lnSpc>
                <a:spcPct val="108000"/>
              </a:lnSpc>
            </a:pPr>
            <a:r>
              <a:rPr sz="1300" b="0">
                <a:solidFill>
                  <a:srgbClr val="CBD6EC"/>
                </a:solidFill>
                <a:latin typeface="DM Sans"/>
                <a:cs typeface="DM Sans"/>
              </a:rPr>
              <a:t>empresas confían en Tazki</a:t>
            </a:r>
          </a:p>
        </p:txBody>
      </p:sp>
      <p:sp>
        <p:nvSpPr>
          <p:cNvPr id="10" name="Rounded Rectangle 9"/>
          <p:cNvSpPr/>
          <p:nvPr/>
        </p:nvSpPr>
        <p:spPr>
          <a:xfrm>
            <a:off x="822960" y="5577840"/>
            <a:ext cx="2286000" cy="713232"/>
          </a:xfrm>
          <a:prstGeom prst="roundRect">
            <a:avLst>
              <a:gd name="adj" fmla="val 50000"/>
            </a:avLst>
          </a:prstGeom>
          <a:solidFill>
            <a:srgbClr val="153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577840"/>
            <a:ext cx="2286000" cy="713232"/>
          </a:xfrm>
          <a:prstGeom prst="rect">
            <a:avLst/>
          </a:prstGeom>
          <a:noFill/>
        </p:spPr>
        <p:txBody>
          <a:bodyPr wrap="square" anchor="ctr" lIns="0" rIns="0" tIns="0" bIns="0">
            <a:spAutoFit/>
          </a:bodyPr>
          <a:lstStyle/>
          <a:p>
            <a:pPr algn="ctr">
              <a:lnSpc>
                <a:spcPct val="106000"/>
              </a:lnSpc>
            </a:pPr>
            <a:r>
              <a:rPr sz="1600" b="1">
                <a:solidFill>
                  <a:srgbClr val="FFFFFF"/>
                </a:solidFill>
                <a:latin typeface="DM Sans"/>
                <a:cs typeface="DM Sans"/>
              </a:rPr>
              <a:t>Conversemos</a:t>
            </a:r>
          </a:p>
        </p:txBody>
      </p:sp>
      <p:sp>
        <p:nvSpPr>
          <p:cNvPr id="12" name="TextBox 11"/>
          <p:cNvSpPr txBox="1"/>
          <p:nvPr/>
        </p:nvSpPr>
        <p:spPr>
          <a:xfrm>
            <a:off x="3291840" y="5577840"/>
            <a:ext cx="5486400" cy="713232"/>
          </a:xfrm>
          <a:prstGeom prst="rect">
            <a:avLst/>
          </a:prstGeom>
          <a:noFill/>
        </p:spPr>
        <p:txBody>
          <a:bodyPr wrap="square" anchor="ctr" lIns="0" rIns="0" tIns="0" bIns="0">
            <a:spAutoFit/>
          </a:bodyPr>
          <a:lstStyle/>
          <a:p>
            <a:pPr algn="l">
              <a:lnSpc>
                <a:spcPct val="106000"/>
              </a:lnSpc>
            </a:pPr>
            <a:r>
              <a:rPr sz="1700" b="0">
                <a:solidFill>
                  <a:srgbClr val="A2D6F9"/>
                </a:solidFill>
                <a:latin typeface="DM Sans"/>
                <a:cs typeface="DM Sans"/>
              </a:rPr>
              <a:t>tazki.cl/contactanos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 y="6784848"/>
            <a:ext cx="274320" cy="54864"/>
          </a:xfrm>
          <a:prstGeom prst="rect">
            <a:avLst/>
          </a:prstGeom>
          <a:noFill/>
        </p:spPr>
        <p:txBody>
          <a:bodyPr wrap="square" lIns="0" rIns="0" tIns="0" bIns="0">
            <a:spAutoFit/>
          </a:bodyPr>
          <a:lstStyle/>
          <a:p>
            <a:pPr>
              <a:lnSpc>
                <a:spcPct val="115000"/>
              </a:lnSpc>
              <a:spcAft>
                <a:spcPts val="0"/>
              </a:spcAft>
            </a:pPr>
            <a:r>
              <a:rPr sz="100" b="0">
                <a:solidFill>
                  <a:srgbClr val="FFFFFF"/>
                </a:solidFill>
                <a:latin typeface="DM Sans"/>
              </a:rPr>
              <a:t>​</a:t>
            </a:r>
          </a:p>
        </p:txBody>
      </p:sp>
      <p:sp>
        <p:nvSpPr>
          <p:cNvPr id="3" name="TextBox 2"/>
          <p:cNvSpPr txBox="1"/>
          <p:nvPr/>
        </p:nvSpPr>
        <p:spPr>
          <a:xfrm>
            <a:off x="822960" y="658368"/>
            <a:ext cx="8229600" cy="274320"/>
          </a:xfrm>
          <a:prstGeom prst="rect">
            <a:avLst/>
          </a:prstGeom>
          <a:noFill/>
        </p:spPr>
        <p:txBody>
          <a:bodyPr wrap="square" lIns="0" rIns="0" tIns="0" bIns="0">
            <a:spAutoFit/>
          </a:bodyPr>
          <a:lstStyle/>
          <a:p>
            <a:pPr>
              <a:lnSpc>
                <a:spcPct val="115000"/>
              </a:lnSpc>
              <a:spcAft>
                <a:spcPts val="0"/>
              </a:spcAft>
            </a:pPr>
            <a:r>
              <a:rPr sz="1250" b="1">
                <a:solidFill>
                  <a:srgbClr val="1537D1"/>
                </a:solidFill>
                <a:latin typeface="DM Sans"/>
              </a:rPr>
              <a:t>EL CONTEXTO</a:t>
            </a:r>
          </a:p>
        </p:txBody>
      </p:sp>
      <p:sp>
        <p:nvSpPr>
          <p:cNvPr id="4" name="TextBox 3"/>
          <p:cNvSpPr txBox="1"/>
          <p:nvPr/>
        </p:nvSpPr>
        <p:spPr>
          <a:xfrm>
            <a:off x="822960" y="960120"/>
            <a:ext cx="10241280" cy="1097280"/>
          </a:xfrm>
          <a:prstGeom prst="rect">
            <a:avLst/>
          </a:prstGeom>
          <a:noFill/>
        </p:spPr>
        <p:txBody>
          <a:bodyPr wrap="square" lIns="0" rIns="0" tIns="0" bIns="0">
            <a:spAutoFit/>
          </a:bodyPr>
          <a:lstStyle/>
          <a:p>
            <a:pPr>
              <a:lnSpc>
                <a:spcPct val="118000"/>
              </a:lnSpc>
              <a:spcAft>
                <a:spcPts val="0"/>
              </a:spcAft>
            </a:pPr>
            <a:r>
              <a:rPr sz="3000" b="1">
                <a:solidFill>
                  <a:srgbClr val="0C1E50"/>
                </a:solidFill>
                <a:latin typeface="DM Sans"/>
              </a:rPr>
              <a:t>El DS 44 cambió lo que se te exige:</a:t>
            </a:r>
          </a:p>
          <a:p>
            <a:pPr>
              <a:lnSpc>
                <a:spcPct val="118000"/>
              </a:lnSpc>
              <a:spcAft>
                <a:spcPts val="0"/>
              </a:spcAft>
            </a:pPr>
            <a:r>
              <a:rPr sz="3000" b="1">
                <a:solidFill>
                  <a:srgbClr val="0C1E50"/>
                </a:solidFill>
                <a:latin typeface="DM Sans"/>
              </a:rPr>
              <a:t>ya no basta con tener los papeles.</a:t>
            </a:r>
          </a:p>
        </p:txBody>
      </p:sp>
      <p:sp>
        <p:nvSpPr>
          <p:cNvPr id="5" name="TextBox 4"/>
          <p:cNvSpPr txBox="1"/>
          <p:nvPr/>
        </p:nvSpPr>
        <p:spPr>
          <a:xfrm>
            <a:off x="841248" y="1993392"/>
            <a:ext cx="9692640" cy="640080"/>
          </a:xfrm>
          <a:prstGeom prst="rect">
            <a:avLst/>
          </a:prstGeom>
          <a:noFill/>
        </p:spPr>
        <p:txBody>
          <a:bodyPr wrap="square" lIns="0" rIns="0" tIns="0" bIns="0">
            <a:spAutoFit/>
          </a:bodyPr>
          <a:lstStyle/>
          <a:p>
            <a:pPr>
              <a:lnSpc>
                <a:spcPct val="135000"/>
              </a:lnSpc>
              <a:spcAft>
                <a:spcPts val="0"/>
              </a:spcAft>
            </a:pPr>
            <a:r>
              <a:rPr sz="1450" b="0">
                <a:solidFill>
                  <a:srgbClr val="5B6472"/>
                </a:solidFill>
                <a:latin typeface="DM Sans"/>
              </a:rPr>
              <a:t>Desde 2025 la prevención dejó de medirse por documentos archivados y pasó a medirse por gestión demostrable. Estas son las tres exigencias que cambiaron el día a día.</a:t>
            </a:r>
          </a:p>
        </p:txBody>
      </p:sp>
      <p:sp>
        <p:nvSpPr>
          <p:cNvPr id="6" name="Rounded Rectangle 5"/>
          <p:cNvSpPr/>
          <p:nvPr/>
        </p:nvSpPr>
        <p:spPr>
          <a:xfrm>
            <a:off x="822960" y="2880360"/>
            <a:ext cx="3429000" cy="2514600"/>
          </a:xfrm>
          <a:prstGeom prst="roundRect">
            <a:avLst>
              <a:gd name="adj" fmla="val 45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143000" y="3200400"/>
            <a:ext cx="457200" cy="4572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43000" y="3291840"/>
            <a:ext cx="457200" cy="274320"/>
          </a:xfrm>
          <a:prstGeom prst="rect">
            <a:avLst/>
          </a:prstGeom>
          <a:noFill/>
        </p:spPr>
        <p:txBody>
          <a:bodyPr wrap="square" lIns="0" rIns="0" tIns="0" bIns="0">
            <a:spAutoFit/>
          </a:bodyPr>
          <a:lstStyle/>
          <a:p>
            <a:pPr algn="ctr">
              <a:lnSpc>
                <a:spcPct val="115000"/>
              </a:lnSpc>
              <a:spcAft>
                <a:spcPts val="0"/>
              </a:spcAft>
            </a:pPr>
            <a:r>
              <a:rPr sz="1500" b="1">
                <a:solidFill>
                  <a:srgbClr val="1537D1"/>
                </a:solidFill>
                <a:latin typeface="DM Sans"/>
              </a:rPr>
              <a:t>1</a:t>
            </a:r>
          </a:p>
        </p:txBody>
      </p:sp>
      <p:sp>
        <p:nvSpPr>
          <p:cNvPr id="9" name="TextBox 8"/>
          <p:cNvSpPr txBox="1"/>
          <p:nvPr/>
        </p:nvSpPr>
        <p:spPr>
          <a:xfrm>
            <a:off x="1143000" y="3840480"/>
            <a:ext cx="2788920" cy="640080"/>
          </a:xfrm>
          <a:prstGeom prst="rect">
            <a:avLst/>
          </a:prstGeom>
          <a:noFill/>
        </p:spPr>
        <p:txBody>
          <a:bodyPr wrap="square" lIns="0" rIns="0" tIns="0" bIns="0">
            <a:spAutoFit/>
          </a:bodyPr>
          <a:lstStyle/>
          <a:p>
            <a:pPr>
              <a:lnSpc>
                <a:spcPct val="120000"/>
              </a:lnSpc>
              <a:spcAft>
                <a:spcPts val="0"/>
              </a:spcAft>
            </a:pPr>
            <a:r>
              <a:rPr sz="1550" b="1">
                <a:solidFill>
                  <a:srgbClr val="0C1E50"/>
                </a:solidFill>
                <a:latin typeface="DM Sans"/>
              </a:rPr>
              <a:t>La ODI se convirtió en IRL</a:t>
            </a:r>
          </a:p>
        </p:txBody>
      </p:sp>
      <p:sp>
        <p:nvSpPr>
          <p:cNvPr id="10" name="TextBox 9"/>
          <p:cNvSpPr txBox="1"/>
          <p:nvPr/>
        </p:nvSpPr>
        <p:spPr>
          <a:xfrm>
            <a:off x="1161288" y="4407408"/>
            <a:ext cx="2770632" cy="1371600"/>
          </a:xfrm>
          <a:prstGeom prst="rect">
            <a:avLst/>
          </a:prstGeom>
          <a:noFill/>
        </p:spPr>
        <p:txBody>
          <a:bodyPr wrap="square" lIns="0" rIns="0" tIns="0" bIns="0">
            <a:spAutoFit/>
          </a:bodyPr>
          <a:lstStyle/>
          <a:p>
            <a:pPr>
              <a:lnSpc>
                <a:spcPct val="135000"/>
              </a:lnSpc>
              <a:spcAft>
                <a:spcPts val="0"/>
              </a:spcAft>
            </a:pPr>
            <a:r>
              <a:rPr sz="1100" b="0">
                <a:solidFill>
                  <a:srgbClr val="5B6472"/>
                </a:solidFill>
                <a:latin typeface="DM Sans"/>
              </a:rPr>
              <a:t>Ahora hay que informar los riesgos de cada puesto de trabajo, dejar firma de que la persona los conoció y actualizar esa información cada vez que el riesgo o la tarea cambian.</a:t>
            </a:r>
          </a:p>
        </p:txBody>
      </p:sp>
      <p:sp>
        <p:nvSpPr>
          <p:cNvPr id="11" name="Rounded Rectangle 10"/>
          <p:cNvSpPr/>
          <p:nvPr/>
        </p:nvSpPr>
        <p:spPr>
          <a:xfrm>
            <a:off x="4434840" y="2880360"/>
            <a:ext cx="3429000" cy="2514600"/>
          </a:xfrm>
          <a:prstGeom prst="roundRect">
            <a:avLst>
              <a:gd name="adj" fmla="val 45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4754879" y="3200400"/>
            <a:ext cx="457200" cy="4572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54879" y="3291840"/>
            <a:ext cx="457200" cy="274320"/>
          </a:xfrm>
          <a:prstGeom prst="rect">
            <a:avLst/>
          </a:prstGeom>
          <a:noFill/>
        </p:spPr>
        <p:txBody>
          <a:bodyPr wrap="square" lIns="0" rIns="0" tIns="0" bIns="0">
            <a:spAutoFit/>
          </a:bodyPr>
          <a:lstStyle/>
          <a:p>
            <a:pPr algn="ctr">
              <a:lnSpc>
                <a:spcPct val="115000"/>
              </a:lnSpc>
              <a:spcAft>
                <a:spcPts val="0"/>
              </a:spcAft>
            </a:pPr>
            <a:r>
              <a:rPr sz="1500" b="1">
                <a:solidFill>
                  <a:srgbClr val="1537D1"/>
                </a:solidFill>
                <a:latin typeface="DM Sans"/>
              </a:rPr>
              <a:t>2</a:t>
            </a:r>
          </a:p>
        </p:txBody>
      </p:sp>
      <p:sp>
        <p:nvSpPr>
          <p:cNvPr id="14" name="TextBox 13"/>
          <p:cNvSpPr txBox="1"/>
          <p:nvPr/>
        </p:nvSpPr>
        <p:spPr>
          <a:xfrm>
            <a:off x="4754879" y="3840480"/>
            <a:ext cx="2788920" cy="640080"/>
          </a:xfrm>
          <a:prstGeom prst="rect">
            <a:avLst/>
          </a:prstGeom>
          <a:noFill/>
        </p:spPr>
        <p:txBody>
          <a:bodyPr wrap="square" lIns="0" rIns="0" tIns="0" bIns="0">
            <a:spAutoFit/>
          </a:bodyPr>
          <a:lstStyle/>
          <a:p>
            <a:pPr>
              <a:lnSpc>
                <a:spcPct val="120000"/>
              </a:lnSpc>
              <a:spcAft>
                <a:spcPts val="0"/>
              </a:spcAft>
            </a:pPr>
            <a:r>
              <a:rPr sz="1550" b="1">
                <a:solidFill>
                  <a:srgbClr val="0C1E50"/>
                </a:solidFill>
                <a:latin typeface="DM Sans"/>
              </a:rPr>
              <a:t>La MIPER manda el programa</a:t>
            </a:r>
          </a:p>
        </p:txBody>
      </p:sp>
      <p:sp>
        <p:nvSpPr>
          <p:cNvPr id="15" name="TextBox 14"/>
          <p:cNvSpPr txBox="1"/>
          <p:nvPr/>
        </p:nvSpPr>
        <p:spPr>
          <a:xfrm>
            <a:off x="4773168" y="4407408"/>
            <a:ext cx="2770632" cy="1371600"/>
          </a:xfrm>
          <a:prstGeom prst="rect">
            <a:avLst/>
          </a:prstGeom>
          <a:noFill/>
        </p:spPr>
        <p:txBody>
          <a:bodyPr wrap="square" lIns="0" rIns="0" tIns="0" bIns="0">
            <a:spAutoFit/>
          </a:bodyPr>
          <a:lstStyle/>
          <a:p>
            <a:pPr>
              <a:lnSpc>
                <a:spcPct val="135000"/>
              </a:lnSpc>
              <a:spcAft>
                <a:spcPts val="0"/>
              </a:spcAft>
            </a:pPr>
            <a:r>
              <a:rPr sz="1100" b="0">
                <a:solidFill>
                  <a:srgbClr val="5B6472"/>
                </a:solidFill>
                <a:latin typeface="DM Sans"/>
              </a:rPr>
              <a:t>La matriz de peligros define el programa de trabajo preventivo, y ese programa debe elaborarse o modificarse dentro de los 30 días siguientes a confeccionar o actualizar la matriz.</a:t>
            </a:r>
          </a:p>
        </p:txBody>
      </p:sp>
      <p:sp>
        <p:nvSpPr>
          <p:cNvPr id="16" name="Rounded Rectangle 15"/>
          <p:cNvSpPr/>
          <p:nvPr/>
        </p:nvSpPr>
        <p:spPr>
          <a:xfrm>
            <a:off x="8046720" y="2880360"/>
            <a:ext cx="3429000" cy="2514600"/>
          </a:xfrm>
          <a:prstGeom prst="roundRect">
            <a:avLst>
              <a:gd name="adj" fmla="val 45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366760" y="3200400"/>
            <a:ext cx="457200" cy="4572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366760" y="3291840"/>
            <a:ext cx="457200" cy="274320"/>
          </a:xfrm>
          <a:prstGeom prst="rect">
            <a:avLst/>
          </a:prstGeom>
          <a:noFill/>
        </p:spPr>
        <p:txBody>
          <a:bodyPr wrap="square" lIns="0" rIns="0" tIns="0" bIns="0">
            <a:spAutoFit/>
          </a:bodyPr>
          <a:lstStyle/>
          <a:p>
            <a:pPr algn="ctr">
              <a:lnSpc>
                <a:spcPct val="115000"/>
              </a:lnSpc>
              <a:spcAft>
                <a:spcPts val="0"/>
              </a:spcAft>
            </a:pPr>
            <a:r>
              <a:rPr sz="1500" b="1">
                <a:solidFill>
                  <a:srgbClr val="1537D1"/>
                </a:solidFill>
                <a:latin typeface="DM Sans"/>
              </a:rPr>
              <a:t>3</a:t>
            </a:r>
          </a:p>
        </p:txBody>
      </p:sp>
      <p:sp>
        <p:nvSpPr>
          <p:cNvPr id="19" name="TextBox 18"/>
          <p:cNvSpPr txBox="1"/>
          <p:nvPr/>
        </p:nvSpPr>
        <p:spPr>
          <a:xfrm>
            <a:off x="8366760" y="3840480"/>
            <a:ext cx="2788920" cy="640080"/>
          </a:xfrm>
          <a:prstGeom prst="rect">
            <a:avLst/>
          </a:prstGeom>
          <a:noFill/>
        </p:spPr>
        <p:txBody>
          <a:bodyPr wrap="square" lIns="0" rIns="0" tIns="0" bIns="0">
            <a:spAutoFit/>
          </a:bodyPr>
          <a:lstStyle/>
          <a:p>
            <a:pPr>
              <a:lnSpc>
                <a:spcPct val="120000"/>
              </a:lnSpc>
              <a:spcAft>
                <a:spcPts val="0"/>
              </a:spcAft>
            </a:pPr>
            <a:r>
              <a:rPr sz="1550" b="1">
                <a:solidFill>
                  <a:srgbClr val="0C1E50"/>
                </a:solidFill>
                <a:latin typeface="DM Sans"/>
              </a:rPr>
              <a:t>La fiscalización pide evidencia</a:t>
            </a:r>
          </a:p>
        </p:txBody>
      </p:sp>
      <p:sp>
        <p:nvSpPr>
          <p:cNvPr id="20" name="TextBox 19"/>
          <p:cNvSpPr txBox="1"/>
          <p:nvPr/>
        </p:nvSpPr>
        <p:spPr>
          <a:xfrm>
            <a:off x="8385048" y="4407408"/>
            <a:ext cx="2770632" cy="1371600"/>
          </a:xfrm>
          <a:prstGeom prst="rect">
            <a:avLst/>
          </a:prstGeom>
          <a:noFill/>
        </p:spPr>
        <p:txBody>
          <a:bodyPr wrap="square" lIns="0" rIns="0" tIns="0" bIns="0">
            <a:spAutoFit/>
          </a:bodyPr>
          <a:lstStyle/>
          <a:p>
            <a:pPr>
              <a:lnSpc>
                <a:spcPct val="135000"/>
              </a:lnSpc>
              <a:spcAft>
                <a:spcPts val="0"/>
              </a:spcAft>
            </a:pPr>
            <a:r>
              <a:rPr sz="1100" b="0">
                <a:solidFill>
                  <a:srgbClr val="5B6472"/>
                </a:solidFill>
                <a:latin typeface="DM Sans"/>
              </a:rPr>
              <a:t>El Formulario Único de Fiscalización no revisa si el documento existe: revisa fecha, responsable, firma y seguimiento. Sin trazabilidad, no hay cómo demostrar la gestión.</a:t>
            </a:r>
          </a:p>
        </p:txBody>
      </p:sp>
      <p:sp>
        <p:nvSpPr>
          <p:cNvPr id="21" name="Rectangle 20"/>
          <p:cNvSpPr/>
          <p:nvPr/>
        </p:nvSpPr>
        <p:spPr>
          <a:xfrm>
            <a:off x="0" y="5943600"/>
            <a:ext cx="12188952" cy="914400"/>
          </a:xfrm>
          <a:prstGeom prst="rect">
            <a:avLst/>
          </a:prstGeom>
          <a:solidFill>
            <a:srgbClr val="153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6245352"/>
            <a:ext cx="10515600" cy="365760"/>
          </a:xfrm>
          <a:prstGeom prst="rect">
            <a:avLst/>
          </a:prstGeom>
          <a:noFill/>
        </p:spPr>
        <p:txBody>
          <a:bodyPr wrap="square" lIns="0" rIns="0" tIns="0" bIns="0">
            <a:spAutoFit/>
          </a:bodyPr>
          <a:lstStyle/>
          <a:p>
            <a:pPr>
              <a:lnSpc>
                <a:spcPct val="115000"/>
              </a:lnSpc>
              <a:spcAft>
                <a:spcPts val="0"/>
              </a:spcAft>
            </a:pPr>
            <a:r>
              <a:rPr sz="1600" b="1">
                <a:solidFill>
                  <a:srgbClr val="FFFFFF"/>
                </a:solidFill>
                <a:latin typeface="DM Sans"/>
              </a:rPr>
              <a:t>Tazki es donde esa gestión queda registrada, al día y lista para mostrar.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