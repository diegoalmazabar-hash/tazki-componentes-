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Portada · ICP CONTRATISTAS. Foco: Cumplir al 100% ante el mandante. Hero reemplazable.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Prueba social al inicio: logos reales de clientes de este ICP.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dolores principales (situaciones frecuentes, no diagnóstico cerrado). Imagen y copy editables.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Ventajas: cómo ayuda el software. La 4a card se adapta al foco del ICP.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Transición a los módulos.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Inducciones. [Clave para este ICP]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Hallazgos.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Capacitaciones.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Inspecciones.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Contratistas.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EPP.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ART / AST. [Clave para este ICP]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MIPER.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Investigación de accidentes.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Programa de gestión.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Comité Paritario. [Captura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Módulo: Insumos y Maquinaria. [Flujo animado del software] Reemplazable. Reordenable.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Cierre/CTA.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Relationship Id="rId14" Type="http://schemas.openxmlformats.org/officeDocument/2006/relationships/image" Target="../media/image22.png"/><Relationship Id="rId1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gif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gif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gif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gif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gif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gif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image" Target="../media/image42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gif"/><Relationship Id="rId4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_contratista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tazki-wordmark-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40080"/>
            <a:ext cx="2377440" cy="87455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697480"/>
            <a:ext cx="75895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Cumple al 100%</a:t>
            </a:r>
          </a:p>
          <a:p>
            <a:pPr algn="l">
              <a:lnSpc>
                <a:spcPct val="102000"/>
              </a:lnSpc>
            </a:pPr>
            <a:r>
              <a:rPr sz="3700" b="1">
                <a:solidFill>
                  <a:srgbClr val="FFFFFF"/>
                </a:solidFill>
                <a:latin typeface="DM Sans"/>
                <a:cs typeface="DM Sans"/>
              </a:rPr>
              <a:t>ante tu mandante.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7040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</a:pPr>
            <a:r>
              <a:rPr sz="1500" b="0">
                <a:solidFill>
                  <a:srgbClr val="DDE6F5"/>
                </a:solidFill>
                <a:latin typeface="DM Sans"/>
                <a:cs typeface="DM Sans"/>
              </a:rPr>
              <a:t>Mantén vigente la documentación de tu empresa y de cada trabajador, con control de acceso y trazabilidad lista para el mandante.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245352"/>
            <a:ext cx="12191695" cy="612648"/>
          </a:xfrm>
          <a:prstGeom prst="rect">
            <a:avLst/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6245352"/>
            <a:ext cx="731520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500" b="1">
                <a:solidFill>
                  <a:srgbClr val="FFFFFF"/>
                </a:solidFill>
                <a:latin typeface="DM Sans"/>
                <a:cs typeface="DM Sans"/>
              </a:rPr>
              <a:t>+150 empresas confían en Tazki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6245352"/>
            <a:ext cx="3703320" cy="6126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6000"/>
              </a:lnSpc>
            </a:pPr>
            <a:r>
              <a:rPr sz="1200" b="0">
                <a:solidFill>
                  <a:srgbClr val="CFE0FA"/>
                </a:solidFill>
                <a:latin typeface="DM Sans"/>
                <a:cs typeface="DM Sans"/>
              </a:rPr>
              <a:t>Contratistas de mandantes grandes · transversal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>
                <a:solidFill>
                  <a:srgbClr val="0C1E50"/>
                </a:solidFill>
                <a:latin typeface="DM Sans"/>
                <a:cs typeface="DM Sans"/>
              </a:rPr>
              <a:t>Empresas que ya confían en Tazki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450" b="0">
                <a:solidFill>
                  <a:srgbClr val="5B6472"/>
                </a:solidFill>
                <a:latin typeface="DM Sans"/>
                <a:cs typeface="DM Sans"/>
              </a:rPr>
              <a:t>Operaciones de contratistas de mandantes grandes · transversal que ya digitalizaron su prevención con nosotros.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34440" y="2468880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468880"/>
            <a:ext cx="228600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0">
                <a:solidFill>
                  <a:srgbClr val="9AA3B2"/>
                </a:solidFill>
                <a:latin typeface="DM Sans"/>
                <a:cs typeface="DM Sans"/>
              </a:rPr>
              <a:t>Logo cliente</a:t>
            </a:r>
          </a:p>
          <a:p>
            <a:pPr algn="ctr">
              <a:lnSpc>
                <a:spcPct val="106000"/>
              </a:lnSpc>
            </a:pPr>
            <a:r>
              <a:rPr sz="900" b="0">
                <a:solidFill>
                  <a:srgbClr val="B9C0CC"/>
                </a:solidFill>
                <a:latin typeface="DM Sans"/>
                <a:cs typeface="DM Sans"/>
              </a:rPr>
              <a:t>reemplazable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703320" y="2468880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03320" y="2468880"/>
            <a:ext cx="228600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0">
                <a:solidFill>
                  <a:srgbClr val="9AA3B2"/>
                </a:solidFill>
                <a:latin typeface="DM Sans"/>
                <a:cs typeface="DM Sans"/>
              </a:rPr>
              <a:t>Logo cliente</a:t>
            </a:r>
          </a:p>
          <a:p>
            <a:pPr algn="ctr">
              <a:lnSpc>
                <a:spcPct val="106000"/>
              </a:lnSpc>
            </a:pPr>
            <a:r>
              <a:rPr sz="900" b="0">
                <a:solidFill>
                  <a:srgbClr val="B9C0CC"/>
                </a:solidFill>
                <a:latin typeface="DM Sans"/>
                <a:cs typeface="DM Sans"/>
              </a:rPr>
              <a:t>reemplazable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468880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72200" y="2468880"/>
            <a:ext cx="228600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0">
                <a:solidFill>
                  <a:srgbClr val="9AA3B2"/>
                </a:solidFill>
                <a:latin typeface="DM Sans"/>
                <a:cs typeface="DM Sans"/>
              </a:rPr>
              <a:t>Logo cliente</a:t>
            </a:r>
          </a:p>
          <a:p>
            <a:pPr algn="ctr">
              <a:lnSpc>
                <a:spcPct val="106000"/>
              </a:lnSpc>
            </a:pPr>
            <a:r>
              <a:rPr sz="900" b="0">
                <a:solidFill>
                  <a:srgbClr val="B9C0CC"/>
                </a:solidFill>
                <a:latin typeface="DM Sans"/>
                <a:cs typeface="DM Sans"/>
              </a:rPr>
              <a:t>reemplazable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41080" y="2468880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41080" y="2468880"/>
            <a:ext cx="228600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0">
                <a:solidFill>
                  <a:srgbClr val="9AA3B2"/>
                </a:solidFill>
                <a:latin typeface="DM Sans"/>
                <a:cs typeface="DM Sans"/>
              </a:rPr>
              <a:t>Logo cliente</a:t>
            </a:r>
          </a:p>
          <a:p>
            <a:pPr algn="ctr">
              <a:lnSpc>
                <a:spcPct val="106000"/>
              </a:lnSpc>
            </a:pPr>
            <a:r>
              <a:rPr sz="900" b="0">
                <a:solidFill>
                  <a:srgbClr val="B9C0CC"/>
                </a:solidFill>
                <a:latin typeface="DM Sans"/>
                <a:cs typeface="DM Sans"/>
              </a:rPr>
              <a:t>reemplazable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34440" y="4114800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" y="4114800"/>
            <a:ext cx="228600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0">
                <a:solidFill>
                  <a:srgbClr val="9AA3B2"/>
                </a:solidFill>
                <a:latin typeface="DM Sans"/>
                <a:cs typeface="DM Sans"/>
              </a:rPr>
              <a:t>Logo cliente</a:t>
            </a:r>
          </a:p>
          <a:p>
            <a:pPr algn="ctr">
              <a:lnSpc>
                <a:spcPct val="106000"/>
              </a:lnSpc>
            </a:pPr>
            <a:r>
              <a:rPr sz="900" b="0">
                <a:solidFill>
                  <a:srgbClr val="B9C0CC"/>
                </a:solidFill>
                <a:latin typeface="DM Sans"/>
                <a:cs typeface="DM Sans"/>
              </a:rPr>
              <a:t>reemplazable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03320" y="4114800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4114800"/>
            <a:ext cx="228600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0">
                <a:solidFill>
                  <a:srgbClr val="9AA3B2"/>
                </a:solidFill>
                <a:latin typeface="DM Sans"/>
                <a:cs typeface="DM Sans"/>
              </a:rPr>
              <a:t>Logo cliente</a:t>
            </a:r>
          </a:p>
          <a:p>
            <a:pPr algn="ctr">
              <a:lnSpc>
                <a:spcPct val="106000"/>
              </a:lnSpc>
            </a:pPr>
            <a:r>
              <a:rPr sz="900" b="0">
                <a:solidFill>
                  <a:srgbClr val="B9C0CC"/>
                </a:solidFill>
                <a:latin typeface="DM Sans"/>
                <a:cs typeface="DM Sans"/>
              </a:rPr>
              <a:t>reemplazable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114800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4114800"/>
            <a:ext cx="228600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0">
                <a:solidFill>
                  <a:srgbClr val="9AA3B2"/>
                </a:solidFill>
                <a:latin typeface="DM Sans"/>
                <a:cs typeface="DM Sans"/>
              </a:rPr>
              <a:t>Logo cliente</a:t>
            </a:r>
          </a:p>
          <a:p>
            <a:pPr algn="ctr">
              <a:lnSpc>
                <a:spcPct val="106000"/>
              </a:lnSpc>
            </a:pPr>
            <a:r>
              <a:rPr sz="900" b="0">
                <a:solidFill>
                  <a:srgbClr val="B9C0CC"/>
                </a:solidFill>
                <a:latin typeface="DM Sans"/>
                <a:cs typeface="DM Sans"/>
              </a:rPr>
              <a:t>reemplazable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41080" y="4114800"/>
            <a:ext cx="2286000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41080" y="4114800"/>
            <a:ext cx="228600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0">
                <a:solidFill>
                  <a:srgbClr val="9AA3B2"/>
                </a:solidFill>
                <a:latin typeface="DM Sans"/>
                <a:cs typeface="DM Sans"/>
              </a:rPr>
              <a:t>Logo cliente</a:t>
            </a:r>
          </a:p>
          <a:p>
            <a:pPr algn="ctr">
              <a:lnSpc>
                <a:spcPct val="106000"/>
              </a:lnSpc>
            </a:pPr>
            <a:r>
              <a:rPr sz="900" b="0">
                <a:solidFill>
                  <a:srgbClr val="B9C0CC"/>
                </a:solidFill>
                <a:latin typeface="DM Sans"/>
                <a:cs typeface="DM Sans"/>
              </a:rPr>
              <a:t>reemplazable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0">
                <a:solidFill>
                  <a:srgbClr val="5B6472"/>
                </a:solidFill>
                <a:latin typeface="DM Sans"/>
                <a:cs typeface="DM Sans"/>
              </a:rPr>
              <a:t>Reemplaza cada recuadro por el logo del cliente o mandante que quieras mostrar.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5809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LO QUE HOY TE COMPLICA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Tres cosas que le pasan a casi todas las operaciones.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4300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buildings-8F4799-1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594360" cy="594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14300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El mandante te pide la carpeta al día, hoy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128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Documentación vigente de la empresa y de cada trabajador antes de entrar a faena. Reunirla a mano es contra el reloj.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5488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warning-8F4799-19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017520"/>
            <a:ext cx="594360" cy="594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Un documento vencido te deja fuera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Un examen, una inducción o un seguro vencido que nadie vio, y tu gente no entra a la faena.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2514600"/>
            <a:ext cx="3429000" cy="3520440"/>
          </a:xfrm>
          <a:prstGeom prst="roundRect">
            <a:avLst>
              <a:gd name="adj" fmla="val 5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880360"/>
            <a:ext cx="868680" cy="86868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files-8F4799-1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3017520"/>
            <a:ext cx="594360" cy="594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366760" y="3931920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1550" b="1">
                <a:solidFill>
                  <a:srgbClr val="0C1E50"/>
                </a:solidFill>
                <a:latin typeface="DM Sans"/>
                <a:cs typeface="DM Sans"/>
              </a:rPr>
              <a:t>Cada mandante pide lo suyo a su manera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5048" y="4910328"/>
            <a:ext cx="2770632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1150" b="0">
                <a:solidFill>
                  <a:srgbClr val="5B6472"/>
                </a:solidFill>
                <a:latin typeface="DM Sans"/>
                <a:cs typeface="DM Sans"/>
              </a:rPr>
              <a:t>Multiplicar carpetas y formatos por cada mandante agota, y hay que mostrar el mismo estándar a todos.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_scov_4708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2148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0058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250" b="1">
                <a:solidFill>
                  <a:srgbClr val="CFE0FA"/>
                </a:solidFill>
                <a:latin typeface="DM Sans"/>
                <a:cs typeface="DM Sans"/>
              </a:rPr>
              <a:t>ASÍ TE AYUDA TAZKI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2600" b="1">
                <a:solidFill>
                  <a:srgbClr val="FFFFFF"/>
                </a:solidFill>
                <a:latin typeface="DM Sans"/>
                <a:cs typeface="DM Sans"/>
              </a:rPr>
              <a:t>De la planilla al control real de tu prevención.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uo-stack-1537D1-1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907792"/>
            <a:ext cx="548640" cy="548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Todo en un solo lugar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Reúne documentos, firmas y registros de tu prevención en una plataforma. Se acabó buscar en carpetas y correos.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3320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191" y="2907792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703320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Respaldo cuando lo necesitas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8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Cada registro queda con firma electrónica y trazabilidad, con el respaldo de la Resolución 908 de la Dirección del Trabajo.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99631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73951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duo-device-mobile-1537D1-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3" y="2907792"/>
            <a:ext cx="548640" cy="5486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73951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Prevención en terreno, desde el celular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Tu equipo levanta hallazgos, inspecciones y firmas donde ocurre el trabajo. Si no hay señal, se sincroniza al recuperar conexión.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70263" y="2468880"/>
            <a:ext cx="2651760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44584" y="2788920"/>
            <a:ext cx="777240" cy="777240"/>
          </a:xfrm>
          <a:prstGeom prst="roundRect">
            <a:avLst>
              <a:gd name="adj" fmla="val 18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uo-seal-check-1537D1-1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3455" y="2907792"/>
            <a:ext cx="548640" cy="5486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244584" y="3749039"/>
            <a:ext cx="21031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350" b="1">
                <a:solidFill>
                  <a:srgbClr val="0C1E50"/>
                </a:solidFill>
                <a:latin typeface="DM Sans"/>
                <a:cs typeface="DM Sans"/>
              </a:rPr>
              <a:t>Listo para el mandante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4754880"/>
            <a:ext cx="2084831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000" b="0">
                <a:solidFill>
                  <a:srgbClr val="5B6472"/>
                </a:solidFill>
                <a:latin typeface="DM Sans"/>
                <a:cs typeface="DM Sans"/>
              </a:rPr>
              <a:t>Muestras documentación vigente y trazable cuando el mandante la pide, sin salir corriendo.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234440"/>
            <a:ext cx="2286000" cy="8409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651760"/>
            <a:ext cx="99669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>
                <a:solidFill>
                  <a:srgbClr val="FFFFFF"/>
                </a:solidFill>
                <a:latin typeface="DM Sans"/>
                <a:cs typeface="DM Sans"/>
              </a:rPr>
              <a:t>Un software modular, para cada proceso de tu prevención.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6052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Activa lo que tu operación necesita. Todo comparte datos, trazabilidad y firma.</a:t>
            </a:r>
          </a:p>
        </p:txBody>
      </p:sp>
      <p:pic>
        <p:nvPicPr>
          <p:cNvPr id="5" name="Picture 4" descr="duo-identification-card-B865C1-1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212080"/>
            <a:ext cx="566928" cy="566928"/>
          </a:xfrm>
          <a:prstGeom prst="rect">
            <a:avLst/>
          </a:prstGeom>
        </p:spPr>
      </p:pic>
      <p:pic>
        <p:nvPicPr>
          <p:cNvPr id="6" name="Picture 5" descr="duo-warning-B865C1-1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2199" y="5212080"/>
            <a:ext cx="566928" cy="566928"/>
          </a:xfrm>
          <a:prstGeom prst="rect">
            <a:avLst/>
          </a:prstGeom>
        </p:spPr>
      </p:pic>
      <p:pic>
        <p:nvPicPr>
          <p:cNvPr id="7" name="Picture 6" descr="duo-chalkboard-teacher-B865C1-18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89998" y="5212080"/>
            <a:ext cx="566928" cy="566928"/>
          </a:xfrm>
          <a:prstGeom prst="rect">
            <a:avLst/>
          </a:prstGeom>
        </p:spPr>
      </p:pic>
      <p:pic>
        <p:nvPicPr>
          <p:cNvPr id="8" name="Picture 7" descr="duo-clipboard-text-B865C1-18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7797" y="5212080"/>
            <a:ext cx="566928" cy="566928"/>
          </a:xfrm>
          <a:prstGeom prst="rect">
            <a:avLst/>
          </a:prstGeom>
        </p:spPr>
      </p:pic>
      <p:pic>
        <p:nvPicPr>
          <p:cNvPr id="9" name="Picture 8" descr="duo-buildings-B865C1-18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65597" y="5212080"/>
            <a:ext cx="566928" cy="566928"/>
          </a:xfrm>
          <a:prstGeom prst="rect">
            <a:avLst/>
          </a:prstGeom>
        </p:spPr>
      </p:pic>
      <p:pic>
        <p:nvPicPr>
          <p:cNvPr id="10" name="Picture 9" descr="duo-hard-hat-B865C1-18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53396" y="5212080"/>
            <a:ext cx="566928" cy="566928"/>
          </a:xfrm>
          <a:prstGeom prst="rect">
            <a:avLst/>
          </a:prstGeom>
        </p:spPr>
      </p:pic>
      <p:pic>
        <p:nvPicPr>
          <p:cNvPr id="11" name="Picture 10" descr="duo-shield-check-B865C1-18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41195" y="5212080"/>
            <a:ext cx="566928" cy="566928"/>
          </a:xfrm>
          <a:prstGeom prst="rect">
            <a:avLst/>
          </a:prstGeom>
        </p:spPr>
      </p:pic>
      <p:pic>
        <p:nvPicPr>
          <p:cNvPr id="12" name="Picture 11" descr="duo-grid-four-B865C1-18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8994" y="5212080"/>
            <a:ext cx="566928" cy="566928"/>
          </a:xfrm>
          <a:prstGeom prst="rect">
            <a:avLst/>
          </a:prstGeom>
        </p:spPr>
      </p:pic>
      <p:pic>
        <p:nvPicPr>
          <p:cNvPr id="13" name="Picture 12" descr="duo-magnifying-glass-B865C1-186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016794" y="5212080"/>
            <a:ext cx="566928" cy="566928"/>
          </a:xfrm>
          <a:prstGeom prst="rect">
            <a:avLst/>
          </a:prstGeom>
        </p:spPr>
      </p:pic>
      <p:pic>
        <p:nvPicPr>
          <p:cNvPr id="14" name="Picture 13" descr="duo-calendar-check-B865C1-186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04593" y="5212080"/>
            <a:ext cx="566928" cy="566928"/>
          </a:xfrm>
          <a:prstGeom prst="rect">
            <a:avLst/>
          </a:prstGeom>
        </p:spPr>
      </p:pic>
      <p:pic>
        <p:nvPicPr>
          <p:cNvPr id="15" name="Picture 14" descr="duo-users-three-B865C1-186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92392" y="5212080"/>
            <a:ext cx="566928" cy="566928"/>
          </a:xfrm>
          <a:prstGeom prst="rect">
            <a:avLst/>
          </a:prstGeom>
        </p:spPr>
      </p:pic>
      <p:pic>
        <p:nvPicPr>
          <p:cNvPr id="16" name="Picture 15" descr="duo-wrench-B865C1-186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80192" y="5212080"/>
            <a:ext cx="566928" cy="5669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identification-card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Inducciones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obligatoria firmada digitalmente y centralizada por colaborador.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VESTIDO_evalu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arning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Hallazgos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Gestiona el ciclo de acciones y condiciones inseguras hasta su cierre.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hallazg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halkboard-teache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Capacitaciones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Calendariza charlas, registra asistencia y respalda la firma de cada participante.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capacitacion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lipboard-tex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Inspecciones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Identifica y corrige riesgos en terreno, desde el celular del supervisor.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peccion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building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Contratistas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Documentación vigente de empresas y trabajadores, con control de acceso y subcontratos.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contratista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hard-hat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EPP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y las entregas de EPP con firma y trazabilidad por trabajador.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epp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shield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ART / 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913632"/>
            <a:ext cx="2514600" cy="384048"/>
          </a:xfrm>
          <a:prstGeom prst="roundRect">
            <a:avLst>
              <a:gd name="adj" fmla="val 50000"/>
            </a:avLst>
          </a:prstGeom>
          <a:solidFill>
            <a:srgbClr val="8F47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913632"/>
            <a:ext cx="25146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050" b="1">
                <a:solidFill>
                  <a:srgbClr val="FFFFFF"/>
                </a:solidFill>
                <a:latin typeface="DM Sans"/>
                <a:cs typeface="DM Sans"/>
              </a:rPr>
              <a:t>CLAVE PARA TU OPERACIÓN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2628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Análisis de riesgo digital con firma de todos los participantes en terreno.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low_art-as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grid-four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MIPER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Matriz de identificación de peligros y evaluación de riesgos, digitalizada y siempre actualizada.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mipe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magnifying-glass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Investigación de accidentes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Registra el accidente, documenta las causas y genera el reporte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accidente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calendar-check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Programa de gestión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Planifica las actividades preventivas del período y controla su cumplimiento.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programa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users-three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Comité Paritario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Digitaliza actas, reuniones y acuerdos del comité paritario, con respaldo.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VESTIDO_documen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837086"/>
            <a:ext cx="5660136" cy="31838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22960" y="1371600"/>
            <a:ext cx="1280160" cy="1280160"/>
          </a:xfrm>
          <a:prstGeom prst="roundRect">
            <a:avLst>
              <a:gd name="adj" fmla="val 16000"/>
            </a:avLst>
          </a:prstGeom>
          <a:solidFill>
            <a:srgbClr val="F4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uo-wrench-1537D1-2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45920"/>
            <a:ext cx="731520" cy="7315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880360"/>
            <a:ext cx="42976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>
                <a:solidFill>
                  <a:srgbClr val="0C1E50"/>
                </a:solidFill>
                <a:latin typeface="DM Sans"/>
                <a:cs typeface="DM Sans"/>
              </a:rPr>
              <a:t>Insumos y Maquinaria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31920"/>
            <a:ext cx="42062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>
                <a:solidFill>
                  <a:srgbClr val="5B6472"/>
                </a:solidFill>
                <a:latin typeface="DM Sans"/>
                <a:cs typeface="DM Sans"/>
              </a:rPr>
              <a:t>Controla el inventario de insumos y el historial documental de maquinarias.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1051560"/>
            <a:ext cx="5989320" cy="4754880"/>
          </a:xfrm>
          <a:prstGeom prst="roundRect">
            <a:avLst>
              <a:gd name="adj" fmla="val 4000"/>
            </a:avLst>
          </a:prstGeom>
          <a:solidFill>
            <a:srgbClr val="F4F6FB"/>
          </a:solidFill>
          <a:ln w="12700">
            <a:solidFill>
              <a:srgbClr val="E2E7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low_insumos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0992" y="1543384"/>
            <a:ext cx="5660136" cy="37712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E5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azki-wordmark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194560" cy="80728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828800"/>
            <a:ext cx="10515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Demos el primer paso</a:t>
            </a:r>
          </a:p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DM Sans"/>
                <a:cs typeface="DM Sans"/>
              </a:rPr>
              <a:t>hacia una prevención al día.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28.423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horas hombre devueltas a terreno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210.393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5312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EPP entregados con firma digital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3794760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800" b="1">
                <a:solidFill>
                  <a:srgbClr val="A2D6F9"/>
                </a:solidFill>
                <a:latin typeface="DM Sans"/>
                <a:cs typeface="DM Sans"/>
              </a:rPr>
              <a:t>+150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65008" y="4572000"/>
            <a:ext cx="3337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>
                <a:solidFill>
                  <a:srgbClr val="CBD6EC"/>
                </a:solidFill>
                <a:latin typeface="DM Sans"/>
                <a:cs typeface="DM Sans"/>
              </a:rPr>
              <a:t>empresas confían en Tazki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577840"/>
            <a:ext cx="2286000" cy="713232"/>
          </a:xfrm>
          <a:prstGeom prst="roundRect">
            <a:avLst>
              <a:gd name="adj" fmla="val 50000"/>
            </a:avLst>
          </a:prstGeom>
          <a:solidFill>
            <a:srgbClr val="153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22860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600" b="1">
                <a:solidFill>
                  <a:srgbClr val="FFFFFF"/>
                </a:solidFill>
                <a:latin typeface="DM Sans"/>
                <a:cs typeface="DM Sans"/>
              </a:rPr>
              <a:t>Conversemos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5577840"/>
            <a:ext cx="548640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700" b="0">
                <a:solidFill>
                  <a:srgbClr val="A2D6F9"/>
                </a:solidFill>
                <a:latin typeface="DM Sans"/>
                <a:cs typeface="DM Sans"/>
              </a:rPr>
              <a:t>tazki.cl/contactanos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