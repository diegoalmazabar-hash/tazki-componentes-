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71" r:id="rId23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Portada · ICP PLANCORE. Foco: Toda tu prevención en un solo lugar. Hero reemplazable.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Prueba social al inicio: logos reales de clientes de este ICP. Editable.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Tres dolores principales (situaciones frecuentes, no diagnóstico cerrado). Imagen y copy editables.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Ventajas: cómo ayuda el software. La 4a card se adapta al foco del ICP.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Transición a los módulos.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Módulo: Inducciones. [Clave para este ICP] [Captura del software] Reemplazable. Reordenable.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Módulo: Hallazgos. [Flujo animado del software] Reemplazable. Reordenable.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Módulo: Capacitaciones. [Clave para este ICP] [Captura del software] Reemplazable. Reordenable.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Módulo: Inspecciones. [Flujo animado del software] Reemplazable. Reordenable.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Módulo: ART / AST. [Flujo animado del software] Reemplazable. Reordenable.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Módulo: MIPER. [Clave para este ICP] [Flujo animado del software] Reemplazable. Reordenable.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Módulo: Programa de gestión. [Flujo animado del software] Reemplazable. Reordenable.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Módulo: Comité Paritario. [Captura del software] Reemplazable. Reordenable.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Módulo: Insumos y Maquinaria. [Flujo animado del software] Reemplazable. Reordenable.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Cierre/CTA.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Relationship Id="rId5" Type="http://schemas.openxmlformats.org/officeDocument/2006/relationships/image" Target="../media/image40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.xml"/><Relationship Id="rId4" Type="http://schemas.openxmlformats.org/officeDocument/2006/relationships/image" Target="../media/image42.png"/><Relationship Id="rId5" Type="http://schemas.openxmlformats.org/officeDocument/2006/relationships/image" Target="../media/image43.png"/><Relationship Id="rId6" Type="http://schemas.openxmlformats.org/officeDocument/2006/relationships/image" Target="../media/image44.png"/><Relationship Id="rId7" Type="http://schemas.openxmlformats.org/officeDocument/2006/relationships/image" Target="../media/image45.png"/><Relationship Id="rId8" Type="http://schemas.openxmlformats.org/officeDocument/2006/relationships/image" Target="../media/image46.png"/><Relationship Id="rId9" Type="http://schemas.openxmlformats.org/officeDocument/2006/relationships/image" Target="../media/image47.png"/><Relationship Id="rId10" Type="http://schemas.openxmlformats.org/officeDocument/2006/relationships/image" Target="../media/image48.png"/><Relationship Id="rId11" Type="http://schemas.openxmlformats.org/officeDocument/2006/relationships/image" Target="../media/image49.png"/><Relationship Id="rId12" Type="http://schemas.openxmlformats.org/officeDocument/2006/relationships/image" Target="../media/image50.png"/><Relationship Id="rId13" Type="http://schemas.openxmlformats.org/officeDocument/2006/relationships/image" Target="../media/image51.png"/><Relationship Id="rId14" Type="http://schemas.openxmlformats.org/officeDocument/2006/relationships/image" Target="../media/image52.png"/><Relationship Id="rId15" Type="http://schemas.openxmlformats.org/officeDocument/2006/relationships/image" Target="../media/image53.png"/><Relationship Id="rId16" Type="http://schemas.openxmlformats.org/officeDocument/2006/relationships/image" Target="../media/image54.png"/><Relationship Id="rId17" Type="http://schemas.openxmlformats.org/officeDocument/2006/relationships/image" Target="../media/image55.png"/><Relationship Id="rId18" Type="http://schemas.openxmlformats.org/officeDocument/2006/relationships/image" Target="../media/image56.png"/><Relationship Id="rId19" Type="http://schemas.openxmlformats.org/officeDocument/2006/relationships/image" Target="../media/image57.png"/><Relationship Id="rId20" Type="http://schemas.openxmlformats.org/officeDocument/2006/relationships/image" Target="../media/image58.png"/><Relationship Id="rId21" Type="http://schemas.openxmlformats.org/officeDocument/2006/relationships/image" Target="../media/image59.png"/><Relationship Id="rId22" Type="http://schemas.openxmlformats.org/officeDocument/2006/relationships/image" Target="../media/image60.png"/><Relationship Id="rId23" Type="http://schemas.openxmlformats.org/officeDocument/2006/relationships/image" Target="../media/image61.png"/><Relationship Id="rId24" Type="http://schemas.openxmlformats.org/officeDocument/2006/relationships/image" Target="../media/image62.png"/><Relationship Id="rId25" Type="http://schemas.openxmlformats.org/officeDocument/2006/relationships/image" Target="../media/image63.png"/><Relationship Id="rId26" Type="http://schemas.openxmlformats.org/officeDocument/2006/relationships/image" Target="../media/image64.png"/><Relationship Id="rId27" Type="http://schemas.openxmlformats.org/officeDocument/2006/relationships/image" Target="../media/image65.png"/><Relationship Id="rId28" Type="http://schemas.openxmlformats.org/officeDocument/2006/relationships/image" Target="../media/image66.png"/><Relationship Id="rId29" Type="http://schemas.openxmlformats.org/officeDocument/2006/relationships/image" Target="../media/image67.png"/><Relationship Id="rId30" Type="http://schemas.openxmlformats.org/officeDocument/2006/relationships/image" Target="../media/image68.png"/><Relationship Id="rId31" Type="http://schemas.openxmlformats.org/officeDocument/2006/relationships/image" Target="../media/image6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image" Target="../media/image18.png"/><Relationship Id="rId9" Type="http://schemas.openxmlformats.org/officeDocument/2006/relationships/image" Target="../media/image19.png"/><Relationship Id="rId10" Type="http://schemas.openxmlformats.org/officeDocument/2006/relationships/image" Target="../media/image20.png"/><Relationship Id="rId11" Type="http://schemas.openxmlformats.org/officeDocument/2006/relationships/image" Target="../media/image21.png"/><Relationship Id="rId1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image" Target="../media/image25.gif"/><Relationship Id="rId4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image" Target="../media/image29.gif"/><Relationship Id="rId4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image" Target="../media/image31.gif"/><Relationship Id="rId4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image" Target="../media/image33.gif"/><Relationship Id="rId4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image" Target="../media/image35.gif"/><Relationship Id="rId4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Relationship Id="rId4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Relationship Id="rId3" Type="http://schemas.openxmlformats.org/officeDocument/2006/relationships/image" Target="../media/image39.gif"/><Relationship Id="rId4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E5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9" name="Picture 8" descr="06_construction_safety_briefing_in_progress.jpeg"/>
          <p:cNvPicPr>
            <a:picLocks noChangeAspect="1"/>
          </p:cNvPicPr>
          <p:nvPr/>
        </p:nvPicPr>
        <p:blipFill>
          <a:blip r:embed="rId5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E50">
              <a:alpha val="3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azki-wordmark-blanc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640080"/>
            <a:ext cx="2377440" cy="87455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697480"/>
            <a:ext cx="75895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700" b="1">
                <a:solidFill>
                  <a:srgbClr val="FFFFFF"/>
                </a:solidFill>
                <a:latin typeface="DM Sans"/>
                <a:cs typeface="DM Sans"/>
              </a:rPr>
              <a:t>El software de prevención</a:t>
            </a:r>
          </a:p>
          <a:p>
            <a:pPr algn="l">
              <a:lnSpc>
                <a:spcPct val="102000"/>
              </a:lnSpc>
            </a:pPr>
            <a:r>
              <a:rPr sz="3700" b="1">
                <a:solidFill>
                  <a:srgbClr val="FFFFFF"/>
                </a:solidFill>
                <a:latin typeface="DM Sans"/>
                <a:cs typeface="DM Sans"/>
              </a:rPr>
              <a:t>para toda tu operación.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4160520"/>
            <a:ext cx="70408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500" b="0">
                <a:solidFill>
                  <a:srgbClr val="DDE6F5"/>
                </a:solidFill>
                <a:latin typeface="DM Sans"/>
                <a:cs typeface="DM Sans"/>
              </a:rPr>
              <a:t>Centraliza inducciones, capacitaciones, inspecciones y hallazgos, con firma electrónica y trazabilidad. Todo tu sistema de prevención, en un solo lugar.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245352"/>
            <a:ext cx="12191695" cy="612648"/>
          </a:xfrm>
          <a:prstGeom prst="rect">
            <a:avLst/>
          </a:prstGeom>
          <a:solidFill>
            <a:srgbClr val="1537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6245352"/>
            <a:ext cx="7315200" cy="6126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500" b="1">
                <a:solidFill>
                  <a:srgbClr val="FFFFFF"/>
                </a:solidFill>
                <a:latin typeface="DM Sans"/>
                <a:cs typeface="DM Sans"/>
              </a:rPr>
              <a:t>+150 empresas confían en Tazki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0" y="6245352"/>
            <a:ext cx="3703320" cy="6126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</a:pPr>
            <a:r>
              <a:rPr sz="1200" b="0">
                <a:solidFill>
                  <a:srgbClr val="CFE0FA"/>
                </a:solidFill>
                <a:latin typeface="DM Sans"/>
                <a:cs typeface="DM Sans"/>
              </a:rPr>
              <a:t>Para cualquier rubro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" y="6784848"/>
            <a:ext cx="274320" cy="548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00" b="0">
                <a:solidFill>
                  <a:srgbClr val="FFFFFF"/>
                </a:solidFill>
                <a:latin typeface="DM Sans"/>
              </a:rPr>
              <a:t>​</a:t>
            </a:r>
          </a:p>
        </p:txBody>
      </p:sp>
      <p:pic>
        <p:nvPicPr>
          <p:cNvPr id="3" name="Picture 2" descr="industrial_safety_briefing_in_progress.jpeg"/>
          <p:cNvPicPr>
            <a:picLocks noChangeAspect="1"/>
          </p:cNvPicPr>
          <p:nvPr/>
        </p:nvPicPr>
        <p:blipFill>
          <a:blip r:embed="rId2"/>
          <a:srcRect t="27499" b="27499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E5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6766560" cy="6858000"/>
          </a:xfrm>
          <a:prstGeom prst="rect">
            <a:avLst/>
          </a:prstGeom>
          <a:solidFill>
            <a:srgbClr val="0C1E50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04088" y="640080"/>
            <a:ext cx="329184" cy="32004"/>
          </a:xfrm>
          <a:prstGeom prst="rect">
            <a:avLst/>
          </a:prstGeom>
          <a:solidFill>
            <a:srgbClr val="7FB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5486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7FB2FF"/>
                </a:solidFill>
                <a:latin typeface="DM Sans"/>
              </a:rPr>
              <a:t>EL CONTEXTO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932688"/>
            <a:ext cx="64008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</a:pPr>
            <a:r>
              <a:rPr sz="5400" b="1">
                <a:solidFill>
                  <a:srgbClr val="FFFFFF"/>
                </a:solidFill>
                <a:latin typeface="DM Sans"/>
              </a:rPr>
              <a:t>Ya no basta</a:t>
            </a:r>
          </a:p>
          <a:p>
            <a:pPr>
              <a:lnSpc>
                <a:spcPct val="102000"/>
              </a:lnSpc>
            </a:pPr>
            <a:r>
              <a:rPr sz="5400" b="1">
                <a:solidFill>
                  <a:srgbClr val="FFFFFF"/>
                </a:solidFill>
                <a:latin typeface="DM Sans"/>
              </a:rPr>
              <a:t>con tener</a:t>
            </a:r>
          </a:p>
          <a:p>
            <a:pPr>
              <a:lnSpc>
                <a:spcPct val="102000"/>
              </a:lnSpc>
            </a:pPr>
            <a:r>
              <a:rPr sz="5400" b="1">
                <a:solidFill>
                  <a:srgbClr val="FFFFFF"/>
                </a:solidFill>
                <a:latin typeface="DM Sans"/>
              </a:rPr>
              <a:t>los papeles.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127248"/>
            <a:ext cx="53949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2000"/>
              </a:lnSpc>
            </a:pPr>
            <a:r>
              <a:rPr sz="1550" b="0">
                <a:solidFill>
                  <a:srgbClr val="C9D3EA"/>
                </a:solidFill>
                <a:latin typeface="DM Sans"/>
              </a:rPr>
              <a:t>El DS 44 cambió la regla: desde 2025 la prevención dejó de medirse por documentos archivados y pasó a medirse por gestión demostrable.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4088" y="4315968"/>
            <a:ext cx="3246120" cy="36576"/>
          </a:xfrm>
          <a:prstGeom prst="rect">
            <a:avLst/>
          </a:prstGeom>
          <a:solidFill>
            <a:srgbClr val="1537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4462272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7FB2FF"/>
                </a:solidFill>
                <a:latin typeface="DM Sans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4736592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800" b="1">
                <a:solidFill>
                  <a:srgbClr val="FFFFFF"/>
                </a:solidFill>
                <a:latin typeface="DM Sans"/>
              </a:rPr>
              <a:t>La ODI se convirtió en IRL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5230368"/>
            <a:ext cx="32004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6000"/>
              </a:lnSpc>
            </a:pPr>
            <a:r>
              <a:rPr sz="1150" b="0">
                <a:solidFill>
                  <a:srgbClr val="C9D3EA"/>
                </a:solidFill>
                <a:latin typeface="DM Sans"/>
              </a:rPr>
              <a:t>Informar los riesgos de cada puesto, con firma de quien los conoció, y actualizarlos cuando la tarea cambia.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61688" y="4315968"/>
            <a:ext cx="3246120" cy="36576"/>
          </a:xfrm>
          <a:prstGeom prst="rect">
            <a:avLst/>
          </a:prstGeom>
          <a:solidFill>
            <a:srgbClr val="1537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61688" y="4462272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7FB2FF"/>
                </a:solidFill>
                <a:latin typeface="DM San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61688" y="4736592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800" b="1">
                <a:solidFill>
                  <a:srgbClr val="FFFFFF"/>
                </a:solidFill>
                <a:latin typeface="DM Sans"/>
              </a:rPr>
              <a:t>La MIPER manda el programa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61688" y="5230368"/>
            <a:ext cx="32004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6000"/>
              </a:lnSpc>
            </a:pPr>
            <a:r>
              <a:rPr sz="1150" b="0">
                <a:solidFill>
                  <a:srgbClr val="C9D3EA"/>
                </a:solidFill>
                <a:latin typeface="DM Sans"/>
              </a:rPr>
              <a:t>La matriz define el programa preventivo, y ese programa vence a los 30 días de actualizar la matriz.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19288" y="4315968"/>
            <a:ext cx="3246120" cy="36576"/>
          </a:xfrm>
          <a:prstGeom prst="rect">
            <a:avLst/>
          </a:prstGeom>
          <a:solidFill>
            <a:srgbClr val="1537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19288" y="4462272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7FB2FF"/>
                </a:solidFill>
                <a:latin typeface="DM San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19288" y="4736592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800" b="1">
                <a:solidFill>
                  <a:srgbClr val="FFFFFF"/>
                </a:solidFill>
                <a:latin typeface="DM Sans"/>
              </a:rPr>
              <a:t>Se fiscaliza la evidencia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19288" y="5230368"/>
            <a:ext cx="32004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6000"/>
              </a:lnSpc>
            </a:pPr>
            <a:r>
              <a:rPr sz="1150" b="0">
                <a:solidFill>
                  <a:srgbClr val="C9D3EA"/>
                </a:solidFill>
                <a:latin typeface="DM Sans"/>
              </a:rPr>
              <a:t>El FUF no revisa si el documento existe: revisa fecha, responsable, firma y seguimiento.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1537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4088" y="6428232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DM Sans"/>
              </a:rPr>
              <a:t>Tazki es donde esa gestión queda registrada, al día y lista para mostrar.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" y="6784848"/>
            <a:ext cx="274320" cy="548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00" b="0">
                <a:solidFill>
                  <a:srgbClr val="FFFFFF"/>
                </a:solidFill>
                <a:latin typeface="DM Sans"/>
              </a:rPr>
              <a:t>​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537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4088" y="566928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3100" b="1">
                <a:solidFill>
                  <a:srgbClr val="0C1E50"/>
                </a:solidFill>
                <a:latin typeface="DM Sans"/>
              </a:rPr>
              <a:t>Empresas que ya confían en Tazki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2376" y="1133856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400" b="0">
                <a:solidFill>
                  <a:srgbClr val="5B6472"/>
                </a:solidFill>
                <a:latin typeface="DM Sans"/>
              </a:rPr>
              <a:t>Empresas de todos los rubros · 28 de las +150 que ya digitalizaron su prevención.</a:t>
            </a:r>
          </a:p>
        </p:txBody>
      </p:sp>
      <p:pic>
        <p:nvPicPr>
          <p:cNvPr id="7" name="Picture 6" descr="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241" y="1922089"/>
            <a:ext cx="1416466" cy="1047861"/>
          </a:xfrm>
          <a:prstGeom prst="rect">
            <a:avLst/>
          </a:prstGeom>
        </p:spPr>
      </p:pic>
      <p:pic>
        <p:nvPicPr>
          <p:cNvPr id="8" name="Picture 7" descr="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70032" y="1922089"/>
            <a:ext cx="1416466" cy="1047861"/>
          </a:xfrm>
          <a:prstGeom prst="rect">
            <a:avLst/>
          </a:prstGeom>
        </p:spPr>
      </p:pic>
      <p:pic>
        <p:nvPicPr>
          <p:cNvPr id="9" name="Picture 8" descr="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28823" y="1922089"/>
            <a:ext cx="1416466" cy="1047861"/>
          </a:xfrm>
          <a:prstGeom prst="rect">
            <a:avLst/>
          </a:prstGeom>
        </p:spPr>
      </p:pic>
      <p:pic>
        <p:nvPicPr>
          <p:cNvPr id="10" name="Picture 9" descr="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87614" y="1922089"/>
            <a:ext cx="1416466" cy="1047861"/>
          </a:xfrm>
          <a:prstGeom prst="rect">
            <a:avLst/>
          </a:prstGeom>
        </p:spPr>
      </p:pic>
      <p:pic>
        <p:nvPicPr>
          <p:cNvPr id="11" name="Picture 10" descr="5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46404" y="1922089"/>
            <a:ext cx="1416466" cy="1047861"/>
          </a:xfrm>
          <a:prstGeom prst="rect">
            <a:avLst/>
          </a:prstGeom>
        </p:spPr>
      </p:pic>
      <p:pic>
        <p:nvPicPr>
          <p:cNvPr id="12" name="Picture 11" descr="6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05195" y="1922089"/>
            <a:ext cx="1416466" cy="1047861"/>
          </a:xfrm>
          <a:prstGeom prst="rect">
            <a:avLst/>
          </a:prstGeom>
        </p:spPr>
      </p:pic>
      <p:pic>
        <p:nvPicPr>
          <p:cNvPr id="13" name="Picture 12" descr="7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063986" y="1922089"/>
            <a:ext cx="1416466" cy="1047861"/>
          </a:xfrm>
          <a:prstGeom prst="rect">
            <a:avLst/>
          </a:prstGeom>
        </p:spPr>
      </p:pic>
      <p:pic>
        <p:nvPicPr>
          <p:cNvPr id="14" name="Picture 13" descr="8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11241" y="3110809"/>
            <a:ext cx="1416466" cy="1047861"/>
          </a:xfrm>
          <a:prstGeom prst="rect">
            <a:avLst/>
          </a:prstGeom>
        </p:spPr>
      </p:pic>
      <p:pic>
        <p:nvPicPr>
          <p:cNvPr id="15" name="Picture 14" descr="9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270032" y="3110809"/>
            <a:ext cx="1416466" cy="1047861"/>
          </a:xfrm>
          <a:prstGeom prst="rect">
            <a:avLst/>
          </a:prstGeom>
        </p:spPr>
      </p:pic>
      <p:pic>
        <p:nvPicPr>
          <p:cNvPr id="16" name="Picture 15" descr="10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828823" y="3110809"/>
            <a:ext cx="1416466" cy="1047861"/>
          </a:xfrm>
          <a:prstGeom prst="rect">
            <a:avLst/>
          </a:prstGeom>
        </p:spPr>
      </p:pic>
      <p:pic>
        <p:nvPicPr>
          <p:cNvPr id="17" name="Picture 16" descr="11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387614" y="3110809"/>
            <a:ext cx="1416466" cy="1047861"/>
          </a:xfrm>
          <a:prstGeom prst="rect">
            <a:avLst/>
          </a:prstGeom>
        </p:spPr>
      </p:pic>
      <p:pic>
        <p:nvPicPr>
          <p:cNvPr id="18" name="Picture 17" descr="12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946404" y="3110809"/>
            <a:ext cx="1416466" cy="1047861"/>
          </a:xfrm>
          <a:prstGeom prst="rect">
            <a:avLst/>
          </a:prstGeom>
        </p:spPr>
      </p:pic>
      <p:pic>
        <p:nvPicPr>
          <p:cNvPr id="19" name="Picture 18" descr="13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505195" y="3110809"/>
            <a:ext cx="1416466" cy="1047861"/>
          </a:xfrm>
          <a:prstGeom prst="rect">
            <a:avLst/>
          </a:prstGeom>
        </p:spPr>
      </p:pic>
      <p:pic>
        <p:nvPicPr>
          <p:cNvPr id="20" name="Picture 19" descr="14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063986" y="3110809"/>
            <a:ext cx="1416466" cy="1047861"/>
          </a:xfrm>
          <a:prstGeom prst="rect">
            <a:avLst/>
          </a:prstGeom>
        </p:spPr>
      </p:pic>
      <p:pic>
        <p:nvPicPr>
          <p:cNvPr id="21" name="Picture 20" descr="15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11241" y="4299529"/>
            <a:ext cx="1416466" cy="1047861"/>
          </a:xfrm>
          <a:prstGeom prst="rect">
            <a:avLst/>
          </a:prstGeom>
        </p:spPr>
      </p:pic>
      <p:pic>
        <p:nvPicPr>
          <p:cNvPr id="22" name="Picture 21" descr="16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270032" y="4299529"/>
            <a:ext cx="1416466" cy="1047861"/>
          </a:xfrm>
          <a:prstGeom prst="rect">
            <a:avLst/>
          </a:prstGeom>
        </p:spPr>
      </p:pic>
      <p:pic>
        <p:nvPicPr>
          <p:cNvPr id="23" name="Picture 22" descr="17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828823" y="4311511"/>
            <a:ext cx="1416466" cy="1023896"/>
          </a:xfrm>
          <a:prstGeom prst="rect">
            <a:avLst/>
          </a:prstGeom>
        </p:spPr>
      </p:pic>
      <p:pic>
        <p:nvPicPr>
          <p:cNvPr id="24" name="Picture 23" descr="18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387614" y="4299529"/>
            <a:ext cx="1416466" cy="1047861"/>
          </a:xfrm>
          <a:prstGeom prst="rect">
            <a:avLst/>
          </a:prstGeom>
        </p:spPr>
      </p:pic>
      <p:pic>
        <p:nvPicPr>
          <p:cNvPr id="25" name="Picture 24" descr="19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946404" y="4299529"/>
            <a:ext cx="1416466" cy="1047861"/>
          </a:xfrm>
          <a:prstGeom prst="rect">
            <a:avLst/>
          </a:prstGeom>
        </p:spPr>
      </p:pic>
      <p:pic>
        <p:nvPicPr>
          <p:cNvPr id="26" name="Picture 25" descr="20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505195" y="4299529"/>
            <a:ext cx="1416466" cy="1047861"/>
          </a:xfrm>
          <a:prstGeom prst="rect">
            <a:avLst/>
          </a:prstGeom>
        </p:spPr>
      </p:pic>
      <p:pic>
        <p:nvPicPr>
          <p:cNvPr id="27" name="Picture 26" descr="21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0063986" y="4299529"/>
            <a:ext cx="1416466" cy="1047861"/>
          </a:xfrm>
          <a:prstGeom prst="rect">
            <a:avLst/>
          </a:prstGeom>
        </p:spPr>
      </p:pic>
      <p:pic>
        <p:nvPicPr>
          <p:cNvPr id="28" name="Picture 27" descr="22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11241" y="5488249"/>
            <a:ext cx="1416466" cy="1047861"/>
          </a:xfrm>
          <a:prstGeom prst="rect">
            <a:avLst/>
          </a:prstGeom>
        </p:spPr>
      </p:pic>
      <p:pic>
        <p:nvPicPr>
          <p:cNvPr id="29" name="Picture 28" descr="23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2270032" y="5488249"/>
            <a:ext cx="1416466" cy="1047861"/>
          </a:xfrm>
          <a:prstGeom prst="rect">
            <a:avLst/>
          </a:prstGeom>
        </p:spPr>
      </p:pic>
      <p:pic>
        <p:nvPicPr>
          <p:cNvPr id="30" name="Picture 29" descr="24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3828823" y="5488249"/>
            <a:ext cx="1416466" cy="1047861"/>
          </a:xfrm>
          <a:prstGeom prst="rect">
            <a:avLst/>
          </a:prstGeom>
        </p:spPr>
      </p:pic>
      <p:pic>
        <p:nvPicPr>
          <p:cNvPr id="31" name="Picture 30" descr="25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5387614" y="5488249"/>
            <a:ext cx="1416466" cy="1047861"/>
          </a:xfrm>
          <a:prstGeom prst="rect">
            <a:avLst/>
          </a:prstGeom>
        </p:spPr>
      </p:pic>
      <p:pic>
        <p:nvPicPr>
          <p:cNvPr id="32" name="Picture 31" descr="26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6946404" y="5488249"/>
            <a:ext cx="1416466" cy="1047861"/>
          </a:xfrm>
          <a:prstGeom prst="rect">
            <a:avLst/>
          </a:prstGeom>
        </p:spPr>
      </p:pic>
      <p:pic>
        <p:nvPicPr>
          <p:cNvPr id="33" name="Picture 32" descr="27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8505195" y="5488249"/>
            <a:ext cx="1416466" cy="1047861"/>
          </a:xfrm>
          <a:prstGeom prst="rect">
            <a:avLst/>
          </a:prstGeom>
        </p:spPr>
      </p:pic>
      <p:pic>
        <p:nvPicPr>
          <p:cNvPr id="34" name="Picture 33" descr="28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10063986" y="5488249"/>
            <a:ext cx="1416466" cy="104786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_scov_6087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2148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100584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1">
                <a:solidFill>
                  <a:srgbClr val="CFE0FA"/>
                </a:solidFill>
                <a:latin typeface="DM Sans"/>
                <a:cs typeface="DM Sans"/>
              </a:rPr>
              <a:t>LO QUE HOY TE COMPLICA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9601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2600" b="1">
                <a:solidFill>
                  <a:srgbClr val="FFFFFF"/>
                </a:solidFill>
                <a:latin typeface="DM Sans"/>
                <a:cs typeface="DM Sans"/>
              </a:rPr>
              <a:t>Tres cosas que le pasan a casi todas las operaciones.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514600"/>
            <a:ext cx="3429000" cy="3520440"/>
          </a:xfrm>
          <a:prstGeom prst="roundRect">
            <a:avLst>
              <a:gd name="adj" fmla="val 5000"/>
            </a:avLst>
          </a:prstGeom>
          <a:solidFill>
            <a:srgbClr val="F4F6FB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43000" y="2880360"/>
            <a:ext cx="868680" cy="86868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uo-files-8F4799-19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3017520"/>
            <a:ext cx="594360" cy="5943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43000" y="3931920"/>
            <a:ext cx="2788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550" b="1">
                <a:solidFill>
                  <a:srgbClr val="0C1E50"/>
                </a:solidFill>
                <a:latin typeface="DM Sans"/>
                <a:cs typeface="DM Sans"/>
              </a:rPr>
              <a:t>Se te va el día en papeleo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1288" y="4910328"/>
            <a:ext cx="277063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150" b="0">
                <a:solidFill>
                  <a:srgbClr val="5B6472"/>
                </a:solidFill>
                <a:latin typeface="DM Sans"/>
                <a:cs typeface="DM Sans"/>
              </a:rPr>
              <a:t>Entre firmas, planillas y documentos escaneados, queda poco tiempo para estar en terreno, que es donde de verdad se previene.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2514600"/>
            <a:ext cx="3429000" cy="3520440"/>
          </a:xfrm>
          <a:prstGeom prst="roundRect">
            <a:avLst>
              <a:gd name="adj" fmla="val 5000"/>
            </a:avLst>
          </a:prstGeom>
          <a:solidFill>
            <a:srgbClr val="F4F6FB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754880" y="2880360"/>
            <a:ext cx="868680" cy="86868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duo-gavel-8F4799-19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3017520"/>
            <a:ext cx="594360" cy="5943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754880" y="3931920"/>
            <a:ext cx="2788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550" b="1">
                <a:solidFill>
                  <a:srgbClr val="0C1E50"/>
                </a:solidFill>
                <a:latin typeface="DM Sans"/>
                <a:cs typeface="DM Sans"/>
              </a:rPr>
              <a:t>Si te fiscaliza la DT, ¿está todo a mano?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73168" y="4910328"/>
            <a:ext cx="277063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150" b="0">
                <a:solidFill>
                  <a:srgbClr val="5B6472"/>
                </a:solidFill>
                <a:latin typeface="DM Sans"/>
                <a:cs typeface="DM Sans"/>
              </a:rPr>
              <a:t>ODI, capacitaciones e inspecciones. Cuando están repartidas en carpetas y correos, responder a tiempo se hace cuesta arriba.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2514600"/>
            <a:ext cx="3429000" cy="3520440"/>
          </a:xfrm>
          <a:prstGeom prst="roundRect">
            <a:avLst>
              <a:gd name="adj" fmla="val 5000"/>
            </a:avLst>
          </a:prstGeom>
          <a:solidFill>
            <a:srgbClr val="F4F6FB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366760" y="2880360"/>
            <a:ext cx="868680" cy="86868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duo-magnifying-glass-8F4799-19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3920" y="3017520"/>
            <a:ext cx="594360" cy="59436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366760" y="3931920"/>
            <a:ext cx="2788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550" b="1">
                <a:solidFill>
                  <a:srgbClr val="0C1E50"/>
                </a:solidFill>
                <a:latin typeface="DM Sans"/>
                <a:cs typeface="DM Sans"/>
              </a:rPr>
              <a:t>Cuando pasa un accidente, el respaldo tiene que estar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5048" y="4910328"/>
            <a:ext cx="277063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150" b="0">
                <a:solidFill>
                  <a:srgbClr val="5B6472"/>
                </a:solidFill>
                <a:latin typeface="DM Sans"/>
                <a:cs typeface="DM Sans"/>
              </a:rPr>
              <a:t>Ante algo grave se revisa todo. Si la documentación quedó incompleta, la empresa queda expuesta.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_scov_2717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2148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100584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1">
                <a:solidFill>
                  <a:srgbClr val="CFE0FA"/>
                </a:solidFill>
                <a:latin typeface="DM Sans"/>
                <a:cs typeface="DM Sans"/>
              </a:rPr>
              <a:t>ASÍ TE AYUDA TAZKI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9601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2600" b="1">
                <a:solidFill>
                  <a:srgbClr val="FFFFFF"/>
                </a:solidFill>
                <a:latin typeface="DM Sans"/>
                <a:cs typeface="DM Sans"/>
              </a:rPr>
              <a:t>De la planilla al control real de tu prevención.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2468880"/>
            <a:ext cx="2651760" cy="3657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32688" y="2788920"/>
            <a:ext cx="777240" cy="777240"/>
          </a:xfrm>
          <a:prstGeom prst="roundRect">
            <a:avLst>
              <a:gd name="adj" fmla="val 18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uo-stack-1537D1-18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2907792"/>
            <a:ext cx="548640" cy="5486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32688" y="3749039"/>
            <a:ext cx="21031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50" b="1">
                <a:solidFill>
                  <a:srgbClr val="0C1E50"/>
                </a:solidFill>
                <a:latin typeface="DM Sans"/>
                <a:cs typeface="DM Sans"/>
              </a:rPr>
              <a:t>Todo en un solo lugar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" y="4754880"/>
            <a:ext cx="2084831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0">
                <a:solidFill>
                  <a:srgbClr val="5B6472"/>
                </a:solidFill>
                <a:latin typeface="DM Sans"/>
                <a:cs typeface="DM Sans"/>
              </a:rPr>
              <a:t>Reúne documentos, firmas y registros de tu prevención en una plataforma. Se acabó buscar en carpetas y correos.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2468880"/>
            <a:ext cx="2651760" cy="3657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703320" y="2788920"/>
            <a:ext cx="777240" cy="777240"/>
          </a:xfrm>
          <a:prstGeom prst="roundRect">
            <a:avLst>
              <a:gd name="adj" fmla="val 18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duo-seal-check-1537D1-18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2191" y="2907792"/>
            <a:ext cx="548640" cy="5486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703320" y="3749039"/>
            <a:ext cx="21031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50" b="1">
                <a:solidFill>
                  <a:srgbClr val="0C1E50"/>
                </a:solidFill>
                <a:latin typeface="DM Sans"/>
                <a:cs typeface="DM Sans"/>
              </a:rPr>
              <a:t>Respaldo cuando lo necesitas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21608" y="4754880"/>
            <a:ext cx="2084831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0">
                <a:solidFill>
                  <a:srgbClr val="5B6472"/>
                </a:solidFill>
                <a:latin typeface="DM Sans"/>
                <a:cs typeface="DM Sans"/>
              </a:rPr>
              <a:t>Cada registro queda con firma electrónica y trazabilidad, con el respaldo de la Resolución 908 de la Dirección del Trabajo.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9631" y="2468880"/>
            <a:ext cx="2651760" cy="3657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73951" y="2788920"/>
            <a:ext cx="777240" cy="777240"/>
          </a:xfrm>
          <a:prstGeom prst="roundRect">
            <a:avLst>
              <a:gd name="adj" fmla="val 18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duo-device-mobile-1537D1-18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2823" y="2907792"/>
            <a:ext cx="548640" cy="54864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473951" y="3749039"/>
            <a:ext cx="21031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50" b="1">
                <a:solidFill>
                  <a:srgbClr val="0C1E50"/>
                </a:solidFill>
                <a:latin typeface="DM Sans"/>
                <a:cs typeface="DM Sans"/>
              </a:rPr>
              <a:t>Prevención en terreno, desde el celular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4754880"/>
            <a:ext cx="2084831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0">
                <a:solidFill>
                  <a:srgbClr val="5B6472"/>
                </a:solidFill>
                <a:latin typeface="DM Sans"/>
                <a:cs typeface="DM Sans"/>
              </a:rPr>
              <a:t>Tu equipo levanta hallazgos, inspecciones y firmas donde ocurre el trabajo. Si no hay señal, se sincroniza al recuperar conexión.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70263" y="2468880"/>
            <a:ext cx="2651760" cy="3657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244584" y="2788920"/>
            <a:ext cx="777240" cy="777240"/>
          </a:xfrm>
          <a:prstGeom prst="roundRect">
            <a:avLst>
              <a:gd name="adj" fmla="val 18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duo-gavel-1537D1-18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63455" y="2907792"/>
            <a:ext cx="548640" cy="54864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9244584" y="3749039"/>
            <a:ext cx="21031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50" b="1">
                <a:solidFill>
                  <a:srgbClr val="0C1E50"/>
                </a:solidFill>
                <a:latin typeface="DM Sans"/>
                <a:cs typeface="DM Sans"/>
              </a:rPr>
              <a:t>Menos exposición legal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62872" y="4754880"/>
            <a:ext cx="2084831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0">
                <a:solidFill>
                  <a:srgbClr val="5B6472"/>
                </a:solidFill>
                <a:latin typeface="DM Sans"/>
                <a:cs typeface="DM Sans"/>
              </a:rPr>
              <a:t>Con todo registrado y al día, enfrentas una fiscalización o un accidente con la carpeta completa.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E5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azki-wordmark-bl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234440"/>
            <a:ext cx="2286000" cy="84092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97280" y="2651760"/>
            <a:ext cx="99669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3400" b="1">
                <a:solidFill>
                  <a:srgbClr val="FFFFFF"/>
                </a:solidFill>
                <a:latin typeface="DM Sans"/>
                <a:cs typeface="DM Sans"/>
              </a:rPr>
              <a:t>Un software modular, para cada proceso de tu prevención.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160520"/>
            <a:ext cx="9966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1700" b="0">
                <a:solidFill>
                  <a:srgbClr val="A2D6F9"/>
                </a:solidFill>
                <a:latin typeface="DM Sans"/>
                <a:cs typeface="DM Sans"/>
              </a:rPr>
              <a:t>Activa lo que tu operación necesita. Todo comparte datos, trazabilidad y firma.</a:t>
            </a:r>
          </a:p>
        </p:txBody>
      </p:sp>
      <p:pic>
        <p:nvPicPr>
          <p:cNvPr id="5" name="Picture 4" descr="duo-identification-card-B865C1-18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5212080"/>
            <a:ext cx="566928" cy="566928"/>
          </a:xfrm>
          <a:prstGeom prst="rect">
            <a:avLst/>
          </a:prstGeom>
        </p:spPr>
      </p:pic>
      <p:pic>
        <p:nvPicPr>
          <p:cNvPr id="6" name="Picture 5" descr="duo-warning-B865C1-18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35124" y="5212080"/>
            <a:ext cx="566928" cy="566928"/>
          </a:xfrm>
          <a:prstGeom prst="rect">
            <a:avLst/>
          </a:prstGeom>
        </p:spPr>
      </p:pic>
      <p:pic>
        <p:nvPicPr>
          <p:cNvPr id="7" name="Picture 6" descr="duo-chalkboard-teacher-B865C1-18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55848" y="5212080"/>
            <a:ext cx="566928" cy="566928"/>
          </a:xfrm>
          <a:prstGeom prst="rect">
            <a:avLst/>
          </a:prstGeom>
        </p:spPr>
      </p:pic>
      <p:pic>
        <p:nvPicPr>
          <p:cNvPr id="8" name="Picture 7" descr="duo-clipboard-text-B865C1-18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6572" y="5212080"/>
            <a:ext cx="566928" cy="566928"/>
          </a:xfrm>
          <a:prstGeom prst="rect">
            <a:avLst/>
          </a:prstGeom>
        </p:spPr>
      </p:pic>
      <p:pic>
        <p:nvPicPr>
          <p:cNvPr id="9" name="Picture 8" descr="duo-shield-check-B865C1-18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97296" y="5212080"/>
            <a:ext cx="566928" cy="566928"/>
          </a:xfrm>
          <a:prstGeom prst="rect">
            <a:avLst/>
          </a:prstGeom>
        </p:spPr>
      </p:pic>
      <p:pic>
        <p:nvPicPr>
          <p:cNvPr id="10" name="Picture 9" descr="duo-grid-four-B865C1-18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18020" y="5212080"/>
            <a:ext cx="566928" cy="566928"/>
          </a:xfrm>
          <a:prstGeom prst="rect">
            <a:avLst/>
          </a:prstGeom>
        </p:spPr>
      </p:pic>
      <p:pic>
        <p:nvPicPr>
          <p:cNvPr id="11" name="Picture 10" descr="duo-calendar-check-B865C1-186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38744" y="5212080"/>
            <a:ext cx="566928" cy="566928"/>
          </a:xfrm>
          <a:prstGeom prst="rect">
            <a:avLst/>
          </a:prstGeom>
        </p:spPr>
      </p:pic>
      <p:pic>
        <p:nvPicPr>
          <p:cNvPr id="12" name="Picture 11" descr="duo-users-three-B865C1-186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459467" y="5212080"/>
            <a:ext cx="566928" cy="566928"/>
          </a:xfrm>
          <a:prstGeom prst="rect">
            <a:avLst/>
          </a:prstGeom>
        </p:spPr>
      </p:pic>
      <p:pic>
        <p:nvPicPr>
          <p:cNvPr id="13" name="Picture 12" descr="duo-wrench-B865C1-186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680192" y="5212080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1371600"/>
            <a:ext cx="1280160" cy="1280160"/>
          </a:xfrm>
          <a:prstGeom prst="roundRect">
            <a:avLst>
              <a:gd name="adj" fmla="val 16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uo-identification-card-1537D1-2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645920"/>
            <a:ext cx="731520" cy="731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880360"/>
            <a:ext cx="4297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0C1E50"/>
                </a:solidFill>
                <a:latin typeface="DM Sans"/>
                <a:cs typeface="DM Sans"/>
              </a:rPr>
              <a:t>Inducciones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913632"/>
            <a:ext cx="2514600" cy="384048"/>
          </a:xfrm>
          <a:prstGeom prst="roundRect">
            <a:avLst>
              <a:gd name="adj" fmla="val 50000"/>
            </a:avLst>
          </a:prstGeom>
          <a:solidFill>
            <a:srgbClr val="8F47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913632"/>
            <a:ext cx="2514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1050" b="1">
                <a:solidFill>
                  <a:srgbClr val="FFFFFF"/>
                </a:solidFill>
                <a:latin typeface="DM Sans"/>
                <a:cs typeface="DM Sans"/>
              </a:rPr>
              <a:t>CLAVE PARA TU OPERACIÓN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4526280"/>
            <a:ext cx="42062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0">
                <a:solidFill>
                  <a:srgbClr val="5B6472"/>
                </a:solidFill>
                <a:latin typeface="DM Sans"/>
                <a:cs typeface="DM Sans"/>
              </a:rPr>
              <a:t>Documentación obligatoria firmada digitalmente y centralizada por colaborador.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0" y="1051560"/>
            <a:ext cx="5989320" cy="475488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REVESTIDO_evaluacion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1837086"/>
            <a:ext cx="5660136" cy="318382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1371600"/>
            <a:ext cx="1280160" cy="1280160"/>
          </a:xfrm>
          <a:prstGeom prst="roundRect">
            <a:avLst>
              <a:gd name="adj" fmla="val 16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uo-warning-1537D1-2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645920"/>
            <a:ext cx="731520" cy="731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880360"/>
            <a:ext cx="4297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0C1E50"/>
                </a:solidFill>
                <a:latin typeface="DM Sans"/>
                <a:cs typeface="DM Sans"/>
              </a:rPr>
              <a:t>Hallazgos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931920"/>
            <a:ext cx="42062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0">
                <a:solidFill>
                  <a:srgbClr val="5B6472"/>
                </a:solidFill>
                <a:latin typeface="DM Sans"/>
                <a:cs typeface="DM Sans"/>
              </a:rPr>
              <a:t>Gestiona el ciclo de acciones y condiciones inseguras hasta su cierre.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0" y="1051560"/>
            <a:ext cx="5989320" cy="475488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low_hallazgos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1543384"/>
            <a:ext cx="5660136" cy="377123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1371600"/>
            <a:ext cx="1280160" cy="1280160"/>
          </a:xfrm>
          <a:prstGeom prst="roundRect">
            <a:avLst>
              <a:gd name="adj" fmla="val 16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uo-chalkboard-teacher-1537D1-2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645920"/>
            <a:ext cx="731520" cy="731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880360"/>
            <a:ext cx="4297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0C1E50"/>
                </a:solidFill>
                <a:latin typeface="DM Sans"/>
                <a:cs typeface="DM Sans"/>
              </a:rPr>
              <a:t>Capacitaciones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913632"/>
            <a:ext cx="2514600" cy="384048"/>
          </a:xfrm>
          <a:prstGeom prst="roundRect">
            <a:avLst>
              <a:gd name="adj" fmla="val 50000"/>
            </a:avLst>
          </a:prstGeom>
          <a:solidFill>
            <a:srgbClr val="8F47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913632"/>
            <a:ext cx="2514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1050" b="1">
                <a:solidFill>
                  <a:srgbClr val="FFFFFF"/>
                </a:solidFill>
                <a:latin typeface="DM Sans"/>
                <a:cs typeface="DM Sans"/>
              </a:rPr>
              <a:t>CLAVE PARA TU OPERACIÓN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4526280"/>
            <a:ext cx="42062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0">
                <a:solidFill>
                  <a:srgbClr val="5B6472"/>
                </a:solidFill>
                <a:latin typeface="DM Sans"/>
                <a:cs typeface="DM Sans"/>
              </a:rPr>
              <a:t>Calendariza charlas, registra asistencia y respalda la firma de cada participante.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0" y="1051560"/>
            <a:ext cx="5989320" cy="475488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REVESTIDO_capacitacion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1837086"/>
            <a:ext cx="5660136" cy="318382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1371600"/>
            <a:ext cx="1280160" cy="1280160"/>
          </a:xfrm>
          <a:prstGeom prst="roundRect">
            <a:avLst>
              <a:gd name="adj" fmla="val 16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uo-clipboard-text-1537D1-2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645920"/>
            <a:ext cx="731520" cy="731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880360"/>
            <a:ext cx="4297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0C1E50"/>
                </a:solidFill>
                <a:latin typeface="DM Sans"/>
                <a:cs typeface="DM Sans"/>
              </a:rPr>
              <a:t>Inspecciones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931920"/>
            <a:ext cx="42062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0">
                <a:solidFill>
                  <a:srgbClr val="5B6472"/>
                </a:solidFill>
                <a:latin typeface="DM Sans"/>
                <a:cs typeface="DM Sans"/>
              </a:rPr>
              <a:t>Identifica y corrige riesgos en terreno, desde el celular del supervisor.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0" y="1051560"/>
            <a:ext cx="5989320" cy="475488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low_inspecciones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1543384"/>
            <a:ext cx="5660136" cy="377123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1371600"/>
            <a:ext cx="1280160" cy="1280160"/>
          </a:xfrm>
          <a:prstGeom prst="roundRect">
            <a:avLst>
              <a:gd name="adj" fmla="val 16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uo-shield-check-1537D1-2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645920"/>
            <a:ext cx="731520" cy="731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880360"/>
            <a:ext cx="4297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0C1E50"/>
                </a:solidFill>
                <a:latin typeface="DM Sans"/>
                <a:cs typeface="DM Sans"/>
              </a:rPr>
              <a:t>ART / AST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931920"/>
            <a:ext cx="42062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0">
                <a:solidFill>
                  <a:srgbClr val="5B6472"/>
                </a:solidFill>
                <a:latin typeface="DM Sans"/>
                <a:cs typeface="DM Sans"/>
              </a:rPr>
              <a:t>Análisis de riesgo digital con firma de todos los participantes en terreno.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0" y="1051560"/>
            <a:ext cx="5989320" cy="475488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low_art-ast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1543384"/>
            <a:ext cx="5660136" cy="377123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1371600"/>
            <a:ext cx="1280160" cy="1280160"/>
          </a:xfrm>
          <a:prstGeom prst="roundRect">
            <a:avLst>
              <a:gd name="adj" fmla="val 16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uo-grid-four-1537D1-2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645920"/>
            <a:ext cx="731520" cy="731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880360"/>
            <a:ext cx="4297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0C1E50"/>
                </a:solidFill>
                <a:latin typeface="DM Sans"/>
                <a:cs typeface="DM Sans"/>
              </a:rPr>
              <a:t>MIPER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913632"/>
            <a:ext cx="2514600" cy="384048"/>
          </a:xfrm>
          <a:prstGeom prst="roundRect">
            <a:avLst>
              <a:gd name="adj" fmla="val 50000"/>
            </a:avLst>
          </a:prstGeom>
          <a:solidFill>
            <a:srgbClr val="8F47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913632"/>
            <a:ext cx="2514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1050" b="1">
                <a:solidFill>
                  <a:srgbClr val="FFFFFF"/>
                </a:solidFill>
                <a:latin typeface="DM Sans"/>
                <a:cs typeface="DM Sans"/>
              </a:rPr>
              <a:t>CLAVE PARA TU OPERACIÓN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4526280"/>
            <a:ext cx="42062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0">
                <a:solidFill>
                  <a:srgbClr val="5B6472"/>
                </a:solidFill>
                <a:latin typeface="DM Sans"/>
                <a:cs typeface="DM Sans"/>
              </a:rPr>
              <a:t>Matriz de identificación de peligros y evaluación de riesgos, digitalizada y siempre actualizada.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0" y="1051560"/>
            <a:ext cx="5989320" cy="475488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flow_mipe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1543384"/>
            <a:ext cx="5660136" cy="377123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1371600"/>
            <a:ext cx="1280160" cy="1280160"/>
          </a:xfrm>
          <a:prstGeom prst="roundRect">
            <a:avLst>
              <a:gd name="adj" fmla="val 16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uo-calendar-check-1537D1-2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645920"/>
            <a:ext cx="731520" cy="731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880360"/>
            <a:ext cx="4297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0C1E50"/>
                </a:solidFill>
                <a:latin typeface="DM Sans"/>
                <a:cs typeface="DM Sans"/>
              </a:rPr>
              <a:t>Programa de gestión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931920"/>
            <a:ext cx="42062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0">
                <a:solidFill>
                  <a:srgbClr val="5B6472"/>
                </a:solidFill>
                <a:latin typeface="DM Sans"/>
                <a:cs typeface="DM Sans"/>
              </a:rPr>
              <a:t>Planifica las actividades preventivas del período y controla su cumplimiento.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0" y="1051560"/>
            <a:ext cx="5989320" cy="475488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low_programa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1543384"/>
            <a:ext cx="5660136" cy="377123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1371600"/>
            <a:ext cx="1280160" cy="1280160"/>
          </a:xfrm>
          <a:prstGeom prst="roundRect">
            <a:avLst>
              <a:gd name="adj" fmla="val 16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uo-users-three-1537D1-2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645920"/>
            <a:ext cx="731520" cy="731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880360"/>
            <a:ext cx="4297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0C1E50"/>
                </a:solidFill>
                <a:latin typeface="DM Sans"/>
                <a:cs typeface="DM Sans"/>
              </a:rPr>
              <a:t>Comité Paritario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931920"/>
            <a:ext cx="42062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0">
                <a:solidFill>
                  <a:srgbClr val="5B6472"/>
                </a:solidFill>
                <a:latin typeface="DM Sans"/>
                <a:cs typeface="DM Sans"/>
              </a:rPr>
              <a:t>Digitaliza actas, reuniones y acuerdos del comité paritario, con respaldo.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0" y="1051560"/>
            <a:ext cx="5989320" cy="475488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REVESTIDO_com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1837086"/>
            <a:ext cx="5660136" cy="318382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1371600"/>
            <a:ext cx="1280160" cy="1280160"/>
          </a:xfrm>
          <a:prstGeom prst="roundRect">
            <a:avLst>
              <a:gd name="adj" fmla="val 16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uo-wrench-1537D1-2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645920"/>
            <a:ext cx="731520" cy="731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880360"/>
            <a:ext cx="4297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0C1E50"/>
                </a:solidFill>
                <a:latin typeface="DM Sans"/>
                <a:cs typeface="DM Sans"/>
              </a:rPr>
              <a:t>Insumos y Maquinaria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931920"/>
            <a:ext cx="42062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0">
                <a:solidFill>
                  <a:srgbClr val="5B6472"/>
                </a:solidFill>
                <a:latin typeface="DM Sans"/>
                <a:cs typeface="DM Sans"/>
              </a:rPr>
              <a:t>Controla el inventario de insumos y el historial documental de maquinarias.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0" y="1051560"/>
            <a:ext cx="5989320" cy="475488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 w="12700">
            <a:solidFill>
              <a:srgbClr val="E2E7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low_insumos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1543384"/>
            <a:ext cx="5660136" cy="377123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E5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azki-wordmark-bl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731520"/>
            <a:ext cx="2194560" cy="80728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1828800"/>
            <a:ext cx="10515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FFFFFF"/>
                </a:solidFill>
                <a:latin typeface="DM Sans"/>
                <a:cs typeface="DM Sans"/>
              </a:rPr>
              <a:t>Pongamos tu prevención</a:t>
            </a:r>
          </a:p>
          <a:p>
            <a:pPr algn="l">
              <a:lnSpc>
                <a:spcPct val="100000"/>
              </a:lnSpc>
            </a:pPr>
            <a:r>
              <a:rPr sz="4400" b="1">
                <a:solidFill>
                  <a:srgbClr val="FFFFFF"/>
                </a:solidFill>
                <a:latin typeface="DM Sans"/>
                <a:cs typeface="DM Sans"/>
              </a:rPr>
              <a:t>al día, hoy.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794760"/>
            <a:ext cx="3429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3800" b="1">
                <a:solidFill>
                  <a:srgbClr val="A2D6F9"/>
                </a:solidFill>
                <a:latin typeface="DM Sans"/>
                <a:cs typeface="DM Sans"/>
              </a:rPr>
              <a:t>28.423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4572000"/>
            <a:ext cx="3337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CBD6EC"/>
                </a:solidFill>
                <a:latin typeface="DM Sans"/>
                <a:cs typeface="DM Sans"/>
              </a:rPr>
              <a:t>horas hombre devueltas a terreno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34840" y="3794760"/>
            <a:ext cx="3429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3800" b="1">
                <a:solidFill>
                  <a:srgbClr val="A2D6F9"/>
                </a:solidFill>
                <a:latin typeface="DM Sans"/>
                <a:cs typeface="DM Sans"/>
              </a:rPr>
              <a:t>210.393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53128" y="4572000"/>
            <a:ext cx="3337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CBD6EC"/>
                </a:solidFill>
                <a:latin typeface="DM Sans"/>
                <a:cs typeface="DM Sans"/>
              </a:rPr>
              <a:t>EPP entregados con firma digital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3794760"/>
            <a:ext cx="3429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3800" b="1">
                <a:solidFill>
                  <a:srgbClr val="A2D6F9"/>
                </a:solidFill>
                <a:latin typeface="DM Sans"/>
                <a:cs typeface="DM Sans"/>
              </a:rPr>
              <a:t>+150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65008" y="4572000"/>
            <a:ext cx="3337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CBD6EC"/>
                </a:solidFill>
                <a:latin typeface="DM Sans"/>
                <a:cs typeface="DM Sans"/>
              </a:rPr>
              <a:t>empresas confían en Tazki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577840"/>
            <a:ext cx="2286000" cy="713232"/>
          </a:xfrm>
          <a:prstGeom prst="roundRect">
            <a:avLst>
              <a:gd name="adj" fmla="val 50000"/>
            </a:avLst>
          </a:prstGeom>
          <a:solidFill>
            <a:srgbClr val="1537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5577840"/>
            <a:ext cx="22860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1600" b="1">
                <a:solidFill>
                  <a:srgbClr val="FFFFFF"/>
                </a:solidFill>
                <a:latin typeface="DM Sans"/>
                <a:cs typeface="DM Sans"/>
              </a:rPr>
              <a:t>Conversemos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5577840"/>
            <a:ext cx="54864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700" b="0">
                <a:solidFill>
                  <a:srgbClr val="A2D6F9"/>
                </a:solidFill>
                <a:latin typeface="DM Sans"/>
                <a:cs typeface="DM Sans"/>
              </a:rPr>
              <a:t>tazki.cl/contactanos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