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ICP MINERÍA. Foco: Prevención a la altura de la faena minera. Hero reemplazable.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social al inicio: logos reales de clientes de este ICP.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principales (situaciones frecuentes, no diagnóstico cerrado). Imagen y copy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cómo ayuda el software. La 4a card se adapta al foco del ICP.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Inducciones.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Hallazgos.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Capacitaciones.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Inspecciones.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Contratistas.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EPP.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ART / AST.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MIPER.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Investigación de accidentes.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Programa de gestión.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Comité Paritario.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Insumos y Maquinaria.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Cierre/CTA.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4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gif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gif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gif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gif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gif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gif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gif"/><Relationship Id="rId4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gif"/><Relationship Id="rId4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" name="Picture 8" descr="construction_team_at_mining_site.jpeg"/>
          <p:cNvPicPr>
            <a:picLocks noChangeAspect="1"/>
          </p:cNvPicPr>
          <p:nvPr/>
        </p:nvPicPr>
        <p:blipFill>
          <a:blip r:embed="rId5"/>
          <a:srcRect t="27499" b="27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zki-wordmark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377440" cy="87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9748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Prevención a la altura</a:t>
            </a:r>
          </a:p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de tu faena minera.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DDE6F5"/>
                </a:solidFill>
                <a:latin typeface="DM Sans"/>
                <a:cs typeface="DM Sans"/>
              </a:rPr>
              <a:t>Centraliza acreditación, EPP, capacitaciones e investigación de accidentes de toda la faena, con firma electrónica y trazabilidad. Pensado para operaciones mineras de alto riesgo y exigencia normativa (DS 132, DS 40).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7315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DM Sans"/>
                <a:cs typeface="DM Sans"/>
              </a:rPr>
              <a:t>+150 empresas confían en Tazki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45352"/>
            <a:ext cx="370332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CFE0FA"/>
                </a:solidFill>
                <a:latin typeface="DM Sans"/>
                <a:cs typeface="DM Sans"/>
              </a:rPr>
              <a:t>Minería metalífera · Servicios a la minería · Faena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pic>
        <p:nvPicPr>
          <p:cNvPr id="3" name="Picture 2" descr="industrial_safety_briefing_in_progress.jpeg"/>
          <p:cNvPicPr>
            <a:picLocks noChangeAspect="1"/>
          </p:cNvPicPr>
          <p:nvPr/>
        </p:nvPicPr>
        <p:blipFill>
          <a:blip r:embed="rId2"/>
          <a:srcRect t="27499" b="27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C1E5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640080"/>
            <a:ext cx="329184" cy="32004"/>
          </a:xfrm>
          <a:prstGeom prst="rect">
            <a:avLst/>
          </a:prstGeom>
          <a:solidFill>
            <a:srgbClr val="7F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EL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932688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5400" b="1">
                <a:solidFill>
                  <a:srgbClr val="FFFFFF"/>
                </a:solidFill>
                <a:latin typeface="DM Sans"/>
              </a:rPr>
              <a:t>Ya no basta</a:t>
            </a:r>
          </a:p>
          <a:p>
            <a:pPr>
              <a:lnSpc>
                <a:spcPct val="102000"/>
              </a:lnSpc>
            </a:pPr>
            <a:r>
              <a:rPr sz="5400" b="1">
                <a:solidFill>
                  <a:srgbClr val="FFFFFF"/>
                </a:solidFill>
                <a:latin typeface="DM Sans"/>
              </a:rPr>
              <a:t>con tener</a:t>
            </a:r>
          </a:p>
          <a:p>
            <a:pPr>
              <a:lnSpc>
                <a:spcPct val="102000"/>
              </a:lnSpc>
            </a:pPr>
            <a:r>
              <a:rPr sz="5400" b="1">
                <a:solidFill>
                  <a:srgbClr val="FFFFFF"/>
                </a:solidFill>
                <a:latin typeface="DM Sans"/>
              </a:rPr>
              <a:t>los papeles.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27248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</a:pPr>
            <a:r>
              <a:rPr sz="1550" b="0">
                <a:solidFill>
                  <a:srgbClr val="C9D3EA"/>
                </a:solidFill>
                <a:latin typeface="DM Sans"/>
              </a:rPr>
              <a:t>El DS 44 cambió la regla: desde 2025 la prevención dejó de medirse por documentos archivados y pasó a medirse por gestión demostrable.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73659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1">
                <a:solidFill>
                  <a:srgbClr val="FFFFFF"/>
                </a:solidFill>
                <a:latin typeface="DM Sans"/>
              </a:rPr>
              <a:t>La ODI se convirtió en IRL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23036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Informar los riesgos de cada puesto, con firma de quien los conoció, y actualizarlos cuando la tarea cambia.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473659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1">
                <a:solidFill>
                  <a:srgbClr val="FFFFFF"/>
                </a:solidFill>
                <a:latin typeface="DM Sans"/>
              </a:rPr>
              <a:t>La MIPER manda el programa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523036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La matriz define el programa preventivo, y ese programa vence a los 30 días de actualizar la matriz.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473659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1">
                <a:solidFill>
                  <a:srgbClr val="FFFFFF"/>
                </a:solidFill>
                <a:latin typeface="DM Sans"/>
              </a:rPr>
              <a:t>Se fiscaliza la evidencia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523036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El FUF no revisa si el documento existe: revisa fecha, responsable, firma y seguimiento.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6428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DM Sans"/>
              </a:rPr>
              <a:t>Tazki es donde esa gestión queda registrada, al día y lista para mostrar.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5669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C1E50"/>
                </a:solidFill>
                <a:latin typeface="DM Sans"/>
              </a:rPr>
              <a:t>Empresas que ya confían en Tazki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13385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5B6472"/>
                </a:solidFill>
                <a:latin typeface="DM Sans"/>
              </a:rPr>
              <a:t>Minería y faenas · 13 de las +150 que ya digitalizaron su prevención.</a:t>
            </a:r>
          </a:p>
        </p:txBody>
      </p:sp>
      <p:pic>
        <p:nvPicPr>
          <p:cNvPr id="7" name="Picture 6" descr="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41" y="3122791"/>
            <a:ext cx="1416466" cy="1023896"/>
          </a:xfrm>
          <a:prstGeom prst="rect">
            <a:avLst/>
          </a:prstGeom>
        </p:spPr>
      </p:pic>
      <p:pic>
        <p:nvPicPr>
          <p:cNvPr id="8" name="Picture 7" descr="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0032" y="3110809"/>
            <a:ext cx="1416466" cy="1047861"/>
          </a:xfrm>
          <a:prstGeom prst="rect">
            <a:avLst/>
          </a:prstGeom>
        </p:spPr>
      </p:pic>
      <p:pic>
        <p:nvPicPr>
          <p:cNvPr id="9" name="Picture 8" descr="9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8823" y="3122791"/>
            <a:ext cx="1416466" cy="1023896"/>
          </a:xfrm>
          <a:prstGeom prst="rect">
            <a:avLst/>
          </a:prstGeom>
        </p:spPr>
      </p:pic>
      <p:pic>
        <p:nvPicPr>
          <p:cNvPr id="10" name="Picture 9" descr="9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7614" y="3122791"/>
            <a:ext cx="1416466" cy="1023896"/>
          </a:xfrm>
          <a:prstGeom prst="rect">
            <a:avLst/>
          </a:prstGeom>
        </p:spPr>
      </p:pic>
      <p:pic>
        <p:nvPicPr>
          <p:cNvPr id="11" name="Picture 10" descr="9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6404" y="3122791"/>
            <a:ext cx="1416466" cy="1023896"/>
          </a:xfrm>
          <a:prstGeom prst="rect">
            <a:avLst/>
          </a:prstGeom>
        </p:spPr>
      </p:pic>
      <p:pic>
        <p:nvPicPr>
          <p:cNvPr id="12" name="Picture 11" descr="9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5195" y="3122791"/>
            <a:ext cx="1416466" cy="1023896"/>
          </a:xfrm>
          <a:prstGeom prst="rect">
            <a:avLst/>
          </a:prstGeom>
        </p:spPr>
      </p:pic>
      <p:pic>
        <p:nvPicPr>
          <p:cNvPr id="13" name="Picture 12" descr="9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63986" y="3122791"/>
            <a:ext cx="1416466" cy="1023896"/>
          </a:xfrm>
          <a:prstGeom prst="rect">
            <a:avLst/>
          </a:prstGeom>
        </p:spPr>
      </p:pic>
      <p:pic>
        <p:nvPicPr>
          <p:cNvPr id="14" name="Picture 13" descr="9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241" y="4311511"/>
            <a:ext cx="1416466" cy="1023896"/>
          </a:xfrm>
          <a:prstGeom prst="rect">
            <a:avLst/>
          </a:prstGeom>
        </p:spPr>
      </p:pic>
      <p:pic>
        <p:nvPicPr>
          <p:cNvPr id="15" name="Picture 14" descr="9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70032" y="4311511"/>
            <a:ext cx="1416466" cy="1023896"/>
          </a:xfrm>
          <a:prstGeom prst="rect">
            <a:avLst/>
          </a:prstGeom>
        </p:spPr>
      </p:pic>
      <p:pic>
        <p:nvPicPr>
          <p:cNvPr id="16" name="Picture 15" descr="9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8823" y="4299529"/>
            <a:ext cx="1416466" cy="1047861"/>
          </a:xfrm>
          <a:prstGeom prst="rect">
            <a:avLst/>
          </a:prstGeom>
        </p:spPr>
      </p:pic>
      <p:pic>
        <p:nvPicPr>
          <p:cNvPr id="17" name="Picture 16" descr="9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7614" y="4311511"/>
            <a:ext cx="1416466" cy="1023896"/>
          </a:xfrm>
          <a:prstGeom prst="rect">
            <a:avLst/>
          </a:prstGeom>
        </p:spPr>
      </p:pic>
      <p:pic>
        <p:nvPicPr>
          <p:cNvPr id="18" name="Picture 17" descr="10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46404" y="4311511"/>
            <a:ext cx="1416466" cy="1023896"/>
          </a:xfrm>
          <a:prstGeom prst="rect">
            <a:avLst/>
          </a:prstGeom>
        </p:spPr>
      </p:pic>
      <p:pic>
        <p:nvPicPr>
          <p:cNvPr id="19" name="Picture 18" descr="10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05195" y="4299529"/>
            <a:ext cx="1416466" cy="10478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422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LO QUE HOY TE COMPLICA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Tres cosas que le pasan a casi todas las operaciones.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files-8F4799-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La documentación de la faena vive en Excel y papel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Acreditaciones, entrega de EPP, charlas y permisos repartidos en planillas y carpetas. En minería, un registro que no aparece es una detención de faena.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gavel-8F4799-1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Sin trazabilidad, la fiscalización te pilla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DS 132, DS 40, Sernageomin y la mutualidad exigen evidencia firmada y al día. Reunirla a mano, faena por faena, es contra el reloj.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magnifying-glass-8F4799-1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Cuando hay un incidente grave, todo se revisa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En una operación de alto riesgo, ante un accidente se audita cada control. Si la documentación quedó incompleta, la empresa y el prevencionista quedan expuestos.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714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ASÍ TE AYUDA TAZKI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De la planilla al control real de tu prevención.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stack-1537D1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07792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Todo en un solo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Reúne documentos, firmas y registros de tu prevención en una plataforma. Se acabó buscar en carpetas y correos.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seal-check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2907792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Respaldo cuando lo necesitas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Cada registro queda con firma electrónica y trazabilidad, con el respaldo de la Resolución 908 de la Dirección del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1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device-mobile-1537D1-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3" y="2907792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1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Prevención en terreno, desde el celular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equipo levanta hallazgos, inspecciones y firmas donde ocurre el trabajo. Si no hay señal, se sincroniza al recuperar conexión.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44584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o-map-pin-1537D1-1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5" y="2907792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Control de toda la faena, aunque sea remota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Acreditación, EPP y hallazgos de cada centro y contratista en un solo panel — con modo offline para terreno sin señal.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286000" cy="8409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DM Sans"/>
                <a:cs typeface="DM Sans"/>
              </a:rPr>
              <a:t>Un software modular, para cada proceso de tu prevención.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Activa lo que tu operación necesita. Todo comparte datos, trazabilidad y firma.</a:t>
            </a:r>
          </a:p>
        </p:txBody>
      </p:sp>
      <p:pic>
        <p:nvPicPr>
          <p:cNvPr id="5" name="Picture 4" descr="duo-identification-card-B865C1-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566928" cy="566928"/>
          </a:xfrm>
          <a:prstGeom prst="rect">
            <a:avLst/>
          </a:prstGeom>
        </p:spPr>
      </p:pic>
      <p:pic>
        <p:nvPicPr>
          <p:cNvPr id="6" name="Picture 5" descr="duo-warning-B865C1-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199" y="5212080"/>
            <a:ext cx="566928" cy="566928"/>
          </a:xfrm>
          <a:prstGeom prst="rect">
            <a:avLst/>
          </a:prstGeom>
        </p:spPr>
      </p:pic>
      <p:pic>
        <p:nvPicPr>
          <p:cNvPr id="7" name="Picture 6" descr="duo-chalkboard-teacher-B865C1-1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998" y="5212080"/>
            <a:ext cx="566928" cy="566928"/>
          </a:xfrm>
          <a:prstGeom prst="rect">
            <a:avLst/>
          </a:prstGeom>
        </p:spPr>
      </p:pic>
      <p:pic>
        <p:nvPicPr>
          <p:cNvPr id="8" name="Picture 7" descr="duo-clipboard-text-B865C1-1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797" y="5212080"/>
            <a:ext cx="566928" cy="566928"/>
          </a:xfrm>
          <a:prstGeom prst="rect">
            <a:avLst/>
          </a:prstGeom>
        </p:spPr>
      </p:pic>
      <p:pic>
        <p:nvPicPr>
          <p:cNvPr id="9" name="Picture 8" descr="duo-buildings-B865C1-1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597" y="5212080"/>
            <a:ext cx="566928" cy="566928"/>
          </a:xfrm>
          <a:prstGeom prst="rect">
            <a:avLst/>
          </a:prstGeom>
        </p:spPr>
      </p:pic>
      <p:pic>
        <p:nvPicPr>
          <p:cNvPr id="10" name="Picture 9" descr="duo-hard-hat-B865C1-1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396" y="5212080"/>
            <a:ext cx="566928" cy="566928"/>
          </a:xfrm>
          <a:prstGeom prst="rect">
            <a:avLst/>
          </a:prstGeom>
        </p:spPr>
      </p:pic>
      <p:pic>
        <p:nvPicPr>
          <p:cNvPr id="11" name="Picture 10" descr="duo-shield-check-B865C1-1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1195" y="5212080"/>
            <a:ext cx="566928" cy="566928"/>
          </a:xfrm>
          <a:prstGeom prst="rect">
            <a:avLst/>
          </a:prstGeom>
        </p:spPr>
      </p:pic>
      <p:pic>
        <p:nvPicPr>
          <p:cNvPr id="12" name="Picture 11" descr="duo-grid-four-B865C1-18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994" y="5212080"/>
            <a:ext cx="566928" cy="566928"/>
          </a:xfrm>
          <a:prstGeom prst="rect">
            <a:avLst/>
          </a:prstGeom>
        </p:spPr>
      </p:pic>
      <p:pic>
        <p:nvPicPr>
          <p:cNvPr id="13" name="Picture 12" descr="duo-magnifying-glass-B865C1-18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794" y="5212080"/>
            <a:ext cx="566928" cy="566928"/>
          </a:xfrm>
          <a:prstGeom prst="rect">
            <a:avLst/>
          </a:prstGeom>
        </p:spPr>
      </p:pic>
      <p:pic>
        <p:nvPicPr>
          <p:cNvPr id="14" name="Picture 13" descr="duo-calendar-check-B865C1-18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4593" y="5212080"/>
            <a:ext cx="566928" cy="566928"/>
          </a:xfrm>
          <a:prstGeom prst="rect">
            <a:avLst/>
          </a:prstGeom>
        </p:spPr>
      </p:pic>
      <p:pic>
        <p:nvPicPr>
          <p:cNvPr id="15" name="Picture 14" descr="duo-users-three-B865C1-18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392" y="5212080"/>
            <a:ext cx="566928" cy="566928"/>
          </a:xfrm>
          <a:prstGeom prst="rect">
            <a:avLst/>
          </a:prstGeom>
        </p:spPr>
      </p:pic>
      <p:pic>
        <p:nvPicPr>
          <p:cNvPr id="16" name="Picture 15" descr="duo-wrench-B865C1-18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192" y="52120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identification-card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Inducciones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obligatoria firmada digitalmente y centralizada por colaborador.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evalu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arning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Gestiona el ciclo de acciones y condiciones inseguras hasta su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hallazg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halkboard-teache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Capacitaciones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Calendariza charlas, registra asistencia y respalda la firma de cada participante.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capaci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lipboard-tex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Inspecciones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Identifica y corrige riesgos en terreno, desde el celular del supervisor.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peccion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building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Contratistas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vigente de empresas y trabajadores, con control de acceso y subcontratos.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contratist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hard-ha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EPP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y las entregas de EPP con firma y trazabilidad por trabajador.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ep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shield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ART /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Análisis de riesgo digital con firma de todos los participantes en terreno.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rt-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grid-fou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MIPER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Matriz de identificación de peligros y evaluación de riesgos, digitalizada y siempre actualizada.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mip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magnifying-glas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Investigación de accidentes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Registra el accidente, documenta las causas y genera el reporte con respaldo.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accident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alendar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Programa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Planifica las actividades preventivas del período y controla su cumplimiento.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progra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users-three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Comité Paritario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Digitaliza actas, reuniones y acuerdos del comité paritario,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rench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Insumos y Maquinaria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de insumos y el historial documental de maquinarias.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insum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807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Pongamos tu prevención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al día, hoy.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28.423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horas hombre devueltas a terreno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210.393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EPP entregados con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+150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empresas confían en Tazki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FFFFFF"/>
                </a:solidFill>
                <a:latin typeface="DM Sans"/>
                <a:cs typeface="DM Sans"/>
              </a:rPr>
              <a:t>Conversemos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5778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tazki.cl/contactanos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