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4" r:id="rId26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Portada · ICP EXPANDIDO. Foco: Profesionalizar sin parar la faena. Hero reemplazable.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Prueba social al inicio: logos reales de clientes de este ICP.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dolores principales (situaciones frecuentes, no diagnóstico cerrado). Imagen y copy editables.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Ventajas: cómo ayuda el software. La 4a card se adapta al foco del ICP.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Transición a los módulos.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Inducciones. [Captura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Hallazgos. [Clave para este ICP]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Capacitaciones. [Captura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Inspecciones. [Clave para este ICP]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Contratistas.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EPP.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ART / AST.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MIPER. [Clave para este ICP]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Investigación de accidentes.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Programa de gestión. [Clave para este ICP]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Comité Paritario. [Captura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Insumos y Maquinaria.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Cierre/CTA.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4.png"/><Relationship Id="rId1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gif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gif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gif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gif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gif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gif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gif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gif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gif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expandi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azki-wordmark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0080"/>
            <a:ext cx="2377440" cy="8745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697480"/>
            <a:ext cx="7589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700" b="1">
                <a:solidFill>
                  <a:srgbClr val="FFFFFF"/>
                </a:solidFill>
                <a:latin typeface="DM Sans"/>
                <a:cs typeface="DM Sans"/>
              </a:rPr>
              <a:t>Profesionaliza tu prevención</a:t>
            </a:r>
          </a:p>
          <a:p>
            <a:pPr algn="l">
              <a:lnSpc>
                <a:spcPct val="102000"/>
              </a:lnSpc>
            </a:pPr>
            <a:r>
              <a:rPr sz="3700" b="1">
                <a:solidFill>
                  <a:srgbClr val="FFFFFF"/>
                </a:solidFill>
                <a:latin typeface="DM Sans"/>
                <a:cs typeface="DM Sans"/>
              </a:rPr>
              <a:t>sin parar la faena.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60520"/>
            <a:ext cx="7040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DDE6F5"/>
                </a:solidFill>
                <a:latin typeface="DM Sans"/>
                <a:cs typeface="DM Sans"/>
              </a:rPr>
              <a:t>Digitaliza inspecciones, MIPER y el programa de gestión, y controla el cumplimiento del período sin sumar carga administrativa.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45352"/>
            <a:ext cx="12191695" cy="612648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7315200" cy="612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FFFFFF"/>
                </a:solidFill>
                <a:latin typeface="DM Sans"/>
                <a:cs typeface="DM Sans"/>
              </a:rPr>
              <a:t>+150 empresas confían en Tazki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6245352"/>
            <a:ext cx="3703320" cy="612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200" b="0">
                <a:solidFill>
                  <a:srgbClr val="CFE0FA"/>
                </a:solidFill>
                <a:latin typeface="DM Sans"/>
                <a:cs typeface="DM Sans"/>
              </a:rPr>
              <a:t>Faena y minería mediana · Construcción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0C1E50"/>
                </a:solidFill>
                <a:latin typeface="DM Sans"/>
                <a:cs typeface="DM Sans"/>
              </a:rPr>
              <a:t>Empresas que ya confían en Tazki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371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50" b="0">
                <a:solidFill>
                  <a:srgbClr val="5B6472"/>
                </a:solidFill>
                <a:latin typeface="DM Sans"/>
                <a:cs typeface="DM Sans"/>
              </a:rPr>
              <a:t>Operaciones de faena y minería mediana · construcción que ya digitalizaron su prevención con nosotros.</a:t>
            </a:r>
          </a:p>
        </p:txBody>
      </p:sp>
      <p:pic>
        <p:nvPicPr>
          <p:cNvPr id="4" name="Picture 3" descr="wall_expand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873372"/>
            <a:ext cx="9966960" cy="26657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cov_625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148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0058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CFE0FA"/>
                </a:solidFill>
                <a:latin typeface="DM Sans"/>
                <a:cs typeface="DM Sans"/>
              </a:rPr>
              <a:t>LO QUE HOY TE COMPLICA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>
                <a:solidFill>
                  <a:srgbClr val="FFFFFF"/>
                </a:solidFill>
                <a:latin typeface="DM Sans"/>
                <a:cs typeface="DM Sans"/>
              </a:rPr>
              <a:t>Tres cosas que le pasan a casi todas las operaciones.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14600"/>
            <a:ext cx="3429000" cy="35204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2880360"/>
            <a:ext cx="86868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uo-files-8F4799-1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017520"/>
            <a:ext cx="594360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3000" y="39319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C1E50"/>
                </a:solidFill>
                <a:latin typeface="DM Sans"/>
                <a:cs typeface="DM Sans"/>
              </a:rPr>
              <a:t>El prevencionista termina haciendo de todo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4910328"/>
            <a:ext cx="2770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5B6472"/>
                </a:solidFill>
                <a:latin typeface="DM Sans"/>
                <a:cs typeface="DM Sans"/>
              </a:rPr>
              <a:t>Planillas, firmas, informes y terreno al mismo tiempo. Así cuesta enfocarse en lo importante: prevenir.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514600"/>
            <a:ext cx="3429000" cy="35204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54880" y="2880360"/>
            <a:ext cx="86868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uo-chart-line-up-8F4799-1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594360" cy="594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0" y="39319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C1E50"/>
                </a:solidFill>
                <a:latin typeface="DM Sans"/>
                <a:cs typeface="DM Sans"/>
              </a:rPr>
              <a:t>Lo que servía con una faena se cae con diez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4910328"/>
            <a:ext cx="2770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5B6472"/>
                </a:solidFill>
                <a:latin typeface="DM Sans"/>
                <a:cs typeface="DM Sans"/>
              </a:rPr>
              <a:t>Al crecer, el Excel se desordena y ya nadie sabe con certeza qué está al día.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514600"/>
            <a:ext cx="3429000" cy="35204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66760" y="2880360"/>
            <a:ext cx="86868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uo-gauge-8F4799-19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3017520"/>
            <a:ext cx="594360" cy="5943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66760" y="39319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C1E50"/>
                </a:solidFill>
                <a:latin typeface="DM Sans"/>
                <a:cs typeface="DM Sans"/>
              </a:rPr>
              <a:t>La gerencia pide números y no los tienes a mano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4910328"/>
            <a:ext cx="2770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5B6472"/>
                </a:solidFill>
                <a:latin typeface="DM Sans"/>
                <a:cs typeface="DM Sans"/>
              </a:rPr>
              <a:t>Mostrar cómo va la gestión preventiva no debería tomarte días juntando datos de cada faena.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cov_34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148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0058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CFE0FA"/>
                </a:solidFill>
                <a:latin typeface="DM Sans"/>
                <a:cs typeface="DM Sans"/>
              </a:rPr>
              <a:t>ASÍ TE AYUDA TAZKI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>
                <a:solidFill>
                  <a:srgbClr val="FFFFFF"/>
                </a:solidFill>
                <a:latin typeface="DM Sans"/>
                <a:cs typeface="DM Sans"/>
              </a:rPr>
              <a:t>De la planilla al control real de tu prevención.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uo-stack-1537D1-1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907792"/>
            <a:ext cx="548640" cy="548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2688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Todo en un solo lugar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Reúne documentos, firmas y registros de tu prevención en una plataforma. Se acabó buscar en carpetas y correos.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3320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uo-device-mobile-1537D1-1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91" y="2907792"/>
            <a:ext cx="548640" cy="548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703320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Prevención en terreno, desde el celular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Tu equipo levanta hallazgos, inspecciones y firmas donde ocurre el trabajo. Si no hay señal, se sincroniza al recuperar conexión.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1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73951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uo-seal-check-1537D1-18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3" y="2907792"/>
            <a:ext cx="548640" cy="5486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73951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Respaldo cuando lo necesitas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Cada registro queda con firma electrónica y trazabilidad, con el respaldo de la Resolución 908 de la Dirección del Trabajo.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3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44584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uo-gauge-1537D1-18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3455" y="2907792"/>
            <a:ext cx="548640" cy="5486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244584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Datos para mostrar avance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Ves el estado de cada faena y llevas indicadores a la gerencia sin andar juntando planillas.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azki-wordmark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34440"/>
            <a:ext cx="2286000" cy="84092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651760"/>
            <a:ext cx="9966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>
                <a:solidFill>
                  <a:srgbClr val="FFFFFF"/>
                </a:solidFill>
                <a:latin typeface="DM Sans"/>
                <a:cs typeface="DM Sans"/>
              </a:rPr>
              <a:t>Un software modular, para cada proceso de tu prevención.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6052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700" b="0">
                <a:solidFill>
                  <a:srgbClr val="A2D6F9"/>
                </a:solidFill>
                <a:latin typeface="DM Sans"/>
                <a:cs typeface="DM Sans"/>
              </a:rPr>
              <a:t>Activa lo que tu operación necesita. Todo comparte datos, trazabilidad y firma.</a:t>
            </a:r>
          </a:p>
        </p:txBody>
      </p:sp>
      <p:pic>
        <p:nvPicPr>
          <p:cNvPr id="5" name="Picture 4" descr="duo-identification-card-B865C1-1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212080"/>
            <a:ext cx="566928" cy="566928"/>
          </a:xfrm>
          <a:prstGeom prst="rect">
            <a:avLst/>
          </a:prstGeom>
        </p:spPr>
      </p:pic>
      <p:pic>
        <p:nvPicPr>
          <p:cNvPr id="6" name="Picture 5" descr="duo-warning-B865C1-1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2199" y="5212080"/>
            <a:ext cx="566928" cy="566928"/>
          </a:xfrm>
          <a:prstGeom prst="rect">
            <a:avLst/>
          </a:prstGeom>
        </p:spPr>
      </p:pic>
      <p:pic>
        <p:nvPicPr>
          <p:cNvPr id="7" name="Picture 6" descr="duo-chalkboard-teacher-B865C1-18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9998" y="5212080"/>
            <a:ext cx="566928" cy="566928"/>
          </a:xfrm>
          <a:prstGeom prst="rect">
            <a:avLst/>
          </a:prstGeom>
        </p:spPr>
      </p:pic>
      <p:pic>
        <p:nvPicPr>
          <p:cNvPr id="8" name="Picture 7" descr="duo-clipboard-text-B865C1-18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7797" y="5212080"/>
            <a:ext cx="566928" cy="566928"/>
          </a:xfrm>
          <a:prstGeom prst="rect">
            <a:avLst/>
          </a:prstGeom>
        </p:spPr>
      </p:pic>
      <p:pic>
        <p:nvPicPr>
          <p:cNvPr id="9" name="Picture 8" descr="duo-buildings-B865C1-18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5597" y="5212080"/>
            <a:ext cx="566928" cy="566928"/>
          </a:xfrm>
          <a:prstGeom prst="rect">
            <a:avLst/>
          </a:prstGeom>
        </p:spPr>
      </p:pic>
      <p:pic>
        <p:nvPicPr>
          <p:cNvPr id="10" name="Picture 9" descr="duo-hard-hat-B865C1-18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3396" y="5212080"/>
            <a:ext cx="566928" cy="566928"/>
          </a:xfrm>
          <a:prstGeom prst="rect">
            <a:avLst/>
          </a:prstGeom>
        </p:spPr>
      </p:pic>
      <p:pic>
        <p:nvPicPr>
          <p:cNvPr id="11" name="Picture 10" descr="duo-shield-check-B865C1-18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1195" y="5212080"/>
            <a:ext cx="566928" cy="566928"/>
          </a:xfrm>
          <a:prstGeom prst="rect">
            <a:avLst/>
          </a:prstGeom>
        </p:spPr>
      </p:pic>
      <p:pic>
        <p:nvPicPr>
          <p:cNvPr id="12" name="Picture 11" descr="duo-grid-four-B865C1-18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8994" y="5212080"/>
            <a:ext cx="566928" cy="566928"/>
          </a:xfrm>
          <a:prstGeom prst="rect">
            <a:avLst/>
          </a:prstGeom>
        </p:spPr>
      </p:pic>
      <p:pic>
        <p:nvPicPr>
          <p:cNvPr id="13" name="Picture 12" descr="duo-magnifying-glass-B865C1-18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16794" y="5212080"/>
            <a:ext cx="566928" cy="566928"/>
          </a:xfrm>
          <a:prstGeom prst="rect">
            <a:avLst/>
          </a:prstGeom>
        </p:spPr>
      </p:pic>
      <p:pic>
        <p:nvPicPr>
          <p:cNvPr id="14" name="Picture 13" descr="duo-calendar-check-B865C1-18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04593" y="5212080"/>
            <a:ext cx="566928" cy="566928"/>
          </a:xfrm>
          <a:prstGeom prst="rect">
            <a:avLst/>
          </a:prstGeom>
        </p:spPr>
      </p:pic>
      <p:pic>
        <p:nvPicPr>
          <p:cNvPr id="15" name="Picture 14" descr="duo-users-three-B865C1-18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92392" y="5212080"/>
            <a:ext cx="566928" cy="566928"/>
          </a:xfrm>
          <a:prstGeom prst="rect">
            <a:avLst/>
          </a:prstGeom>
        </p:spPr>
      </p:pic>
      <p:pic>
        <p:nvPicPr>
          <p:cNvPr id="16" name="Picture 15" descr="duo-wrench-B865C1-186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80192" y="521208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identification-card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Inducciones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Documentación obligatoria firmada digitalmente y centralizada por colaborador.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VESTIDO_evaluaci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837086"/>
            <a:ext cx="5660136" cy="31838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warning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Hallazgos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Gestiona el ciclo de acciones y condiciones inseguras hasta su cierre.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ow_hallazgo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chalkboard-teacher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Capacitaciones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Calendariza charlas, registra asistencia y respalda la firma de cada participante.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VESTIDO_capacitaci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837086"/>
            <a:ext cx="5660136" cy="31838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clipboard-text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Inspecciones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Identifica y corrige riesgos en terreno, desde el celular del supervisor.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ow_inspeccione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buildings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Contratistas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Documentación vigente de empresas y trabajadores, con control de acceso y subcontratos.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contratista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hard-hat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EPP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Controla el inventario y las entregas de EPP con firma y trazabilidad por trabajador.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epp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shield-check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ART / 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Análisis de riesgo digital con firma de todos los participantes en terreno.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art-ast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grid-four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MIPER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Matriz de identificación de peligros y evaluación de riesgos, digitalizada y siempre actualizada.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ow_mipe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magnifying-glass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Investigación de accidentes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Registra el accidente, documenta las causas y genera el reporte con respaldo.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accidente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calendar-check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Programa de gestión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Planifica las actividades preventivas del período y controla su cumplimiento.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ow_programa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users-three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Comité Paritario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Digitaliza actas, reuniones y acuerdos del comité paritario, con respaldo.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VESTIDO_documen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837086"/>
            <a:ext cx="5660136" cy="318382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wrench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Insumos y Maquinaria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Controla el inventario de insumos y el historial documental de maquinarias.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insumo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azki-wordmark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31520"/>
            <a:ext cx="2194560" cy="8072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8288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M Sans"/>
                <a:cs typeface="DM Sans"/>
              </a:rPr>
              <a:t>Demos el primer paso</a:t>
            </a:r>
          </a:p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M Sans"/>
                <a:cs typeface="DM Sans"/>
              </a:rPr>
              <a:t>hacia una prevención al día.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9476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A2D6F9"/>
                </a:solidFill>
                <a:latin typeface="DM Sans"/>
                <a:cs typeface="DM Sans"/>
              </a:rPr>
              <a:t>28.423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57200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6EC"/>
                </a:solidFill>
                <a:latin typeface="DM Sans"/>
                <a:cs typeface="DM Sans"/>
              </a:rPr>
              <a:t>horas hombre devueltas a terreno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379476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A2D6F9"/>
                </a:solidFill>
                <a:latin typeface="DM Sans"/>
                <a:cs typeface="DM Sans"/>
              </a:rPr>
              <a:t>210.393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53128" y="457200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6EC"/>
                </a:solidFill>
                <a:latin typeface="DM Sans"/>
                <a:cs typeface="DM Sans"/>
              </a:rPr>
              <a:t>EPP entregados con firma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379476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A2D6F9"/>
                </a:solidFill>
                <a:latin typeface="DM Sans"/>
                <a:cs typeface="DM Sans"/>
              </a:rPr>
              <a:t>+150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5008" y="457200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6EC"/>
                </a:solidFill>
                <a:latin typeface="DM Sans"/>
                <a:cs typeface="DM Sans"/>
              </a:rPr>
              <a:t>empresas confían en Tazki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577840"/>
            <a:ext cx="2286000" cy="713232"/>
          </a:xfrm>
          <a:prstGeom prst="roundRect">
            <a:avLst>
              <a:gd name="adj" fmla="val 50000"/>
            </a:avLst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577840"/>
            <a:ext cx="2286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600" b="1">
                <a:solidFill>
                  <a:srgbClr val="FFFFFF"/>
                </a:solidFill>
                <a:latin typeface="DM Sans"/>
                <a:cs typeface="DM Sans"/>
              </a:rPr>
              <a:t>Conversemos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5577840"/>
            <a:ext cx="5486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700" b="0">
                <a:solidFill>
                  <a:srgbClr val="A2D6F9"/>
                </a:solidFill>
                <a:latin typeface="DM Sans"/>
                <a:cs typeface="DM Sans"/>
              </a:rPr>
              <a:t>tazki.cl/contactanos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" y="6784848"/>
            <a:ext cx="274320" cy="54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00" b="0">
                <a:solidFill>
                  <a:srgbClr val="FFFFFF"/>
                </a:solidFill>
                <a:latin typeface="DM Sans"/>
              </a:rPr>
              <a:t>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537D1"/>
                </a:solidFill>
                <a:latin typeface="DM Sans"/>
              </a:rPr>
              <a:t>EL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241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</a:pPr>
            <a:r>
              <a:rPr sz="3000" b="1">
                <a:solidFill>
                  <a:srgbClr val="0C1E50"/>
                </a:solidFill>
                <a:latin typeface="DM Sans"/>
              </a:rPr>
              <a:t>El DS 44 cambió lo que se te exige: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3000" b="1">
                <a:solidFill>
                  <a:srgbClr val="0C1E50"/>
                </a:solidFill>
                <a:latin typeface="DM Sans"/>
              </a:rPr>
              <a:t>ya no basta con tener los papeles.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93392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5B6472"/>
                </a:solidFill>
                <a:latin typeface="DM Sans"/>
              </a:rPr>
              <a:t>Desde 2025 la prevención dejó de medirse por documentos archivados y pasó a medirse por gestión demostrable. Estas son las tres exigencias que cambiaron el día a día.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880360"/>
            <a:ext cx="3429000" cy="2514600"/>
          </a:xfrm>
          <a:prstGeom prst="roundRect">
            <a:avLst>
              <a:gd name="adj" fmla="val 45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143000" y="3200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43000" y="32918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537D1"/>
                </a:solidFill>
                <a:latin typeface="DM Sa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40480"/>
            <a:ext cx="2788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0C1E50"/>
                </a:solidFill>
                <a:latin typeface="DM Sans"/>
              </a:rPr>
              <a:t>La ODI se convirtió en IRL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4407408"/>
            <a:ext cx="277063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B6472"/>
                </a:solidFill>
                <a:latin typeface="DM Sans"/>
              </a:rPr>
              <a:t>Ahora hay que informar los riesgos de cada puesto de trabajo, dejar firma de que la persona los conoció y actualizar esa información cada vez que el riesgo o la tarea cambian.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880360"/>
            <a:ext cx="3429000" cy="2514600"/>
          </a:xfrm>
          <a:prstGeom prst="roundRect">
            <a:avLst>
              <a:gd name="adj" fmla="val 45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79" y="3200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754879" y="32918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537D1"/>
                </a:solidFill>
                <a:latin typeface="DM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840480"/>
            <a:ext cx="2788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0C1E50"/>
                </a:solidFill>
                <a:latin typeface="DM Sans"/>
              </a:rPr>
              <a:t>La MIPER manda el programa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4407408"/>
            <a:ext cx="277063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B6472"/>
                </a:solidFill>
                <a:latin typeface="DM Sans"/>
              </a:rPr>
              <a:t>La matriz de peligros define el programa de trabajo preventivo, y ese programa debe elaborarse o modificarse dentro de los 30 días siguientes a confeccionar o actualizar la matriz.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880360"/>
            <a:ext cx="3429000" cy="2514600"/>
          </a:xfrm>
          <a:prstGeom prst="roundRect">
            <a:avLst>
              <a:gd name="adj" fmla="val 45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366760" y="3200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366760" y="32918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537D1"/>
                </a:solidFill>
                <a:latin typeface="DM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840480"/>
            <a:ext cx="2788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0C1E50"/>
                </a:solidFill>
                <a:latin typeface="DM Sans"/>
              </a:rPr>
              <a:t>La fiscalización pide evidencia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4407408"/>
            <a:ext cx="277063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B6472"/>
                </a:solidFill>
                <a:latin typeface="DM Sans"/>
              </a:rPr>
              <a:t>El Formulario Único de Fiscalización no revisa si el documento existe: revisa fecha, responsable, firma y seguimiento. Sin trazabilidad, no hay cómo demostrar la gestión.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24535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DM Sans"/>
              </a:rPr>
              <a:t>Tazki es donde esa gestión queda registrada, al día y lista para mostrar.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